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411480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00" b="1">
                <a:solidFill>
                  <a:srgbClr val="FFFFFF"/>
                </a:solidFill>
                <a:latin typeface="Segoe UI"/>
              </a:defRPr>
            </a:pPr>
            <a:r>
              <a:t>ACADEMIC TECHNOLOGY &amp; RESEARCH WORKSHOP</a:t>
            </a:r>
          </a:p>
        </p:txBody>
      </p:sp>
      <p:sp>
        <p:nvSpPr>
          <p:cNvPr id="4" name="TextBox 3"/>
          <p:cNvSpPr txBox="1"/>
          <p:nvPr/>
        </p:nvSpPr>
        <p:spPr>
          <a:xfrm>
            <a:off x="731520" y="1051560"/>
            <a:ext cx="10698480" cy="1645920"/>
          </a:xfrm>
          <a:prstGeom prst="rect">
            <a:avLst/>
          </a:prstGeom>
          <a:noFill/>
        </p:spPr>
        <p:txBody>
          <a:bodyPr wrap="square">
            <a:spAutoFit/>
          </a:bodyPr>
          <a:lstStyle/>
          <a:p>
            <a:pPr>
              <a:defRPr sz="3200" b="1">
                <a:solidFill>
                  <a:srgbClr val="FFFFFF"/>
                </a:solidFill>
                <a:latin typeface="Segoe UI"/>
              </a:defRPr>
            </a:pPr>
            <a:r>
              <a:t>AI-Powered Research, Learning &amp;</a:t>
            </a:r>
            <a:br/>
            <a:r>
              <a:t>Teaching Toolkit</a:t>
            </a:r>
          </a:p>
          <a:p>
            <a:pPr>
              <a:spcBef>
                <a:spcPts val="800"/>
              </a:spcBef>
              <a:defRPr sz="1500">
                <a:solidFill>
                  <a:srgbClr val="94A3B8"/>
                </a:solidFill>
                <a:latin typeface="Segoe UI"/>
              </a:defRPr>
            </a:pPr>
            <a:r>
              <a:t>Practical AI Tools, Strategies and Workflows for Modern Researchers and Educators</a:t>
            </a:r>
          </a:p>
        </p:txBody>
      </p:sp>
      <p:sp>
        <p:nvSpPr>
          <p:cNvPr id="5" name="Rounded Rectangle 4"/>
          <p:cNvSpPr/>
          <p:nvPr/>
        </p:nvSpPr>
        <p:spPr>
          <a:xfrm>
            <a:off x="731520"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3035808"/>
            <a:ext cx="1298448" cy="731520"/>
          </a:xfrm>
          <a:prstGeom prst="rect">
            <a:avLst/>
          </a:prstGeom>
          <a:noFill/>
        </p:spPr>
        <p:txBody>
          <a:bodyPr wrap="square" lIns="0" rIns="0" tIns="0" bIns="0">
            <a:spAutoFit/>
          </a:bodyPr>
          <a:lstStyle/>
          <a:p>
            <a:pPr>
              <a:defRPr b="1" sz="1000">
                <a:solidFill>
                  <a:srgbClr val="38BDF8"/>
                </a:solidFill>
              </a:defRPr>
            </a:pPr>
            <a:r>
              <a:t>1. Papers</a:t>
            </a:r>
          </a:p>
          <a:p>
            <a:pPr>
              <a:spcBef>
                <a:spcPts val="300"/>
              </a:spcBef>
              <a:defRPr sz="950">
                <a:solidFill>
                  <a:srgbClr val="E2E8F0"/>
                </a:solidFill>
              </a:defRPr>
            </a:pPr>
            <a:r>
              <a:t>Literature Search</a:t>
            </a:r>
          </a:p>
        </p:txBody>
      </p:sp>
      <p:sp>
        <p:nvSpPr>
          <p:cNvPr id="7" name="Rounded Rectangle 6"/>
          <p:cNvSpPr/>
          <p:nvPr/>
        </p:nvSpPr>
        <p:spPr>
          <a:xfrm>
            <a:off x="2276856"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3035808"/>
            <a:ext cx="1298448" cy="731520"/>
          </a:xfrm>
          <a:prstGeom prst="rect">
            <a:avLst/>
          </a:prstGeom>
          <a:noFill/>
        </p:spPr>
        <p:txBody>
          <a:bodyPr wrap="square" lIns="0" rIns="0" tIns="0" bIns="0">
            <a:spAutoFit/>
          </a:bodyPr>
          <a:lstStyle/>
          <a:p>
            <a:pPr>
              <a:defRPr b="1" sz="1000">
                <a:solidFill>
                  <a:srgbClr val="38BDF8"/>
                </a:solidFill>
              </a:defRPr>
            </a:pPr>
            <a:r>
              <a:t>2. AI Tools</a:t>
            </a:r>
          </a:p>
          <a:p>
            <a:pPr>
              <a:spcBef>
                <a:spcPts val="300"/>
              </a:spcBef>
              <a:defRPr sz="950">
                <a:solidFill>
                  <a:srgbClr val="E2E8F0"/>
                </a:solidFill>
              </a:defRPr>
            </a:pPr>
            <a:r>
              <a:t>Discovery &amp; RAG</a:t>
            </a:r>
          </a:p>
        </p:txBody>
      </p:sp>
      <p:sp>
        <p:nvSpPr>
          <p:cNvPr id="9" name="Rounded Rectangle 8"/>
          <p:cNvSpPr/>
          <p:nvPr/>
        </p:nvSpPr>
        <p:spPr>
          <a:xfrm>
            <a:off x="3822192"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95344" y="3035808"/>
            <a:ext cx="1298448" cy="731520"/>
          </a:xfrm>
          <a:prstGeom prst="rect">
            <a:avLst/>
          </a:prstGeom>
          <a:noFill/>
        </p:spPr>
        <p:txBody>
          <a:bodyPr wrap="square" lIns="0" rIns="0" tIns="0" bIns="0">
            <a:spAutoFit/>
          </a:bodyPr>
          <a:lstStyle/>
          <a:p>
            <a:pPr>
              <a:defRPr b="1" sz="1000">
                <a:solidFill>
                  <a:srgbClr val="38BDF8"/>
                </a:solidFill>
              </a:defRPr>
            </a:pPr>
            <a:r>
              <a:t>3. Analysis</a:t>
            </a:r>
          </a:p>
          <a:p>
            <a:pPr>
              <a:spcBef>
                <a:spcPts val="300"/>
              </a:spcBef>
              <a:defRPr sz="950">
                <a:solidFill>
                  <a:srgbClr val="E2E8F0"/>
                </a:solidFill>
              </a:defRPr>
            </a:pPr>
            <a:r>
              <a:t>Gap Identification</a:t>
            </a:r>
          </a:p>
        </p:txBody>
      </p:sp>
      <p:sp>
        <p:nvSpPr>
          <p:cNvPr id="11" name="Rounded Rectangle 10"/>
          <p:cNvSpPr/>
          <p:nvPr/>
        </p:nvSpPr>
        <p:spPr>
          <a:xfrm>
            <a:off x="5367528"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3035808"/>
            <a:ext cx="1298448" cy="731520"/>
          </a:xfrm>
          <a:prstGeom prst="rect">
            <a:avLst/>
          </a:prstGeom>
          <a:noFill/>
        </p:spPr>
        <p:txBody>
          <a:bodyPr wrap="square" lIns="0" rIns="0" tIns="0" bIns="0">
            <a:spAutoFit/>
          </a:bodyPr>
          <a:lstStyle/>
          <a:p>
            <a:pPr>
              <a:defRPr b="1" sz="1000">
                <a:solidFill>
                  <a:srgbClr val="38BDF8"/>
                </a:solidFill>
              </a:defRPr>
            </a:pPr>
            <a:r>
              <a:t>4. Experiments</a:t>
            </a:r>
          </a:p>
          <a:p>
            <a:pPr>
              <a:spcBef>
                <a:spcPts val="300"/>
              </a:spcBef>
              <a:defRPr sz="950">
                <a:solidFill>
                  <a:srgbClr val="E2E8F0"/>
                </a:solidFill>
              </a:defRPr>
            </a:pPr>
            <a:r>
              <a:t>Code &amp; Colab</a:t>
            </a:r>
          </a:p>
        </p:txBody>
      </p:sp>
      <p:sp>
        <p:nvSpPr>
          <p:cNvPr id="13" name="Rounded Rectangle 12"/>
          <p:cNvSpPr/>
          <p:nvPr/>
        </p:nvSpPr>
        <p:spPr>
          <a:xfrm>
            <a:off x="6912864"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6016" y="3035808"/>
            <a:ext cx="1298448" cy="731520"/>
          </a:xfrm>
          <a:prstGeom prst="rect">
            <a:avLst/>
          </a:prstGeom>
          <a:noFill/>
        </p:spPr>
        <p:txBody>
          <a:bodyPr wrap="square" lIns="0" rIns="0" tIns="0" bIns="0">
            <a:spAutoFit/>
          </a:bodyPr>
          <a:lstStyle/>
          <a:p>
            <a:pPr>
              <a:defRPr b="1" sz="1000">
                <a:solidFill>
                  <a:srgbClr val="38BDF8"/>
                </a:solidFill>
              </a:defRPr>
            </a:pPr>
            <a:r>
              <a:t>5. Writing</a:t>
            </a:r>
          </a:p>
          <a:p>
            <a:pPr>
              <a:spcBef>
                <a:spcPts val="300"/>
              </a:spcBef>
              <a:defRPr sz="950">
                <a:solidFill>
                  <a:srgbClr val="E2E8F0"/>
                </a:solidFill>
              </a:defRPr>
            </a:pPr>
            <a:r>
              <a:t>Academic Paper</a:t>
            </a:r>
          </a:p>
        </p:txBody>
      </p:sp>
      <p:sp>
        <p:nvSpPr>
          <p:cNvPr id="15" name="Rounded Rectangle 14"/>
          <p:cNvSpPr/>
          <p:nvPr/>
        </p:nvSpPr>
        <p:spPr>
          <a:xfrm>
            <a:off x="8458200"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31352" y="3035808"/>
            <a:ext cx="1298448" cy="731520"/>
          </a:xfrm>
          <a:prstGeom prst="rect">
            <a:avLst/>
          </a:prstGeom>
          <a:noFill/>
        </p:spPr>
        <p:txBody>
          <a:bodyPr wrap="square" lIns="0" rIns="0" tIns="0" bIns="0">
            <a:spAutoFit/>
          </a:bodyPr>
          <a:lstStyle/>
          <a:p>
            <a:pPr>
              <a:defRPr b="1" sz="1000">
                <a:solidFill>
                  <a:srgbClr val="38BDF8"/>
                </a:solidFill>
              </a:defRPr>
            </a:pPr>
            <a:r>
              <a:t>6. Publish</a:t>
            </a:r>
          </a:p>
          <a:p>
            <a:pPr>
              <a:spcBef>
                <a:spcPts val="300"/>
              </a:spcBef>
              <a:defRPr sz="950">
                <a:solidFill>
                  <a:srgbClr val="E2E8F0"/>
                </a:solidFill>
              </a:defRPr>
            </a:pPr>
            <a:r>
              <a:t>Peer-Review</a:t>
            </a:r>
          </a:p>
        </p:txBody>
      </p:sp>
      <p:sp>
        <p:nvSpPr>
          <p:cNvPr id="17" name="Rounded Rectangle 16"/>
          <p:cNvSpPr/>
          <p:nvPr/>
        </p:nvSpPr>
        <p:spPr>
          <a:xfrm>
            <a:off x="10003536" y="2926080"/>
            <a:ext cx="1444752" cy="9601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76688" y="3035808"/>
            <a:ext cx="1298448" cy="731520"/>
          </a:xfrm>
          <a:prstGeom prst="rect">
            <a:avLst/>
          </a:prstGeom>
          <a:noFill/>
        </p:spPr>
        <p:txBody>
          <a:bodyPr wrap="square" lIns="0" rIns="0" tIns="0" bIns="0">
            <a:spAutoFit/>
          </a:bodyPr>
          <a:lstStyle/>
          <a:p>
            <a:pPr>
              <a:defRPr b="1" sz="1000">
                <a:solidFill>
                  <a:srgbClr val="38BDF8"/>
                </a:solidFill>
              </a:defRPr>
            </a:pPr>
            <a:r>
              <a:t>7. Teaching</a:t>
            </a:r>
          </a:p>
          <a:p>
            <a:pPr>
              <a:spcBef>
                <a:spcPts val="300"/>
              </a:spcBef>
              <a:defRPr sz="950">
                <a:solidFill>
                  <a:srgbClr val="E2E8F0"/>
                </a:solidFill>
              </a:defRPr>
            </a:pPr>
            <a:r>
              <a:t>Active Pedagogy</a:t>
            </a:r>
          </a:p>
        </p:txBody>
      </p:sp>
      <p:sp>
        <p:nvSpPr>
          <p:cNvPr id="19" name="Rounded Rectangle 18"/>
          <p:cNvSpPr/>
          <p:nvPr/>
        </p:nvSpPr>
        <p:spPr>
          <a:xfrm>
            <a:off x="731520" y="4160520"/>
            <a:ext cx="10728655" cy="19202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297680"/>
            <a:ext cx="10241280" cy="1645920"/>
          </a:xfrm>
          <a:prstGeom prst="rect">
            <a:avLst/>
          </a:prstGeom>
          <a:noFill/>
        </p:spPr>
        <p:txBody>
          <a:bodyPr wrap="square" lIns="0" rIns="0" tIns="0" bIns="0">
            <a:spAutoFit/>
          </a:bodyPr>
          <a:lstStyle/>
          <a:p>
            <a:pPr>
              <a:defRPr b="1" sz="1100">
                <a:solidFill>
                  <a:srgbClr val="94A3B8"/>
                </a:solidFill>
              </a:defRPr>
            </a:pPr>
            <a:r>
              <a:t>ACADEMIC &amp; INSTITUTIONAL PRESENTATION DETAILS</a:t>
            </a:r>
          </a:p>
          <a:p>
            <a:pPr>
              <a:spcAft>
                <a:spcPts val="200"/>
              </a:spcAft>
            </a:pPr>
            <a:r>
              <a:rPr b="1" sz="1050">
                <a:solidFill>
                  <a:srgbClr val="FFFFFF"/>
                </a:solidFill>
              </a:rPr>
              <a:t>•  Presenter: </a:t>
            </a:r>
            <a:r>
              <a:rPr sz="1050">
                <a:solidFill>
                  <a:srgbClr val="CBD5E1"/>
                </a:solidFill>
              </a:rPr>
              <a:t>[Student / Researcher Name]</a:t>
            </a:r>
          </a:p>
          <a:p>
            <a:pPr>
              <a:spcAft>
                <a:spcPts val="200"/>
              </a:spcAft>
            </a:pPr>
            <a:r>
              <a:rPr b="1" sz="1050">
                <a:solidFill>
                  <a:srgbClr val="FFFFFF"/>
                </a:solidFill>
              </a:rPr>
              <a:t>•  Register No: </a:t>
            </a:r>
            <a:r>
              <a:rPr sz="1050">
                <a:solidFill>
                  <a:srgbClr val="CBD5E1"/>
                </a:solidFill>
              </a:rPr>
              <a:t>[Register / Roll Number]</a:t>
            </a:r>
          </a:p>
          <a:p>
            <a:pPr>
              <a:spcAft>
                <a:spcPts val="200"/>
              </a:spcAft>
            </a:pPr>
            <a:r>
              <a:rPr b="1" sz="1050">
                <a:solidFill>
                  <a:srgbClr val="FFFFFF"/>
                </a:solidFill>
              </a:rPr>
              <a:t>•  Department: </a:t>
            </a:r>
            <a:r>
              <a:rPr sz="1050">
                <a:solidFill>
                  <a:srgbClr val="CBD5E1"/>
                </a:solidFill>
              </a:rPr>
              <a:t>[Department of Computer Science / Engineering]</a:t>
            </a:r>
          </a:p>
          <a:p>
            <a:pPr>
              <a:spcAft>
                <a:spcPts val="200"/>
              </a:spcAft>
            </a:pPr>
            <a:r>
              <a:rPr b="1" sz="1050">
                <a:solidFill>
                  <a:srgbClr val="FFFFFF"/>
                </a:solidFill>
              </a:rPr>
              <a:t>•  Year &amp; Section: </a:t>
            </a:r>
            <a:r>
              <a:rPr sz="1050">
                <a:solidFill>
                  <a:srgbClr val="CBD5E1"/>
                </a:solidFill>
              </a:rPr>
              <a:t>[Final Year / Section A / B]</a:t>
            </a:r>
          </a:p>
          <a:p>
            <a:pPr>
              <a:spcAft>
                <a:spcPts val="200"/>
              </a:spcAft>
            </a:pPr>
            <a:r>
              <a:rPr b="1" sz="1050">
                <a:solidFill>
                  <a:srgbClr val="FFFFFF"/>
                </a:solidFill>
              </a:rPr>
              <a:t>•  Course / Module: </a:t>
            </a:r>
            <a:r>
              <a:rPr sz="1050">
                <a:solidFill>
                  <a:srgbClr val="CBD5E1"/>
                </a:solidFill>
              </a:rPr>
              <a:t>[Research Methodology / Capstone Project]</a:t>
            </a:r>
          </a:p>
          <a:p>
            <a:pPr>
              <a:spcAft>
                <a:spcPts val="200"/>
              </a:spcAft>
            </a:pPr>
            <a:r>
              <a:rPr b="1" sz="1050">
                <a:solidFill>
                  <a:srgbClr val="FFFFFF"/>
                </a:solidFill>
              </a:rPr>
              <a:t>•  Faculty / Mentor: </a:t>
            </a:r>
            <a:r>
              <a:rPr sz="1050">
                <a:solidFill>
                  <a:srgbClr val="CBD5E1"/>
                </a:solidFill>
              </a:rPr>
              <a:t>[Course Handler / Supervisor Name]</a:t>
            </a:r>
          </a:p>
        </p:txBody>
      </p:sp>
      <p:sp>
        <p:nvSpPr>
          <p:cNvPr id="21" name="TextBox 20"/>
          <p:cNvSpPr txBox="1"/>
          <p:nvPr/>
        </p:nvSpPr>
        <p:spPr>
          <a:xfrm>
            <a:off x="731520" y="6446520"/>
            <a:ext cx="10728655" cy="320040"/>
          </a:xfrm>
          <a:prstGeom prst="rect">
            <a:avLst/>
          </a:prstGeom>
          <a:noFill/>
        </p:spPr>
        <p:txBody>
          <a:bodyPr wrap="none" lIns="0" rIns="0" tIns="0" bIns="0">
            <a:spAutoFit/>
          </a:bodyPr>
          <a:lstStyle/>
          <a:p>
            <a:pPr>
              <a:defRPr sz="900">
                <a:solidFill>
                  <a:srgbClr val="64748B"/>
                </a:solidFill>
                <a:latin typeface="Segoe UI"/>
              </a:defRPr>
            </a:pPr>
            <a:r>
              <a:t>AI-Powered Research, Learning &amp; Teaching Toolkit | Ref: Academic Technology Blueprint</a:t>
            </a:r>
          </a:p>
        </p:txBody>
      </p:sp>
      <p:sp>
        <p:nvSpPr>
          <p:cNvPr id="22" name="TextBox 21"/>
          <p:cNvSpPr txBox="1"/>
          <p:nvPr/>
        </p:nvSpPr>
        <p:spPr>
          <a:xfrm>
            <a:off x="9601200" y="6446520"/>
            <a:ext cx="1858975" cy="320040"/>
          </a:xfrm>
          <a:prstGeom prst="rect">
            <a:avLst/>
          </a:prstGeom>
          <a:noFill/>
        </p:spPr>
        <p:txBody>
          <a:bodyPr wrap="none" lIns="0" rIns="0" tIns="0" bIns="0">
            <a:spAutoFit/>
          </a:bodyPr>
          <a:lstStyle/>
          <a:p>
            <a:pPr algn="r">
              <a:defRPr sz="900">
                <a:solidFill>
                  <a:srgbClr val="64748B"/>
                </a:solidFill>
                <a:latin typeface="Segoe UI"/>
              </a:defRPr>
            </a:pPr>
            <a:r>
              <a:t>Slide 1 of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CONTEXT &amp; MOTIVATION</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Why AI Matters in Modern Research &amp; Education</a:t>
            </a:r>
          </a:p>
          <a:p>
            <a:pPr>
              <a:spcBef>
                <a:spcPts val="300"/>
              </a:spcBef>
              <a:defRPr sz="1150">
                <a:solidFill>
                  <a:srgbClr val="475569"/>
                </a:solidFill>
                <a:latin typeface="Segoe UI"/>
              </a:defRPr>
            </a:pPr>
            <a:r>
              <a:t>Overcoming traditional research friction points through augmented, human-governed intelligence</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93192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C2626"/>
                </a:solidFill>
                <a:latin typeface="Segoe UI"/>
              </a:defRPr>
            </a:pPr>
            <a:r>
              <a:t>TRADITIONAL RESEARCH BOTTLENECKS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00"/>
              </a:spcAft>
            </a:pPr>
            <a:r>
              <a:rPr b="1" sz="1000">
                <a:solidFill>
                  <a:srgbClr val="1E293B"/>
                </a:solidFill>
                <a:latin typeface="Segoe UI"/>
              </a:rPr>
              <a:t>•  Literature Deluge: </a:t>
            </a:r>
            <a:r>
              <a:rPr b="0" sz="1000">
                <a:solidFill>
                  <a:srgbClr val="1E293B"/>
                </a:solidFill>
                <a:latin typeface="Segoe UI"/>
              </a:rPr>
              <a:t>Over 5 million new peer-reviewed papers published annually makes manual reading impossible.</a:t>
            </a:r>
          </a:p>
          <a:p>
            <a:pPr>
              <a:spcAft>
                <a:spcPts val="400"/>
              </a:spcAft>
            </a:pPr>
            <a:r>
              <a:rPr b="1" sz="1000">
                <a:solidFill>
                  <a:srgbClr val="1E293B"/>
                </a:solidFill>
                <a:latin typeface="Segoe UI"/>
              </a:rPr>
              <a:t>•  Synthesizing Complexity: </a:t>
            </a:r>
            <a:r>
              <a:rPr b="0" sz="1000">
                <a:solidFill>
                  <a:srgbClr val="1E293B"/>
                </a:solidFill>
                <a:latin typeface="Segoe UI"/>
              </a:rPr>
              <a:t>Extracting datasets, equations, and algorithms across 50+ papers leads to severe fatigue.</a:t>
            </a:r>
          </a:p>
          <a:p>
            <a:pPr>
              <a:spcAft>
                <a:spcPts val="400"/>
              </a:spcAft>
            </a:pPr>
            <a:r>
              <a:rPr b="1" sz="1000">
                <a:solidFill>
                  <a:srgbClr val="1E293B"/>
                </a:solidFill>
                <a:latin typeface="Segoe UI"/>
              </a:rPr>
              <a:t>•  Gap Blindspots: </a:t>
            </a:r>
            <a:r>
              <a:rPr b="0" sz="1000">
                <a:solidFill>
                  <a:srgbClr val="1E293B"/>
                </a:solidFill>
                <a:latin typeface="Segoe UI"/>
              </a:rPr>
              <a:t>Researchers often duplicate existing work because niche prior art is buried across silos.</a:t>
            </a:r>
          </a:p>
          <a:p>
            <a:pPr>
              <a:spcAft>
                <a:spcPts val="400"/>
              </a:spcAft>
            </a:pPr>
            <a:r>
              <a:rPr b="1" sz="1000">
                <a:solidFill>
                  <a:srgbClr val="1E293B"/>
                </a:solidFill>
                <a:latin typeface="Segoe UI"/>
              </a:rPr>
              <a:t>•  Experimental Bottlenecks: </a:t>
            </a:r>
            <a:r>
              <a:rPr b="0" sz="1000">
                <a:solidFill>
                  <a:srgbClr val="1E293B"/>
                </a:solidFill>
                <a:latin typeface="Segoe UI"/>
              </a:rPr>
              <a:t>Time spent configuring GPU runtimes, writing boilerplate code, and debugging.</a:t>
            </a:r>
          </a:p>
          <a:p>
            <a:pPr>
              <a:spcAft>
                <a:spcPts val="400"/>
              </a:spcAft>
            </a:pPr>
            <a:r>
              <a:rPr b="1" sz="1000">
                <a:solidFill>
                  <a:srgbClr val="1E293B"/>
                </a:solidFill>
                <a:latin typeface="Segoe UI"/>
              </a:rPr>
              <a:t>•  Manuscript Polish: </a:t>
            </a:r>
            <a:r>
              <a:rPr b="0" sz="1000">
                <a:solidFill>
                  <a:srgbClr val="1E293B"/>
                </a:solidFill>
                <a:latin typeface="Segoe UI"/>
              </a:rPr>
              <a:t>Non-native speakers struggle with academic tone, flow, and journal formatting guidelines.</a:t>
            </a:r>
          </a:p>
          <a:p>
            <a:pPr>
              <a:spcAft>
                <a:spcPts val="400"/>
              </a:spcAft>
            </a:pPr>
            <a:r>
              <a:rPr b="1" sz="1000">
                <a:solidFill>
                  <a:srgbClr val="1E293B"/>
                </a:solidFill>
                <a:latin typeface="Segoe UI"/>
              </a:rPr>
              <a:t>•  Teaching Inefficiencies: </a:t>
            </a:r>
            <a:r>
              <a:rPr b="0" sz="1000">
                <a:solidFill>
                  <a:srgbClr val="1E293B"/>
                </a:solidFill>
                <a:latin typeface="Segoe UI"/>
              </a:rPr>
              <a:t>Traditional passive lectures lack instant feedback, leaving misconceptions unaddressed.</a:t>
            </a:r>
          </a:p>
        </p:txBody>
      </p:sp>
      <p:sp>
        <p:nvSpPr>
          <p:cNvPr id="9" name="Rounded Rectangle 8"/>
          <p:cNvSpPr/>
          <p:nvPr/>
        </p:nvSpPr>
        <p:spPr>
          <a:xfrm>
            <a:off x="6309360" y="1828800"/>
            <a:ext cx="5120640" cy="393192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THE AUGMENTED AI WORKFLOW</a:t>
            </a:r>
          </a:p>
        </p:txBody>
      </p:sp>
      <p:sp>
        <p:nvSpPr>
          <p:cNvPr id="11" name="TextBox 10"/>
          <p:cNvSpPr txBox="1"/>
          <p:nvPr/>
        </p:nvSpPr>
        <p:spPr>
          <a:xfrm>
            <a:off x="6537960" y="2331720"/>
            <a:ext cx="4663440" cy="3200400"/>
          </a:xfrm>
          <a:prstGeom prst="rect">
            <a:avLst/>
          </a:prstGeom>
          <a:noFill/>
        </p:spPr>
        <p:txBody>
          <a:bodyPr wrap="none">
            <a:spAutoFit/>
          </a:bodyPr>
          <a:lstStyle/>
          <a:p>
            <a:pPr>
              <a:spcAft>
                <a:spcPts val="400"/>
              </a:spcAft>
            </a:pPr>
            <a:r>
              <a:rPr b="1" sz="1000">
                <a:solidFill>
                  <a:srgbClr val="1E293B"/>
                </a:solidFill>
                <a:latin typeface="Segoe UI"/>
              </a:rPr>
              <a:t>•  Discover Faster: </a:t>
            </a:r>
            <a:r>
              <a:rPr b="0" sz="1000">
                <a:solidFill>
                  <a:srgbClr val="1E293B"/>
                </a:solidFill>
                <a:latin typeface="Segoe UI"/>
              </a:rPr>
              <a:t>Graph-based discovery tools map citation networks and surface high-impact seed papers in minutes.</a:t>
            </a:r>
          </a:p>
          <a:p>
            <a:pPr>
              <a:spcAft>
                <a:spcPts val="400"/>
              </a:spcAft>
            </a:pPr>
            <a:r>
              <a:rPr b="1" sz="1000">
                <a:solidFill>
                  <a:srgbClr val="1E293B"/>
                </a:solidFill>
                <a:latin typeface="Segoe UI"/>
              </a:rPr>
              <a:t>•  Read with Depth: </a:t>
            </a:r>
            <a:r>
              <a:rPr b="0" sz="1000">
                <a:solidFill>
                  <a:srgbClr val="1E293B"/>
                </a:solidFill>
                <a:latin typeface="Segoe UI"/>
              </a:rPr>
              <a:t>Source-grounded RAG engines answer deep methodological questions with direct page citations.</a:t>
            </a:r>
          </a:p>
          <a:p>
            <a:pPr>
              <a:spcAft>
                <a:spcPts val="400"/>
              </a:spcAft>
            </a:pPr>
            <a:r>
              <a:rPr b="1" sz="1000">
                <a:solidFill>
                  <a:srgbClr val="1E293B"/>
                </a:solidFill>
                <a:latin typeface="Segoe UI"/>
              </a:rPr>
              <a:t>•  Experiment Flexibly: </a:t>
            </a:r>
            <a:r>
              <a:rPr b="0" sz="1000">
                <a:solidFill>
                  <a:srgbClr val="1E293B"/>
                </a:solidFill>
                <a:latin typeface="Segoe UI"/>
              </a:rPr>
              <a:t>Cloud notebooks with Copilot eliminate local setup and accelerate EDA and model prototypes.</a:t>
            </a:r>
          </a:p>
          <a:p>
            <a:pPr>
              <a:spcAft>
                <a:spcPts val="400"/>
              </a:spcAft>
            </a:pPr>
            <a:r>
              <a:rPr b="1" sz="1000">
                <a:solidFill>
                  <a:srgbClr val="1E293B"/>
                </a:solidFill>
                <a:latin typeface="Segoe UI"/>
              </a:rPr>
              <a:t>•  Write with Rigor: </a:t>
            </a:r>
            <a:r>
              <a:rPr b="0" sz="1000">
                <a:solidFill>
                  <a:srgbClr val="1E293B"/>
                </a:solidFill>
                <a:latin typeface="Segoe UI"/>
              </a:rPr>
              <a:t>Specialized academic writing co-pilots improve conciseness and adherence to IMRaD standards.</a:t>
            </a:r>
          </a:p>
          <a:p>
            <a:pPr>
              <a:spcAft>
                <a:spcPts val="400"/>
              </a:spcAft>
            </a:pPr>
            <a:r>
              <a:rPr b="1" sz="1000">
                <a:solidFill>
                  <a:srgbClr val="1E293B"/>
                </a:solidFill>
                <a:latin typeface="Segoe UI"/>
              </a:rPr>
              <a:t>•  Collaborate Seamlessly: </a:t>
            </a:r>
            <a:r>
              <a:rPr b="0" sz="1000">
                <a:solidFill>
                  <a:srgbClr val="1E293B"/>
                </a:solidFill>
                <a:latin typeface="Segoe UI"/>
              </a:rPr>
              <a:t>Real-time repositories and cloud vaults maintain team synchronization and reproducibility.</a:t>
            </a:r>
          </a:p>
          <a:p>
            <a:pPr>
              <a:spcAft>
                <a:spcPts val="400"/>
              </a:spcAft>
            </a:pPr>
            <a:r>
              <a:rPr b="1" sz="1000">
                <a:solidFill>
                  <a:srgbClr val="1E293B"/>
                </a:solidFill>
                <a:latin typeface="Segoe UI"/>
              </a:rPr>
              <a:t>•  Engage Proactively: </a:t>
            </a:r>
            <a:r>
              <a:rPr b="0" sz="1000">
                <a:solidFill>
                  <a:srgbClr val="1E293B"/>
                </a:solidFill>
                <a:latin typeface="Segoe UI"/>
              </a:rPr>
              <a:t>Formative assessment and gamified platforms provide instant feedback loops in class.</a:t>
            </a:r>
          </a:p>
        </p:txBody>
      </p:sp>
      <p:sp>
        <p:nvSpPr>
          <p:cNvPr id="12" name="Rounded Rectangle 11"/>
          <p:cNvSpPr/>
          <p:nvPr/>
        </p:nvSpPr>
        <p:spPr>
          <a:xfrm>
            <a:off x="731520" y="5852160"/>
            <a:ext cx="10728655" cy="50292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52160"/>
            <a:ext cx="109728"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925312"/>
            <a:ext cx="10408615" cy="356616"/>
          </a:xfrm>
          <a:prstGeom prst="rect">
            <a:avLst/>
          </a:prstGeom>
          <a:noFill/>
        </p:spPr>
        <p:txBody>
          <a:bodyPr wrap="square" lIns="0" rIns="0" tIns="0" bIns="0">
            <a:spAutoFit/>
          </a:bodyPr>
          <a:lstStyle/>
          <a:p>
            <a:r>
              <a:rPr b="1" sz="1000">
                <a:solidFill>
                  <a:srgbClr val="0F172A"/>
                </a:solidFill>
              </a:rPr>
              <a:t>Cardinal Axiom: </a:t>
            </a:r>
            <a:r>
              <a:rPr b="0" sz="950">
                <a:solidFill>
                  <a:srgbClr val="1E293B"/>
                </a:solidFill>
              </a:rPr>
              <a:t>AI is an Accelerator, Not a Substitute: AI amplifies speed and synthesis, but human researcher judgment, ethical integrity, and domain scrutiny remain completely irreplaceable.</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Nature / Science Research Trends 2024–2026</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 of 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COMPREHENSIVE ROADMAP</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The 14-Stage AI-Assisted Research Lifecycle</a:t>
            </a:r>
          </a:p>
          <a:p>
            <a:pPr>
              <a:spcBef>
                <a:spcPts val="300"/>
              </a:spcBef>
              <a:defRPr sz="1150">
                <a:solidFill>
                  <a:srgbClr val="475569"/>
                </a:solidFill>
                <a:latin typeface="Segoe UI"/>
              </a:defRPr>
            </a:pPr>
            <a:r>
              <a:t>An integrated architectural map connecting research conception to journal dissemination and active pedagogy</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429000" cy="39319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965960"/>
            <a:ext cx="3154680" cy="32004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PILLAR 1: DISCOVERY &amp; IDEATION</a:t>
            </a:r>
          </a:p>
        </p:txBody>
      </p:sp>
      <p:sp>
        <p:nvSpPr>
          <p:cNvPr id="8" name="TextBox 7"/>
          <p:cNvSpPr txBox="1"/>
          <p:nvPr/>
        </p:nvSpPr>
        <p:spPr>
          <a:xfrm>
            <a:off x="868680" y="2377440"/>
            <a:ext cx="3154680" cy="3200400"/>
          </a:xfrm>
          <a:prstGeom prst="rect">
            <a:avLst/>
          </a:prstGeom>
          <a:noFill/>
        </p:spPr>
        <p:txBody>
          <a:bodyPr wrap="none">
            <a:spAutoFit/>
          </a:bodyPr>
          <a:lstStyle/>
          <a:p>
            <a:pPr>
              <a:spcAft>
                <a:spcPts val="500"/>
              </a:spcAft>
            </a:pPr>
            <a:r>
              <a:rPr b="1" sz="950">
                <a:solidFill>
                  <a:srgbClr val="1E293B"/>
                </a:solidFill>
                <a:latin typeface="Segoe UI"/>
              </a:rPr>
              <a:t>•  1. Research Question: </a:t>
            </a:r>
            <a:r>
              <a:rPr b="0" sz="950">
                <a:solidFill>
                  <a:srgbClr val="1E293B"/>
                </a:solidFill>
                <a:latin typeface="Segoe UI"/>
              </a:rPr>
              <a:t>Gemini / ChatGPT for topic refinement &amp; scoping</a:t>
            </a:r>
          </a:p>
          <a:p>
            <a:pPr>
              <a:spcAft>
                <a:spcPts val="500"/>
              </a:spcAft>
            </a:pPr>
            <a:r>
              <a:rPr b="1" sz="950">
                <a:solidFill>
                  <a:srgbClr val="1E293B"/>
                </a:solidFill>
                <a:latin typeface="Segoe UI"/>
              </a:rPr>
              <a:t>•  2. Literature Discovery: </a:t>
            </a:r>
            <a:r>
              <a:rPr b="0" sz="950">
                <a:solidFill>
                  <a:srgbClr val="1E293B"/>
                </a:solidFill>
                <a:latin typeface="Segoe UI"/>
              </a:rPr>
              <a:t>ResearchRabbit &amp; Litmaps for citation mapping</a:t>
            </a:r>
          </a:p>
          <a:p>
            <a:pPr>
              <a:spcAft>
                <a:spcPts val="500"/>
              </a:spcAft>
            </a:pPr>
            <a:r>
              <a:rPr b="1" sz="950">
                <a:solidFill>
                  <a:srgbClr val="1E293B"/>
                </a:solidFill>
                <a:latin typeface="Segoe UI"/>
              </a:rPr>
              <a:t>•  3. Paper Screening: </a:t>
            </a:r>
            <a:r>
              <a:rPr b="0" sz="950">
                <a:solidFill>
                  <a:srgbClr val="1E293B"/>
                </a:solidFill>
                <a:latin typeface="Segoe UI"/>
              </a:rPr>
              <a:t>Consensus &amp; Elicit for finding empirical consensus</a:t>
            </a:r>
          </a:p>
          <a:p>
            <a:pPr>
              <a:spcAft>
                <a:spcPts val="500"/>
              </a:spcAft>
            </a:pPr>
            <a:r>
              <a:rPr b="1" sz="950">
                <a:solidFill>
                  <a:srgbClr val="1E293B"/>
                </a:solidFill>
                <a:latin typeface="Segoe UI"/>
              </a:rPr>
              <a:t>•  4. Paper Reading &amp; Notes: </a:t>
            </a:r>
            <a:r>
              <a:rPr b="0" sz="950">
                <a:solidFill>
                  <a:srgbClr val="1E293B"/>
                </a:solidFill>
                <a:latin typeface="Segoe UI"/>
              </a:rPr>
              <a:t>NotebookLM &amp; SciSpace for grounded QA</a:t>
            </a:r>
          </a:p>
          <a:p>
            <a:pPr>
              <a:spcAft>
                <a:spcPts val="500"/>
              </a:spcAft>
            </a:pPr>
            <a:r>
              <a:rPr b="1" sz="950">
                <a:solidFill>
                  <a:srgbClr val="1E293B"/>
                </a:solidFill>
                <a:latin typeface="Segoe UI"/>
              </a:rPr>
              <a:t>•  5. Research Gap Identification: </a:t>
            </a:r>
            <a:r>
              <a:rPr b="0" sz="950">
                <a:solidFill>
                  <a:srgbClr val="1E293B"/>
                </a:solidFill>
                <a:latin typeface="Segoe UI"/>
              </a:rPr>
              <a:t>Semantic Scholar &amp; Connected Papers</a:t>
            </a:r>
          </a:p>
        </p:txBody>
      </p:sp>
      <p:sp>
        <p:nvSpPr>
          <p:cNvPr id="9" name="Rounded Rectangle 8"/>
          <p:cNvSpPr/>
          <p:nvPr/>
        </p:nvSpPr>
        <p:spPr>
          <a:xfrm>
            <a:off x="4379976" y="1828800"/>
            <a:ext cx="3429000" cy="393192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17136" y="1965960"/>
            <a:ext cx="3154680" cy="32004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PILLAR 2: EXPERIMENT &amp; WRITING</a:t>
            </a:r>
          </a:p>
        </p:txBody>
      </p:sp>
      <p:sp>
        <p:nvSpPr>
          <p:cNvPr id="11" name="TextBox 10"/>
          <p:cNvSpPr txBox="1"/>
          <p:nvPr/>
        </p:nvSpPr>
        <p:spPr>
          <a:xfrm>
            <a:off x="4517136" y="2377440"/>
            <a:ext cx="3154680" cy="3200400"/>
          </a:xfrm>
          <a:prstGeom prst="rect">
            <a:avLst/>
          </a:prstGeom>
          <a:noFill/>
        </p:spPr>
        <p:txBody>
          <a:bodyPr wrap="none">
            <a:spAutoFit/>
          </a:bodyPr>
          <a:lstStyle/>
          <a:p>
            <a:pPr>
              <a:spcAft>
                <a:spcPts val="500"/>
              </a:spcAft>
            </a:pPr>
            <a:r>
              <a:rPr b="1" sz="950">
                <a:solidFill>
                  <a:srgbClr val="1E293B"/>
                </a:solidFill>
                <a:latin typeface="Segoe UI"/>
              </a:rPr>
              <a:t>•  6. Idea &amp; Hypothesis: </a:t>
            </a:r>
            <a:r>
              <a:rPr b="0" sz="950">
                <a:solidFill>
                  <a:srgbClr val="1E293B"/>
                </a:solidFill>
                <a:latin typeface="Segoe UI"/>
              </a:rPr>
              <a:t>Claude &amp; Gemini for experimental framing</a:t>
            </a:r>
          </a:p>
          <a:p>
            <a:pPr>
              <a:spcAft>
                <a:spcPts val="500"/>
              </a:spcAft>
            </a:pPr>
            <a:r>
              <a:rPr b="1" sz="950">
                <a:solidFill>
                  <a:srgbClr val="1E293B"/>
                </a:solidFill>
                <a:latin typeface="Segoe UI"/>
              </a:rPr>
              <a:t>•  7. Coding &amp; Computing: </a:t>
            </a:r>
            <a:r>
              <a:rPr b="0" sz="950">
                <a:solidFill>
                  <a:srgbClr val="1E293B"/>
                </a:solidFill>
                <a:latin typeface="Segoe UI"/>
              </a:rPr>
              <a:t>Google Colab &amp; GitHub Copilot for prototyping</a:t>
            </a:r>
          </a:p>
          <a:p>
            <a:pPr>
              <a:spcAft>
                <a:spcPts val="500"/>
              </a:spcAft>
            </a:pPr>
            <a:r>
              <a:rPr b="1" sz="950">
                <a:solidFill>
                  <a:srgbClr val="1E293B"/>
                </a:solidFill>
                <a:latin typeface="Segoe UI"/>
              </a:rPr>
              <a:t>•  8. Data &amp; Statistical Analysis: </a:t>
            </a:r>
            <a:r>
              <a:rPr b="0" sz="950">
                <a:solidFill>
                  <a:srgbClr val="1E293B"/>
                </a:solidFill>
                <a:latin typeface="Segoe UI"/>
              </a:rPr>
              <a:t>Python (Seaborn/Scikit) &amp; Cursor IDE</a:t>
            </a:r>
          </a:p>
          <a:p>
            <a:pPr>
              <a:spcAft>
                <a:spcPts val="500"/>
              </a:spcAft>
            </a:pPr>
            <a:r>
              <a:rPr b="1" sz="950">
                <a:solidFill>
                  <a:srgbClr val="1E293B"/>
                </a:solidFill>
                <a:latin typeface="Segoe UI"/>
              </a:rPr>
              <a:t>•  9. AI-Assisted Writing: </a:t>
            </a:r>
            <a:r>
              <a:rPr b="0" sz="950">
                <a:solidFill>
                  <a:srgbClr val="1E293B"/>
                </a:solidFill>
                <a:latin typeface="Segoe UI"/>
              </a:rPr>
              <a:t>Paperpal &amp; Writefull for academic grammar</a:t>
            </a:r>
          </a:p>
          <a:p>
            <a:pPr>
              <a:spcAft>
                <a:spcPts val="500"/>
              </a:spcAft>
            </a:pPr>
            <a:r>
              <a:rPr b="1" sz="950">
                <a:solidFill>
                  <a:srgbClr val="1E293B"/>
                </a:solidFill>
                <a:latin typeface="Segoe UI"/>
              </a:rPr>
              <a:t>•  10. Manuscript Dissemination: </a:t>
            </a:r>
            <a:r>
              <a:rPr b="0" sz="950">
                <a:solidFill>
                  <a:srgbClr val="1E293B"/>
                </a:solidFill>
                <a:latin typeface="Segoe UI"/>
              </a:rPr>
              <a:t>Overleaf LaTeX for journal compilation</a:t>
            </a:r>
          </a:p>
        </p:txBody>
      </p:sp>
      <p:sp>
        <p:nvSpPr>
          <p:cNvPr id="12" name="Rounded Rectangle 11"/>
          <p:cNvSpPr/>
          <p:nvPr/>
        </p:nvSpPr>
        <p:spPr>
          <a:xfrm>
            <a:off x="8028432" y="1828800"/>
            <a:ext cx="3429000" cy="393192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65592" y="1965960"/>
            <a:ext cx="3154680" cy="32004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D9488"/>
                </a:solidFill>
                <a:latin typeface="Segoe UI"/>
              </a:defRPr>
            </a:pPr>
            <a:r>
              <a:t>PILLAR 3: COLLABORATION &amp; PEDAGOGY</a:t>
            </a:r>
          </a:p>
        </p:txBody>
      </p:sp>
      <p:sp>
        <p:nvSpPr>
          <p:cNvPr id="14" name="TextBox 13"/>
          <p:cNvSpPr txBox="1"/>
          <p:nvPr/>
        </p:nvSpPr>
        <p:spPr>
          <a:xfrm>
            <a:off x="8165592" y="2377440"/>
            <a:ext cx="3154680" cy="3200400"/>
          </a:xfrm>
          <a:prstGeom prst="rect">
            <a:avLst/>
          </a:prstGeom>
          <a:noFill/>
        </p:spPr>
        <p:txBody>
          <a:bodyPr wrap="none">
            <a:spAutoFit/>
          </a:bodyPr>
          <a:lstStyle/>
          <a:p>
            <a:pPr>
              <a:spcAft>
                <a:spcPts val="500"/>
              </a:spcAft>
            </a:pPr>
            <a:r>
              <a:rPr b="1" sz="950">
                <a:solidFill>
                  <a:srgbClr val="1E293B"/>
                </a:solidFill>
                <a:latin typeface="Segoe UI"/>
              </a:rPr>
              <a:t>•  11. Project Proposal: </a:t>
            </a:r>
            <a:r>
              <a:rPr b="0" sz="950">
                <a:solidFill>
                  <a:srgbClr val="1E293B"/>
                </a:solidFill>
                <a:latin typeface="Segoe UI"/>
              </a:rPr>
              <a:t>Structured AI templates for grant/capstone defense</a:t>
            </a:r>
          </a:p>
          <a:p>
            <a:pPr>
              <a:spcAft>
                <a:spcPts val="500"/>
              </a:spcAft>
            </a:pPr>
            <a:r>
              <a:rPr b="1" sz="950">
                <a:solidFill>
                  <a:srgbClr val="1E293B"/>
                </a:solidFill>
                <a:latin typeface="Segoe UI"/>
              </a:rPr>
              <a:t>•  12. Team Collaboration: </a:t>
            </a:r>
            <a:r>
              <a:rPr b="0" sz="950">
                <a:solidFill>
                  <a:srgbClr val="1E293B"/>
                </a:solidFill>
                <a:latin typeface="Segoe UI"/>
              </a:rPr>
              <a:t>GitHub, Notion &amp; Google Drive for version control</a:t>
            </a:r>
          </a:p>
          <a:p>
            <a:pPr>
              <a:spcAft>
                <a:spcPts val="500"/>
              </a:spcAft>
            </a:pPr>
            <a:r>
              <a:rPr b="1" sz="950">
                <a:solidFill>
                  <a:srgbClr val="1E293B"/>
                </a:solidFill>
                <a:latin typeface="Segoe UI"/>
              </a:rPr>
              <a:t>•  13. Presentation &amp; Teaching: </a:t>
            </a:r>
            <a:r>
              <a:rPr b="0" sz="950">
                <a:solidFill>
                  <a:srgbClr val="1E293B"/>
                </a:solidFill>
                <a:latin typeface="Segoe UI"/>
              </a:rPr>
              <a:t>Google Forms &amp; Khan Academy for mastery</a:t>
            </a:r>
          </a:p>
          <a:p>
            <a:pPr>
              <a:spcAft>
                <a:spcPts val="500"/>
              </a:spcAft>
            </a:pPr>
            <a:r>
              <a:rPr b="1" sz="950">
                <a:solidFill>
                  <a:srgbClr val="1E293B"/>
                </a:solidFill>
                <a:latin typeface="Segoe UI"/>
              </a:rPr>
              <a:t>•  14. Interactive Gamification: </a:t>
            </a:r>
            <a:r>
              <a:rPr b="0" sz="950">
                <a:solidFill>
                  <a:srgbClr val="1E293B"/>
                </a:solidFill>
                <a:latin typeface="Segoe UI"/>
              </a:rPr>
              <a:t>Kahoot, Blooket &amp; Flippity for engagement</a:t>
            </a:r>
          </a:p>
          <a:p>
            <a:pPr>
              <a:spcAft>
                <a:spcPts val="500"/>
              </a:spcAft>
            </a:pPr>
            <a:r>
              <a:rPr b="1" sz="950">
                <a:solidFill>
                  <a:srgbClr val="1E293B"/>
                </a:solidFill>
                <a:latin typeface="Segoe UI"/>
              </a:rPr>
              <a:t>•  Continuous Audit: </a:t>
            </a:r>
            <a:r>
              <a:rPr b="0" sz="950">
                <a:solidFill>
                  <a:srgbClr val="1E293B"/>
                </a:solidFill>
                <a:latin typeface="Segoe UI"/>
              </a:rPr>
              <a:t>Rigorous verification &amp; ethics against hallucinations</a:t>
            </a:r>
          </a:p>
        </p:txBody>
      </p:sp>
      <p:sp>
        <p:nvSpPr>
          <p:cNvPr id="15" name="Rounded Rectangle 14"/>
          <p:cNvSpPr/>
          <p:nvPr/>
        </p:nvSpPr>
        <p:spPr>
          <a:xfrm>
            <a:off x="731520" y="585216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5216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5925312"/>
            <a:ext cx="10408615" cy="356616"/>
          </a:xfrm>
          <a:prstGeom prst="rect">
            <a:avLst/>
          </a:prstGeom>
          <a:noFill/>
        </p:spPr>
        <p:txBody>
          <a:bodyPr wrap="square" lIns="0" rIns="0" tIns="0" bIns="0">
            <a:spAutoFit/>
          </a:bodyPr>
          <a:lstStyle/>
          <a:p>
            <a:r>
              <a:rPr b="1" sz="1000">
                <a:solidFill>
                  <a:srgbClr val="0F172A"/>
                </a:solidFill>
              </a:rPr>
              <a:t>Navigation Guide: </a:t>
            </a:r>
            <a:r>
              <a:rPr b="0" sz="950">
                <a:solidFill>
                  <a:srgbClr val="1E293B"/>
                </a:solidFill>
              </a:rPr>
              <a:t>This roadmap serves as the master syllabus for this toolkit. Each subsequent section deep-dives into tools, prompts, and practical examples.</a:t>
            </a: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IEEE / ACM Academic Research Process Standards</a:t>
            </a:r>
          </a:p>
        </p:txBody>
      </p:sp>
      <p:sp>
        <p:nvSpPr>
          <p:cNvPr id="19" name="TextBox 18"/>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3 of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1: LITERATURE DISCOVERY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Literature Discovery: Why It Is Fundamental</a:t>
            </a:r>
          </a:p>
          <a:p>
            <a:pPr>
              <a:spcBef>
                <a:spcPts val="300"/>
              </a:spcBef>
              <a:defRPr sz="1150">
                <a:solidFill>
                  <a:srgbClr val="475569"/>
                </a:solidFill>
                <a:latin typeface="Segoe UI"/>
              </a:defRPr>
            </a:pPr>
            <a:r>
              <a:t>Building on existing scientific foundations while avoiding redundant experimentation and blind spots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7432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FOUNDATIONAL OBJECTIVES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00"/>
              </a:spcAft>
            </a:pPr>
            <a:r>
              <a:rPr b="1" sz="1000">
                <a:solidFill>
                  <a:srgbClr val="1E293B"/>
                </a:solidFill>
                <a:latin typeface="Segoe UI"/>
              </a:rPr>
              <a:t>•  Prevent Duplicate Invention: </a:t>
            </a:r>
            <a:r>
              <a:rPr b="0" sz="1000">
                <a:solidFill>
                  <a:srgbClr val="1E293B"/>
                </a:solidFill>
                <a:latin typeface="Segoe UI"/>
              </a:rPr>
              <a:t>Ensures months of research are not wasted reimplementing already published solutions.</a:t>
            </a:r>
          </a:p>
          <a:p>
            <a:pPr>
              <a:spcAft>
                <a:spcPts val="400"/>
              </a:spcAft>
            </a:pPr>
            <a:r>
              <a:rPr b="1" sz="1000">
                <a:solidFill>
                  <a:srgbClr val="1E293B"/>
                </a:solidFill>
                <a:latin typeface="Segoe UI"/>
              </a:rPr>
              <a:t>•  Uncover Established Baselines: </a:t>
            </a:r>
            <a:r>
              <a:rPr b="0" sz="1000">
                <a:solidFill>
                  <a:srgbClr val="1E293B"/>
                </a:solidFill>
                <a:latin typeface="Segoe UI"/>
              </a:rPr>
              <a:t>Identifies the standard benchmark datasets (e.g., ImageNet, MIMIC-III) and baseline metrics.</a:t>
            </a:r>
          </a:p>
          <a:p>
            <a:pPr>
              <a:spcAft>
                <a:spcPts val="400"/>
              </a:spcAft>
            </a:pPr>
            <a:r>
              <a:rPr b="1" sz="1000">
                <a:solidFill>
                  <a:srgbClr val="1E293B"/>
                </a:solidFill>
                <a:latin typeface="Segoe UI"/>
              </a:rPr>
              <a:t>•  Reveal Methodological Flaws: </a:t>
            </a:r>
            <a:r>
              <a:rPr b="0" sz="1000">
                <a:solidFill>
                  <a:srgbClr val="1E293B"/>
                </a:solidFill>
                <a:latin typeface="Segoe UI"/>
              </a:rPr>
              <a:t>Helps researchers identify common algorithmic failures and experimental limitations.</a:t>
            </a:r>
          </a:p>
          <a:p>
            <a:pPr>
              <a:spcAft>
                <a:spcPts val="400"/>
              </a:spcAft>
            </a:pPr>
            <a:r>
              <a:rPr b="1" sz="1000">
                <a:solidFill>
                  <a:srgbClr val="1E293B"/>
                </a:solidFill>
                <a:latin typeface="Segoe UI"/>
              </a:rPr>
              <a:t>•  Triangulate True Research Gaps: </a:t>
            </a:r>
            <a:r>
              <a:rPr b="0" sz="1000">
                <a:solidFill>
                  <a:srgbClr val="1E293B"/>
                </a:solidFill>
                <a:latin typeface="Segoe UI"/>
              </a:rPr>
              <a:t>Highlights unsolved edge cases, data scarcity issues, or unverified claims in prior art.</a:t>
            </a:r>
          </a:p>
          <a:p>
            <a:pPr>
              <a:spcAft>
                <a:spcPts val="400"/>
              </a:spcAft>
            </a:pPr>
            <a:r>
              <a:rPr b="1" sz="1000">
                <a:solidFill>
                  <a:srgbClr val="1E293B"/>
                </a:solidFill>
                <a:latin typeface="Segoe UI"/>
              </a:rPr>
              <a:t>•  Map Author Networks: </a:t>
            </a:r>
            <a:r>
              <a:rPr b="0" sz="1000">
                <a:solidFill>
                  <a:srgbClr val="1E293B"/>
                </a:solidFill>
                <a:latin typeface="Segoe UI"/>
              </a:rPr>
              <a:t>Identifies key research labs, active investigators, and potential collaborators or reviewers.</a:t>
            </a:r>
          </a:p>
          <a:p>
            <a:pPr>
              <a:spcAft>
                <a:spcPts val="400"/>
              </a:spcAft>
            </a:pPr>
            <a:r>
              <a:rPr b="1" sz="1000">
                <a:solidFill>
                  <a:srgbClr val="1E293B"/>
                </a:solidFill>
                <a:latin typeface="Segoe UI"/>
              </a:rPr>
              <a:t>•  Strengthen Grant/Thesis Defense: </a:t>
            </a:r>
            <a:r>
              <a:rPr b="0" sz="1000">
                <a:solidFill>
                  <a:srgbClr val="1E293B"/>
                </a:solidFill>
                <a:latin typeface="Segoe UI"/>
              </a:rPr>
              <a:t>Provides an authoritative, evidence-backed foundation for proposals.</a:t>
            </a:r>
          </a:p>
        </p:txBody>
      </p:sp>
      <p:sp>
        <p:nvSpPr>
          <p:cNvPr id="9" name="Rounded Rectangle 8"/>
          <p:cNvSpPr/>
          <p:nvPr/>
        </p:nvSpPr>
        <p:spPr>
          <a:xfrm>
            <a:off x="6309360" y="1828800"/>
            <a:ext cx="51206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2743200" cy="2743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1E293B"/>
                </a:solidFill>
                <a:latin typeface="Segoe UI"/>
              </a:defRPr>
            </a:pPr>
            <a:r>
              <a:t>THE INFORMATION BOTTLENECK</a:t>
            </a:r>
          </a:p>
        </p:txBody>
      </p:sp>
      <p:sp>
        <p:nvSpPr>
          <p:cNvPr id="11" name="Rounded Rectangle 10"/>
          <p:cNvSpPr/>
          <p:nvPr/>
        </p:nvSpPr>
        <p:spPr>
          <a:xfrm>
            <a:off x="6537960" y="2377440"/>
            <a:ext cx="4663440" cy="5943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432304"/>
            <a:ext cx="4480560" cy="502920"/>
          </a:xfrm>
          <a:prstGeom prst="rect">
            <a:avLst/>
          </a:prstGeom>
          <a:noFill/>
        </p:spPr>
        <p:txBody>
          <a:bodyPr wrap="square" lIns="0" rIns="0" tIns="0" bIns="0">
            <a:spAutoFit/>
          </a:bodyPr>
          <a:lstStyle/>
          <a:p>
            <a:pPr>
              <a:defRPr b="1" sz="950">
                <a:solidFill>
                  <a:srgbClr val="DC2626"/>
                </a:solidFill>
              </a:defRPr>
            </a:pPr>
            <a:r>
              <a:t>1. Global Literature Pool</a:t>
            </a:r>
          </a:p>
          <a:p>
            <a:pPr>
              <a:defRPr sz="850">
                <a:solidFill>
                  <a:srgbClr val="1E293B"/>
                </a:solidFill>
              </a:defRPr>
            </a:pPr>
            <a:r>
              <a:t>Thousands of papers published daily across IEEE, ACM, arXiv, Springer</a:t>
            </a:r>
          </a:p>
        </p:txBody>
      </p:sp>
      <p:sp>
        <p:nvSpPr>
          <p:cNvPr id="13" name="Rounded Rectangle 12"/>
          <p:cNvSpPr/>
          <p:nvPr/>
        </p:nvSpPr>
        <p:spPr>
          <a:xfrm>
            <a:off x="6537960" y="3035808"/>
            <a:ext cx="4663440" cy="5943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90672"/>
            <a:ext cx="4480560" cy="502920"/>
          </a:xfrm>
          <a:prstGeom prst="rect">
            <a:avLst/>
          </a:prstGeom>
          <a:noFill/>
        </p:spPr>
        <p:txBody>
          <a:bodyPr wrap="square" lIns="0" rIns="0" tIns="0" bIns="0">
            <a:spAutoFit/>
          </a:bodyPr>
          <a:lstStyle/>
          <a:p>
            <a:pPr>
              <a:defRPr b="1" sz="950">
                <a:solidFill>
                  <a:srgbClr val="D97706"/>
                </a:solidFill>
              </a:defRPr>
            </a:pPr>
            <a:r>
              <a:t>2. Information Overload</a:t>
            </a:r>
          </a:p>
          <a:p>
            <a:pPr>
              <a:defRPr sz="850">
                <a:solidFill>
                  <a:srgbClr val="1E293B"/>
                </a:solidFill>
              </a:defRPr>
            </a:pPr>
            <a:r>
              <a:t>Keyword searches return 10,000+ unranked, noisy results</a:t>
            </a:r>
          </a:p>
        </p:txBody>
      </p:sp>
      <p:sp>
        <p:nvSpPr>
          <p:cNvPr id="15" name="Rounded Rectangle 14"/>
          <p:cNvSpPr/>
          <p:nvPr/>
        </p:nvSpPr>
        <p:spPr>
          <a:xfrm>
            <a:off x="6537960" y="3694176"/>
            <a:ext cx="4663440" cy="594360"/>
          </a:xfrm>
          <a:prstGeom prst="roundRect">
            <a:avLst/>
          </a:prstGeom>
          <a:solidFill>
            <a:srgbClr val="F1F5F9"/>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49040"/>
            <a:ext cx="4480560" cy="502920"/>
          </a:xfrm>
          <a:prstGeom prst="rect">
            <a:avLst/>
          </a:prstGeom>
          <a:noFill/>
        </p:spPr>
        <p:txBody>
          <a:bodyPr wrap="square" lIns="0" rIns="0" tIns="0" bIns="0">
            <a:spAutoFit/>
          </a:bodyPr>
          <a:lstStyle/>
          <a:p>
            <a:pPr>
              <a:defRPr b="1" sz="950">
                <a:solidFill>
                  <a:srgbClr val="1E293B"/>
                </a:solidFill>
              </a:defRPr>
            </a:pPr>
            <a:r>
              <a:t>3. Traditional Manual Screening</a:t>
            </a:r>
          </a:p>
          <a:p>
            <a:pPr>
              <a:defRPr sz="850">
                <a:solidFill>
                  <a:srgbClr val="1E293B"/>
                </a:solidFill>
              </a:defRPr>
            </a:pPr>
            <a:r>
              <a:t>Skimming titles/abstracts manually leads to severe fatigue and bias</a:t>
            </a:r>
          </a:p>
        </p:txBody>
      </p:sp>
      <p:sp>
        <p:nvSpPr>
          <p:cNvPr id="17" name="Rounded Rectangle 16"/>
          <p:cNvSpPr/>
          <p:nvPr/>
        </p:nvSpPr>
        <p:spPr>
          <a:xfrm>
            <a:off x="6537960" y="4352544"/>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407408"/>
            <a:ext cx="4480560" cy="502920"/>
          </a:xfrm>
          <a:prstGeom prst="rect">
            <a:avLst/>
          </a:prstGeom>
          <a:noFill/>
        </p:spPr>
        <p:txBody>
          <a:bodyPr wrap="square" lIns="0" rIns="0" tIns="0" bIns="0">
            <a:spAutoFit/>
          </a:bodyPr>
          <a:lstStyle/>
          <a:p>
            <a:pPr>
              <a:defRPr b="1" sz="950">
                <a:solidFill>
                  <a:srgbClr val="2563EB"/>
                </a:solidFill>
              </a:defRPr>
            </a:pPr>
            <a:r>
              <a:t>4. AI Graph-Based Filtering</a:t>
            </a:r>
          </a:p>
          <a:p>
            <a:pPr>
              <a:defRPr sz="850">
                <a:solidFill>
                  <a:srgbClr val="1E293B"/>
                </a:solidFill>
              </a:defRPr>
            </a:pPr>
            <a:r>
              <a:t>Relational AI tools filter papers by citation centrality and semantic relevance</a:t>
            </a:r>
          </a:p>
        </p:txBody>
      </p:sp>
      <p:sp>
        <p:nvSpPr>
          <p:cNvPr id="19" name="Rounded Rectangle 18"/>
          <p:cNvSpPr/>
          <p:nvPr/>
        </p:nvSpPr>
        <p:spPr>
          <a:xfrm>
            <a:off x="6537960" y="5010912"/>
            <a:ext cx="4663440" cy="594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65776"/>
            <a:ext cx="4480560" cy="502920"/>
          </a:xfrm>
          <a:prstGeom prst="rect">
            <a:avLst/>
          </a:prstGeom>
          <a:noFill/>
        </p:spPr>
        <p:txBody>
          <a:bodyPr wrap="square" lIns="0" rIns="0" tIns="0" bIns="0">
            <a:spAutoFit/>
          </a:bodyPr>
          <a:lstStyle/>
          <a:p>
            <a:pPr>
              <a:defRPr b="1" sz="950">
                <a:solidFill>
                  <a:srgbClr val="059669"/>
                </a:solidFill>
              </a:defRPr>
            </a:pPr>
            <a:r>
              <a:t>5. Curated Seed Collection</a:t>
            </a:r>
          </a:p>
          <a:p>
            <a:pPr>
              <a:defRPr sz="850">
                <a:solidFill>
                  <a:srgbClr val="1E293B"/>
                </a:solidFill>
              </a:defRPr>
            </a:pPr>
            <a:r>
              <a:t>20–30 high-impact, directly relevant papers with transparent lineage</a:t>
            </a:r>
          </a:p>
        </p:txBody>
      </p:sp>
      <p:sp>
        <p:nvSpPr>
          <p:cNvPr id="21" name="Rounded Rectangle 20"/>
          <p:cNvSpPr/>
          <p:nvPr/>
        </p:nvSpPr>
        <p:spPr>
          <a:xfrm>
            <a:off x="731520" y="5806440"/>
            <a:ext cx="10728655" cy="5486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402336"/>
          </a:xfrm>
          <a:prstGeom prst="rect">
            <a:avLst/>
          </a:prstGeom>
          <a:noFill/>
        </p:spPr>
        <p:txBody>
          <a:bodyPr wrap="square" lIns="0" rIns="0" tIns="0" bIns="0">
            <a:spAutoFit/>
          </a:bodyPr>
          <a:lstStyle/>
          <a:p>
            <a:r>
              <a:rPr b="1" sz="1000">
                <a:solidFill>
                  <a:srgbClr val="0F172A"/>
                </a:solidFill>
              </a:rPr>
              <a:t>Methodology Insight: </a:t>
            </a:r>
            <a:r>
              <a:rPr b="0" sz="950">
                <a:solidFill>
                  <a:srgbClr val="1E293B"/>
                </a:solidFill>
              </a:rPr>
              <a:t>Modern discovery shifts researchers from keyword searching ('query and pray') to graph exploration ('start with one seed paper and map its citation ecosystem').</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Research Synthesis Methods (Elsevier, 2024)</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4 of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1: LITERATURE DISCOVERY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Comparative Matrix: AI Literature Review Tools</a:t>
            </a:r>
          </a:p>
          <a:p>
            <a:pPr>
              <a:spcBef>
                <a:spcPts val="300"/>
              </a:spcBef>
              <a:defRPr sz="1150">
                <a:solidFill>
                  <a:srgbClr val="475569"/>
                </a:solidFill>
                <a:latin typeface="Segoe UI"/>
              </a:defRPr>
            </a:pPr>
            <a:r>
              <a:t>Comprehensive feature breakdown of specialized literature discovery engines and their ideal research applications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828800"/>
          <a:ext cx="10728655" cy="3474720"/>
        </p:xfrm>
        <a:graphic>
          <a:graphicData uri="http://schemas.openxmlformats.org/drawingml/2006/table">
            <a:tbl>
              <a:tblPr firstRow="1" bandRow="1">
                <a:tableStyleId>{5C22544A-7EE6-4342-B048-85BDC9FD1C3A}</a:tableStyleId>
              </a:tblPr>
              <a:tblGrid>
                <a:gridCol w="1645920"/>
                <a:gridCol w="2560320"/>
                <a:gridCol w="2651760"/>
                <a:gridCol w="2103120"/>
                <a:gridCol w="1767535"/>
              </a:tblGrid>
              <a:tr h="496388">
                <a:tc>
                  <a:txBody>
                    <a:bodyPr/>
                    <a:lstStyle/>
                    <a:p>
                      <a:pPr algn="l">
                        <a:defRPr b="1" sz="1050">
                          <a:solidFill>
                            <a:srgbClr val="FFFFFF"/>
                          </a:solidFill>
                          <a:latin typeface="Segoe UI"/>
                        </a:defRPr>
                      </a:pPr>
                      <a:r>
                        <a:t>Tool Name</a:t>
                      </a:r>
                    </a:p>
                  </a:txBody>
                  <a:tcPr marL="109728" marR="109728" marT="73152" marB="73152">
                    <a:solidFill>
                      <a:srgbClr val="2563EB"/>
                    </a:solidFill>
                  </a:tcPr>
                </a:tc>
                <a:tc>
                  <a:txBody>
                    <a:bodyPr/>
                    <a:lstStyle/>
                    <a:p>
                      <a:pPr algn="l">
                        <a:defRPr b="1" sz="1050">
                          <a:solidFill>
                            <a:srgbClr val="FFFFFF"/>
                          </a:solidFill>
                          <a:latin typeface="Segoe UI"/>
                        </a:defRPr>
                      </a:pPr>
                      <a:r>
                        <a:t>Primary Purpose</a:t>
                      </a:r>
                    </a:p>
                  </a:txBody>
                  <a:tcPr marL="109728" marR="109728" marT="73152" marB="73152">
                    <a:solidFill>
                      <a:srgbClr val="2563EB"/>
                    </a:solidFill>
                  </a:tcPr>
                </a:tc>
                <a:tc>
                  <a:txBody>
                    <a:bodyPr/>
                    <a:lstStyle/>
                    <a:p>
                      <a:pPr algn="l">
                        <a:defRPr b="1" sz="1050">
                          <a:solidFill>
                            <a:srgbClr val="FFFFFF"/>
                          </a:solidFill>
                          <a:latin typeface="Segoe UI"/>
                        </a:defRPr>
                      </a:pPr>
                      <a:r>
                        <a:t>Best For</a:t>
                      </a:r>
                    </a:p>
                  </a:txBody>
                  <a:tcPr marL="109728" marR="109728" marT="73152" marB="73152">
                    <a:solidFill>
                      <a:srgbClr val="2563EB"/>
                    </a:solidFill>
                  </a:tcPr>
                </a:tc>
                <a:tc>
                  <a:txBody>
                    <a:bodyPr/>
                    <a:lstStyle/>
                    <a:p>
                      <a:pPr algn="l">
                        <a:defRPr b="1" sz="1050">
                          <a:solidFill>
                            <a:srgbClr val="FFFFFF"/>
                          </a:solidFill>
                          <a:latin typeface="Segoe UI"/>
                        </a:defRPr>
                      </a:pPr>
                      <a:r>
                        <a:t>Output Format</a:t>
                      </a:r>
                    </a:p>
                  </a:txBody>
                  <a:tcPr marL="109728" marR="109728" marT="73152" marB="73152">
                    <a:solidFill>
                      <a:srgbClr val="2563EB"/>
                    </a:solidFill>
                  </a:tcPr>
                </a:tc>
                <a:tc>
                  <a:txBody>
                    <a:bodyPr/>
                    <a:lstStyle/>
                    <a:p>
                      <a:pPr algn="l">
                        <a:defRPr b="1" sz="1050">
                          <a:solidFill>
                            <a:srgbClr val="FFFFFF"/>
                          </a:solidFill>
                          <a:latin typeface="Segoe UI"/>
                        </a:defRPr>
                      </a:pPr>
                      <a:r>
                        <a:t>Underlying Source</a:t>
                      </a:r>
                    </a:p>
                  </a:txBody>
                  <a:tcPr marL="109728" marR="109728" marT="73152" marB="73152">
                    <a:solidFill>
                      <a:srgbClr val="2563EB"/>
                    </a:solidFill>
                  </a:tcPr>
                </a:tc>
              </a:tr>
              <a:tr h="496388">
                <a:tc>
                  <a:txBody>
                    <a:bodyPr/>
                    <a:lstStyle/>
                    <a:p>
                      <a:pPr algn="l">
                        <a:defRPr sz="1000" b="1">
                          <a:solidFill>
                            <a:srgbClr val="0F172A"/>
                          </a:solidFill>
                          <a:latin typeface="Segoe UI"/>
                        </a:defRPr>
                      </a:pPr>
                      <a:r>
                        <a:t>ResearchRabbit</a:t>
                      </a:r>
                    </a:p>
                  </a:txBody>
                  <a:tcPr marL="109728" marR="109728" marT="73152" marB="73152">
                    <a:solidFill>
                      <a:srgbClr val="FFFFFF"/>
                    </a:solidFill>
                  </a:tcPr>
                </a:tc>
                <a:tc>
                  <a:txBody>
                    <a:bodyPr/>
                    <a:lstStyle/>
                    <a:p>
                      <a:pPr algn="l">
                        <a:defRPr sz="1000">
                          <a:solidFill>
                            <a:srgbClr val="1E293B"/>
                          </a:solidFill>
                          <a:latin typeface="Segoe UI"/>
                        </a:defRPr>
                      </a:pPr>
                      <a:r>
                        <a:t>Citation network mapping &amp; author graph visualization</a:t>
                      </a:r>
                    </a:p>
                  </a:txBody>
                  <a:tcPr marL="109728" marR="109728" marT="73152" marB="73152">
                    <a:solidFill>
                      <a:srgbClr val="FFFFFF"/>
                    </a:solidFill>
                  </a:tcPr>
                </a:tc>
                <a:tc>
                  <a:txBody>
                    <a:bodyPr/>
                    <a:lstStyle/>
                    <a:p>
                      <a:pPr algn="l">
                        <a:defRPr sz="1000">
                          <a:solidFill>
                            <a:srgbClr val="1E293B"/>
                          </a:solidFill>
                          <a:latin typeface="Segoe UI"/>
                        </a:defRPr>
                      </a:pPr>
                      <a:r>
                        <a:t>Building dynamic literature collections from seed papers</a:t>
                      </a:r>
                    </a:p>
                  </a:txBody>
                  <a:tcPr marL="109728" marR="109728" marT="73152" marB="73152">
                    <a:solidFill>
                      <a:srgbClr val="FFFFFF"/>
                    </a:solidFill>
                  </a:tcPr>
                </a:tc>
                <a:tc>
                  <a:txBody>
                    <a:bodyPr/>
                    <a:lstStyle/>
                    <a:p>
                      <a:pPr algn="l">
                        <a:defRPr sz="1000">
                          <a:solidFill>
                            <a:srgbClr val="1E293B"/>
                          </a:solidFill>
                          <a:latin typeface="Segoe UI"/>
                        </a:defRPr>
                      </a:pPr>
                      <a:r>
                        <a:t>Interactive network graphs, timeline views, RIS export</a:t>
                      </a:r>
                    </a:p>
                  </a:txBody>
                  <a:tcPr marL="109728" marR="109728" marT="73152" marB="73152">
                    <a:solidFill>
                      <a:srgbClr val="FFFFFF"/>
                    </a:solidFill>
                  </a:tcPr>
                </a:tc>
                <a:tc>
                  <a:txBody>
                    <a:bodyPr/>
                    <a:lstStyle/>
                    <a:p>
                      <a:pPr algn="l">
                        <a:defRPr sz="1000">
                          <a:solidFill>
                            <a:srgbClr val="1E293B"/>
                          </a:solidFill>
                          <a:latin typeface="Segoe UI"/>
                        </a:defRPr>
                      </a:pPr>
                      <a:r>
                        <a:t>Crossref, PubMed, OpenAlex</a:t>
                      </a:r>
                    </a:p>
                  </a:txBody>
                  <a:tcPr marL="109728" marR="109728" marT="73152" marB="73152">
                    <a:solidFill>
                      <a:srgbClr val="FFFFFF"/>
                    </a:solidFill>
                  </a:tcPr>
                </a:tc>
              </a:tr>
              <a:tr h="496388">
                <a:tc>
                  <a:txBody>
                    <a:bodyPr/>
                    <a:lstStyle/>
                    <a:p>
                      <a:pPr algn="l">
                        <a:defRPr sz="1000" b="1">
                          <a:solidFill>
                            <a:srgbClr val="0F172A"/>
                          </a:solidFill>
                          <a:latin typeface="Segoe UI"/>
                        </a:defRPr>
                      </a:pPr>
                      <a:r>
                        <a:t>Litmaps</a:t>
                      </a:r>
                    </a:p>
                  </a:txBody>
                  <a:tcPr marL="109728" marR="109728" marT="73152" marB="73152">
                    <a:solidFill>
                      <a:srgbClr val="F1F5F9"/>
                    </a:solidFill>
                  </a:tcPr>
                </a:tc>
                <a:tc>
                  <a:txBody>
                    <a:bodyPr/>
                    <a:lstStyle/>
                    <a:p>
                      <a:pPr algn="l">
                        <a:defRPr sz="1000">
                          <a:solidFill>
                            <a:srgbClr val="1E293B"/>
                          </a:solidFill>
                          <a:latin typeface="Segoe UI"/>
                        </a:defRPr>
                      </a:pPr>
                      <a:r>
                        <a:t>Chronological citation maps &amp; literature tracking</a:t>
                      </a:r>
                    </a:p>
                  </a:txBody>
                  <a:tcPr marL="109728" marR="109728" marT="73152" marB="73152">
                    <a:solidFill>
                      <a:srgbClr val="F1F5F9"/>
                    </a:solidFill>
                  </a:tcPr>
                </a:tc>
                <a:tc>
                  <a:txBody>
                    <a:bodyPr/>
                    <a:lstStyle/>
                    <a:p>
                      <a:pPr algn="l">
                        <a:defRPr sz="1000">
                          <a:solidFill>
                            <a:srgbClr val="1E293B"/>
                          </a:solidFill>
                          <a:latin typeface="Segoe UI"/>
                        </a:defRPr>
                      </a:pPr>
                      <a:r>
                        <a:t>Mapping literature landscape &amp; monitoring emerging preprints</a:t>
                      </a:r>
                    </a:p>
                  </a:txBody>
                  <a:tcPr marL="109728" marR="109728" marT="73152" marB="73152">
                    <a:solidFill>
                      <a:srgbClr val="F1F5F9"/>
                    </a:solidFill>
                  </a:tcPr>
                </a:tc>
                <a:tc>
                  <a:txBody>
                    <a:bodyPr/>
                    <a:lstStyle/>
                    <a:p>
                      <a:pPr algn="l">
                        <a:defRPr sz="1000">
                          <a:solidFill>
                            <a:srgbClr val="1E293B"/>
                          </a:solidFill>
                          <a:latin typeface="Segoe UI"/>
                        </a:defRPr>
                      </a:pPr>
                      <a:r>
                        <a:t>Interactive circular &amp; timeline citation maps, alerts</a:t>
                      </a:r>
                    </a:p>
                  </a:txBody>
                  <a:tcPr marL="109728" marR="109728" marT="73152" marB="73152">
                    <a:solidFill>
                      <a:srgbClr val="F1F5F9"/>
                    </a:solidFill>
                  </a:tcPr>
                </a:tc>
                <a:tc>
                  <a:txBody>
                    <a:bodyPr/>
                    <a:lstStyle/>
                    <a:p>
                      <a:pPr algn="l">
                        <a:defRPr sz="1000">
                          <a:solidFill>
                            <a:srgbClr val="1E293B"/>
                          </a:solidFill>
                          <a:latin typeface="Segoe UI"/>
                        </a:defRPr>
                      </a:pPr>
                      <a:r>
                        <a:t>Semantic Scholar, OpenAlex</a:t>
                      </a:r>
                    </a:p>
                  </a:txBody>
                  <a:tcPr marL="109728" marR="109728" marT="73152" marB="73152">
                    <a:solidFill>
                      <a:srgbClr val="F1F5F9"/>
                    </a:solidFill>
                  </a:tcPr>
                </a:tc>
              </a:tr>
              <a:tr h="496388">
                <a:tc>
                  <a:txBody>
                    <a:bodyPr/>
                    <a:lstStyle/>
                    <a:p>
                      <a:pPr algn="l">
                        <a:defRPr sz="1000" b="1">
                          <a:solidFill>
                            <a:srgbClr val="0F172A"/>
                          </a:solidFill>
                          <a:latin typeface="Segoe UI"/>
                        </a:defRPr>
                      </a:pPr>
                      <a:r>
                        <a:t>Elicit</a:t>
                      </a:r>
                    </a:p>
                  </a:txBody>
                  <a:tcPr marL="109728" marR="109728" marT="73152" marB="73152">
                    <a:solidFill>
                      <a:srgbClr val="FFFFFF"/>
                    </a:solidFill>
                  </a:tcPr>
                </a:tc>
                <a:tc>
                  <a:txBody>
                    <a:bodyPr/>
                    <a:lstStyle/>
                    <a:p>
                      <a:pPr algn="l">
                        <a:defRPr sz="1000">
                          <a:solidFill>
                            <a:srgbClr val="1E293B"/>
                          </a:solidFill>
                          <a:latin typeface="Segoe UI"/>
                        </a:defRPr>
                      </a:pPr>
                      <a:r>
                        <a:t>Automated research paper synthesis &amp; data extraction</a:t>
                      </a:r>
                    </a:p>
                  </a:txBody>
                  <a:tcPr marL="109728" marR="109728" marT="73152" marB="73152">
                    <a:solidFill>
                      <a:srgbClr val="FFFFFF"/>
                    </a:solidFill>
                  </a:tcPr>
                </a:tc>
                <a:tc>
                  <a:txBody>
                    <a:bodyPr/>
                    <a:lstStyle/>
                    <a:p>
                      <a:pPr algn="l">
                        <a:defRPr sz="1000">
                          <a:solidFill>
                            <a:srgbClr val="1E293B"/>
                          </a:solidFill>
                          <a:latin typeface="Segoe UI"/>
                        </a:defRPr>
                      </a:pPr>
                      <a:r>
                        <a:t>Systematic literature reviews &amp; matrix extraction of metrics</a:t>
                      </a:r>
                    </a:p>
                  </a:txBody>
                  <a:tcPr marL="109728" marR="109728" marT="73152" marB="73152">
                    <a:solidFill>
                      <a:srgbClr val="FFFFFF"/>
                    </a:solidFill>
                  </a:tcPr>
                </a:tc>
                <a:tc>
                  <a:txBody>
                    <a:bodyPr/>
                    <a:lstStyle/>
                    <a:p>
                      <a:pPr algn="l">
                        <a:defRPr sz="1000">
                          <a:solidFill>
                            <a:srgbClr val="1E293B"/>
                          </a:solidFill>
                          <a:latin typeface="Segoe UI"/>
                        </a:defRPr>
                      </a:pPr>
                      <a:r>
                        <a:t>Customizable summary tables, metric matrices, CSV</a:t>
                      </a:r>
                    </a:p>
                  </a:txBody>
                  <a:tcPr marL="109728" marR="109728" marT="73152" marB="73152">
                    <a:solidFill>
                      <a:srgbClr val="FFFFFF"/>
                    </a:solidFill>
                  </a:tcPr>
                </a:tc>
                <a:tc>
                  <a:txBody>
                    <a:bodyPr/>
                    <a:lstStyle/>
                    <a:p>
                      <a:pPr algn="l">
                        <a:defRPr sz="1000">
                          <a:solidFill>
                            <a:srgbClr val="1E293B"/>
                          </a:solidFill>
                          <a:latin typeface="Segoe UI"/>
                        </a:defRPr>
                      </a:pPr>
                      <a:r>
                        <a:t>Semantic Scholar (200M+ papers)</a:t>
                      </a:r>
                    </a:p>
                  </a:txBody>
                  <a:tcPr marL="109728" marR="109728" marT="73152" marB="73152">
                    <a:solidFill>
                      <a:srgbClr val="FFFFFF"/>
                    </a:solidFill>
                  </a:tcPr>
                </a:tc>
              </a:tr>
              <a:tr h="496388">
                <a:tc>
                  <a:txBody>
                    <a:bodyPr/>
                    <a:lstStyle/>
                    <a:p>
                      <a:pPr algn="l">
                        <a:defRPr sz="1000" b="1">
                          <a:solidFill>
                            <a:srgbClr val="0F172A"/>
                          </a:solidFill>
                          <a:latin typeface="Segoe UI"/>
                        </a:defRPr>
                      </a:pPr>
                      <a:r>
                        <a:t>Consensus</a:t>
                      </a:r>
                    </a:p>
                  </a:txBody>
                  <a:tcPr marL="109728" marR="109728" marT="73152" marB="73152">
                    <a:solidFill>
                      <a:srgbClr val="F1F5F9"/>
                    </a:solidFill>
                  </a:tcPr>
                </a:tc>
                <a:tc>
                  <a:txBody>
                    <a:bodyPr/>
                    <a:lstStyle/>
                    <a:p>
                      <a:pPr algn="l">
                        <a:defRPr sz="1000">
                          <a:solidFill>
                            <a:srgbClr val="1E293B"/>
                          </a:solidFill>
                          <a:latin typeface="Segoe UI"/>
                        </a:defRPr>
                      </a:pPr>
                      <a:r>
                        <a:t>AI search engine for scientific consensus</a:t>
                      </a:r>
                    </a:p>
                  </a:txBody>
                  <a:tcPr marL="109728" marR="109728" marT="73152" marB="73152">
                    <a:solidFill>
                      <a:srgbClr val="F1F5F9"/>
                    </a:solidFill>
                  </a:tcPr>
                </a:tc>
                <a:tc>
                  <a:txBody>
                    <a:bodyPr/>
                    <a:lstStyle/>
                    <a:p>
                      <a:pPr algn="l">
                        <a:defRPr sz="1000">
                          <a:solidFill>
                            <a:srgbClr val="1E293B"/>
                          </a:solidFill>
                          <a:latin typeface="Segoe UI"/>
                        </a:defRPr>
                      </a:pPr>
                      <a:r>
                        <a:t>Answering empirical yes/no questions backed by evidence</a:t>
                      </a:r>
                    </a:p>
                  </a:txBody>
                  <a:tcPr marL="109728" marR="109728" marT="73152" marB="73152">
                    <a:solidFill>
                      <a:srgbClr val="F1F5F9"/>
                    </a:solidFill>
                  </a:tcPr>
                </a:tc>
                <a:tc>
                  <a:txBody>
                    <a:bodyPr/>
                    <a:lstStyle/>
                    <a:p>
                      <a:pPr algn="l">
                        <a:defRPr sz="1000">
                          <a:solidFill>
                            <a:srgbClr val="1E293B"/>
                          </a:solidFill>
                          <a:latin typeface="Segoe UI"/>
                        </a:defRPr>
                      </a:pPr>
                      <a:r>
                        <a:t>Consensus Meter (Yes/No/Maybe), paper excerpts</a:t>
                      </a:r>
                    </a:p>
                  </a:txBody>
                  <a:tcPr marL="109728" marR="109728" marT="73152" marB="73152">
                    <a:solidFill>
                      <a:srgbClr val="F1F5F9"/>
                    </a:solidFill>
                  </a:tcPr>
                </a:tc>
                <a:tc>
                  <a:txBody>
                    <a:bodyPr/>
                    <a:lstStyle/>
                    <a:p>
                      <a:pPr algn="l">
                        <a:defRPr sz="1000">
                          <a:solidFill>
                            <a:srgbClr val="1E293B"/>
                          </a:solidFill>
                          <a:latin typeface="Segoe UI"/>
                        </a:defRPr>
                      </a:pPr>
                      <a:r>
                        <a:t>Semantic Scholar, PubMed</a:t>
                      </a:r>
                    </a:p>
                  </a:txBody>
                  <a:tcPr marL="109728" marR="109728" marT="73152" marB="73152">
                    <a:solidFill>
                      <a:srgbClr val="F1F5F9"/>
                    </a:solidFill>
                  </a:tcPr>
                </a:tc>
              </a:tr>
              <a:tr h="496388">
                <a:tc>
                  <a:txBody>
                    <a:bodyPr/>
                    <a:lstStyle/>
                    <a:p>
                      <a:pPr algn="l">
                        <a:defRPr sz="1000" b="1">
                          <a:solidFill>
                            <a:srgbClr val="0F172A"/>
                          </a:solidFill>
                          <a:latin typeface="Segoe UI"/>
                        </a:defRPr>
                      </a:pPr>
                      <a:r>
                        <a:t>Connected Papers</a:t>
                      </a:r>
                    </a:p>
                  </a:txBody>
                  <a:tcPr marL="109728" marR="109728" marT="73152" marB="73152">
                    <a:solidFill>
                      <a:srgbClr val="FFFFFF"/>
                    </a:solidFill>
                  </a:tcPr>
                </a:tc>
                <a:tc>
                  <a:txBody>
                    <a:bodyPr/>
                    <a:lstStyle/>
                    <a:p>
                      <a:pPr algn="l">
                        <a:defRPr sz="1000">
                          <a:solidFill>
                            <a:srgbClr val="1E293B"/>
                          </a:solidFill>
                          <a:latin typeface="Segoe UI"/>
                        </a:defRPr>
                      </a:pPr>
                      <a:r>
                        <a:t>Visual graph of most similar academic papers</a:t>
                      </a:r>
                    </a:p>
                  </a:txBody>
                  <a:tcPr marL="109728" marR="109728" marT="73152" marB="73152">
                    <a:solidFill>
                      <a:srgbClr val="FFFFFF"/>
                    </a:solidFill>
                  </a:tcPr>
                </a:tc>
                <a:tc>
                  <a:txBody>
                    <a:bodyPr/>
                    <a:lstStyle/>
                    <a:p>
                      <a:pPr algn="l">
                        <a:defRPr sz="1000">
                          <a:solidFill>
                            <a:srgbClr val="1E293B"/>
                          </a:solidFill>
                          <a:latin typeface="Segoe UI"/>
                        </a:defRPr>
                      </a:pPr>
                      <a:r>
                        <a:t>Quickly discovering co-cited papers and seminal prior art</a:t>
                      </a:r>
                    </a:p>
                  </a:txBody>
                  <a:tcPr marL="109728" marR="109728" marT="73152" marB="73152">
                    <a:solidFill>
                      <a:srgbClr val="FFFFFF"/>
                    </a:solidFill>
                  </a:tcPr>
                </a:tc>
                <a:tc>
                  <a:txBody>
                    <a:bodyPr/>
                    <a:lstStyle/>
                    <a:p>
                      <a:pPr algn="l">
                        <a:defRPr sz="1000">
                          <a:solidFill>
                            <a:srgbClr val="1E293B"/>
                          </a:solidFill>
                          <a:latin typeface="Segoe UI"/>
                        </a:defRPr>
                      </a:pPr>
                      <a:r>
                        <a:t>Force-directed similarity graphs, derivative works list</a:t>
                      </a:r>
                    </a:p>
                  </a:txBody>
                  <a:tcPr marL="109728" marR="109728" marT="73152" marB="73152">
                    <a:solidFill>
                      <a:srgbClr val="FFFFFF"/>
                    </a:solidFill>
                  </a:tcPr>
                </a:tc>
                <a:tc>
                  <a:txBody>
                    <a:bodyPr/>
                    <a:lstStyle/>
                    <a:p>
                      <a:pPr algn="l">
                        <a:defRPr sz="1000">
                          <a:solidFill>
                            <a:srgbClr val="1E293B"/>
                          </a:solidFill>
                          <a:latin typeface="Segoe UI"/>
                        </a:defRPr>
                      </a:pPr>
                      <a:r>
                        <a:t>Semantic Scholar, Crossref</a:t>
                      </a:r>
                    </a:p>
                  </a:txBody>
                  <a:tcPr marL="109728" marR="109728" marT="73152" marB="73152">
                    <a:solidFill>
                      <a:srgbClr val="FFFFFF"/>
                    </a:solidFill>
                  </a:tcPr>
                </a:tc>
              </a:tr>
              <a:tr h="496392">
                <a:tc>
                  <a:txBody>
                    <a:bodyPr/>
                    <a:lstStyle/>
                    <a:p>
                      <a:pPr algn="l">
                        <a:defRPr sz="1000" b="1">
                          <a:solidFill>
                            <a:srgbClr val="0F172A"/>
                          </a:solidFill>
                          <a:latin typeface="Segoe UI"/>
                        </a:defRPr>
                      </a:pPr>
                      <a:r>
                        <a:t>SciSpace</a:t>
                      </a:r>
                    </a:p>
                  </a:txBody>
                  <a:tcPr marL="109728" marR="109728" marT="73152" marB="73152">
                    <a:solidFill>
                      <a:srgbClr val="F1F5F9"/>
                    </a:solidFill>
                  </a:tcPr>
                </a:tc>
                <a:tc>
                  <a:txBody>
                    <a:bodyPr/>
                    <a:lstStyle/>
                    <a:p>
                      <a:pPr algn="l">
                        <a:defRPr sz="1000">
                          <a:solidFill>
                            <a:srgbClr val="1E293B"/>
                          </a:solidFill>
                          <a:latin typeface="Segoe UI"/>
                        </a:defRPr>
                      </a:pPr>
                      <a:r>
                        <a:t>Interactive paper reading &amp; multi-paper query co-pilot</a:t>
                      </a:r>
                    </a:p>
                  </a:txBody>
                  <a:tcPr marL="109728" marR="109728" marT="73152" marB="73152">
                    <a:solidFill>
                      <a:srgbClr val="F1F5F9"/>
                    </a:solidFill>
                  </a:tcPr>
                </a:tc>
                <a:tc>
                  <a:txBody>
                    <a:bodyPr/>
                    <a:lstStyle/>
                    <a:p>
                      <a:pPr algn="l">
                        <a:defRPr sz="1000">
                          <a:solidFill>
                            <a:srgbClr val="1E293B"/>
                          </a:solidFill>
                          <a:latin typeface="Segoe UI"/>
                        </a:defRPr>
                      </a:pPr>
                      <a:r>
                        <a:t>Deconstructing complex methodology sections &amp; equations</a:t>
                      </a:r>
                    </a:p>
                  </a:txBody>
                  <a:tcPr marL="109728" marR="109728" marT="73152" marB="73152">
                    <a:solidFill>
                      <a:srgbClr val="F1F5F9"/>
                    </a:solidFill>
                  </a:tcPr>
                </a:tc>
                <a:tc>
                  <a:txBody>
                    <a:bodyPr/>
                    <a:lstStyle/>
                    <a:p>
                      <a:pPr algn="l">
                        <a:defRPr sz="1000">
                          <a:solidFill>
                            <a:srgbClr val="1E293B"/>
                          </a:solidFill>
                          <a:latin typeface="Segoe UI"/>
                        </a:defRPr>
                      </a:pPr>
                      <a:r>
                        <a:t>In-line PDF chat, table comparisons, literature notes</a:t>
                      </a:r>
                    </a:p>
                  </a:txBody>
                  <a:tcPr marL="109728" marR="109728" marT="73152" marB="73152">
                    <a:solidFill>
                      <a:srgbClr val="F1F5F9"/>
                    </a:solidFill>
                  </a:tcPr>
                </a:tc>
                <a:tc>
                  <a:txBody>
                    <a:bodyPr/>
                    <a:lstStyle/>
                    <a:p>
                      <a:pPr algn="l">
                        <a:defRPr sz="1000">
                          <a:solidFill>
                            <a:srgbClr val="1E293B"/>
                          </a:solidFill>
                          <a:latin typeface="Segoe UI"/>
                        </a:defRPr>
                      </a:pPr>
                      <a:r>
                        <a:t>Global open-access repositories</a:t>
                      </a:r>
                    </a:p>
                  </a:txBody>
                  <a:tcPr marL="109728" marR="109728" marT="73152" marB="73152">
                    <a:solidFill>
                      <a:srgbClr val="F1F5F9"/>
                    </a:solidFill>
                  </a:tcPr>
                </a:tc>
              </a:tr>
            </a:tbl>
          </a:graphicData>
        </a:graphic>
      </p:graphicFrame>
      <p:sp>
        <p:nvSpPr>
          <p:cNvPr id="7" name="Rounded Rectangle 6"/>
          <p:cNvSpPr/>
          <p:nvPr/>
        </p:nvSpPr>
        <p:spPr>
          <a:xfrm>
            <a:off x="731520" y="5486400"/>
            <a:ext cx="10728655" cy="77724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486400"/>
            <a:ext cx="109728"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559552"/>
            <a:ext cx="10408615" cy="630936"/>
          </a:xfrm>
          <a:prstGeom prst="rect">
            <a:avLst/>
          </a:prstGeom>
          <a:noFill/>
        </p:spPr>
        <p:txBody>
          <a:bodyPr wrap="square" lIns="0" rIns="0" tIns="0" bIns="0">
            <a:spAutoFit/>
          </a:bodyPr>
          <a:lstStyle/>
          <a:p>
            <a:r>
              <a:rPr b="1" sz="1000">
                <a:solidFill>
                  <a:srgbClr val="0F172A"/>
                </a:solidFill>
              </a:rPr>
              <a:t>Essential Scholarly Principle: </a:t>
            </a:r>
            <a:r>
              <a:rPr b="0" sz="950">
                <a:solidFill>
                  <a:srgbClr val="1E293B"/>
                </a:solidFill>
              </a:rPr>
              <a:t>Complementary Role, Not Replacement: These AI discovery engines do not replace standard institutional databases (IEEE Xplore, Scopus, Web of Science, ACM Digital Library, PubMed). Instead, they act as rapid relational navigation layers on top of indexed scientific knowledge.</a:t>
            </a: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Data verified from official platform documentations (2025–2026)</a:t>
            </a:r>
          </a:p>
        </p:txBody>
      </p:sp>
      <p:sp>
        <p:nvSpPr>
          <p:cNvPr id="11" name="TextBox 10"/>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5 of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TOOL DEEP DIVE</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ResearchRabbit: Dynamic Literature &amp; Citation Mapping</a:t>
            </a:r>
          </a:p>
          <a:p>
            <a:pPr>
              <a:spcBef>
                <a:spcPts val="300"/>
              </a:spcBef>
              <a:defRPr sz="1150">
                <a:solidFill>
                  <a:srgbClr val="475569"/>
                </a:solidFill>
                <a:latin typeface="Segoe UI"/>
              </a:defRPr>
            </a:pPr>
            <a:r>
              <a:t>Exploring Spotify-like collections, author collaborations, and bi-directional citation graphing</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48640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RESEARCHRABBIT EXPLORATION CHAIN</a:t>
            </a:r>
          </a:p>
        </p:txBody>
      </p:sp>
      <p:sp>
        <p:nvSpPr>
          <p:cNvPr id="8" name="Rounded Rectangle 7"/>
          <p:cNvSpPr/>
          <p:nvPr/>
        </p:nvSpPr>
        <p:spPr>
          <a:xfrm>
            <a:off x="960120" y="2331720"/>
            <a:ext cx="502920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86584"/>
            <a:ext cx="4846320" cy="502920"/>
          </a:xfrm>
          <a:prstGeom prst="rect">
            <a:avLst/>
          </a:prstGeom>
          <a:noFill/>
        </p:spPr>
        <p:txBody>
          <a:bodyPr wrap="square" lIns="0" rIns="0" tIns="0" bIns="0">
            <a:spAutoFit/>
          </a:bodyPr>
          <a:lstStyle/>
          <a:p>
            <a:pPr>
              <a:defRPr b="1" sz="950">
                <a:solidFill>
                  <a:srgbClr val="2563EB"/>
                </a:solidFill>
              </a:defRPr>
            </a:pPr>
            <a:r>
              <a:t>1. Input Seed Paper</a:t>
            </a:r>
          </a:p>
          <a:p>
            <a:pPr>
              <a:defRPr sz="850">
                <a:solidFill>
                  <a:srgbClr val="1E293B"/>
                </a:solidFill>
              </a:defRPr>
            </a:pPr>
            <a:r>
              <a:t>Add 1–3 highly relevant peer-reviewed papers into an initial collection</a:t>
            </a:r>
          </a:p>
        </p:txBody>
      </p:sp>
      <p:sp>
        <p:nvSpPr>
          <p:cNvPr id="10" name="Rounded Rectangle 9"/>
          <p:cNvSpPr/>
          <p:nvPr/>
        </p:nvSpPr>
        <p:spPr>
          <a:xfrm>
            <a:off x="960120" y="2990088"/>
            <a:ext cx="502920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44952"/>
            <a:ext cx="4846320" cy="502920"/>
          </a:xfrm>
          <a:prstGeom prst="rect">
            <a:avLst/>
          </a:prstGeom>
          <a:noFill/>
        </p:spPr>
        <p:txBody>
          <a:bodyPr wrap="square" lIns="0" rIns="0" tIns="0" bIns="0">
            <a:spAutoFit/>
          </a:bodyPr>
          <a:lstStyle/>
          <a:p>
            <a:pPr>
              <a:defRPr b="1" sz="950">
                <a:solidFill>
                  <a:srgbClr val="0F172A"/>
                </a:solidFill>
              </a:defRPr>
            </a:pPr>
            <a:r>
              <a:t>2. Explore Similar Work</a:t>
            </a:r>
          </a:p>
          <a:p>
            <a:pPr>
              <a:defRPr sz="850">
                <a:solidFill>
                  <a:srgbClr val="1E293B"/>
                </a:solidFill>
              </a:defRPr>
            </a:pPr>
            <a:r>
              <a:t>Algorithm identifies co-citations and highly related literature automatically</a:t>
            </a:r>
          </a:p>
        </p:txBody>
      </p:sp>
      <p:sp>
        <p:nvSpPr>
          <p:cNvPr id="12" name="Rounded Rectangle 11"/>
          <p:cNvSpPr/>
          <p:nvPr/>
        </p:nvSpPr>
        <p:spPr>
          <a:xfrm>
            <a:off x="960120" y="3648456"/>
            <a:ext cx="502920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03320"/>
            <a:ext cx="4846320" cy="502920"/>
          </a:xfrm>
          <a:prstGeom prst="rect">
            <a:avLst/>
          </a:prstGeom>
          <a:noFill/>
        </p:spPr>
        <p:txBody>
          <a:bodyPr wrap="square" lIns="0" rIns="0" tIns="0" bIns="0">
            <a:spAutoFit/>
          </a:bodyPr>
          <a:lstStyle/>
          <a:p>
            <a:pPr>
              <a:defRPr b="1" sz="950">
                <a:solidFill>
                  <a:srgbClr val="2563EB"/>
                </a:solidFill>
              </a:defRPr>
            </a:pPr>
            <a:r>
              <a:t>3. Map Earlier &amp; Later Work</a:t>
            </a:r>
          </a:p>
          <a:p>
            <a:pPr>
              <a:defRPr sz="850">
                <a:solidFill>
                  <a:srgbClr val="1E293B"/>
                </a:solidFill>
              </a:defRPr>
            </a:pPr>
            <a:r>
              <a:t>Trace seminal roots (references) and follow downstream impact (citations)</a:t>
            </a:r>
          </a:p>
        </p:txBody>
      </p:sp>
      <p:sp>
        <p:nvSpPr>
          <p:cNvPr id="14" name="Rounded Rectangle 13"/>
          <p:cNvSpPr/>
          <p:nvPr/>
        </p:nvSpPr>
        <p:spPr>
          <a:xfrm>
            <a:off x="960120" y="4306824"/>
            <a:ext cx="502920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361688"/>
            <a:ext cx="4846320" cy="502920"/>
          </a:xfrm>
          <a:prstGeom prst="rect">
            <a:avLst/>
          </a:prstGeom>
          <a:noFill/>
        </p:spPr>
        <p:txBody>
          <a:bodyPr wrap="square" lIns="0" rIns="0" tIns="0" bIns="0">
            <a:spAutoFit/>
          </a:bodyPr>
          <a:lstStyle/>
          <a:p>
            <a:pPr>
              <a:defRPr b="1" sz="950">
                <a:solidFill>
                  <a:srgbClr val="0F172A"/>
                </a:solidFill>
              </a:defRPr>
            </a:pPr>
            <a:r>
              <a:t>4. Graph Author Collaborations</a:t>
            </a:r>
          </a:p>
          <a:p>
            <a:pPr>
              <a:defRPr sz="850">
                <a:solidFill>
                  <a:srgbClr val="1E293B"/>
                </a:solidFill>
              </a:defRPr>
            </a:pPr>
            <a:r>
              <a:t>Identify leading principal investigators, active labs, and prolific teams</a:t>
            </a:r>
          </a:p>
        </p:txBody>
      </p:sp>
      <p:sp>
        <p:nvSpPr>
          <p:cNvPr id="16" name="Rounded Rectangle 15"/>
          <p:cNvSpPr/>
          <p:nvPr/>
        </p:nvSpPr>
        <p:spPr>
          <a:xfrm>
            <a:off x="960120" y="4965192"/>
            <a:ext cx="5029200" cy="594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020056"/>
            <a:ext cx="4846320" cy="502920"/>
          </a:xfrm>
          <a:prstGeom prst="rect">
            <a:avLst/>
          </a:prstGeom>
          <a:noFill/>
        </p:spPr>
        <p:txBody>
          <a:bodyPr wrap="square" lIns="0" rIns="0" tIns="0" bIns="0">
            <a:spAutoFit/>
          </a:bodyPr>
          <a:lstStyle/>
          <a:p>
            <a:pPr>
              <a:defRPr b="1" sz="950">
                <a:solidFill>
                  <a:srgbClr val="059669"/>
                </a:solidFill>
              </a:defRPr>
            </a:pPr>
            <a:r>
              <a:t>5. Discover New Directions</a:t>
            </a:r>
          </a:p>
          <a:p>
            <a:pPr>
              <a:defRPr sz="850">
                <a:solidFill>
                  <a:srgbClr val="1E293B"/>
                </a:solidFill>
              </a:defRPr>
            </a:pPr>
            <a:r>
              <a:t>Receive weekly email digests as new preprints and papers enter the graph</a:t>
            </a:r>
          </a:p>
        </p:txBody>
      </p:sp>
      <p:sp>
        <p:nvSpPr>
          <p:cNvPr id="18" name="Rounded Rectangle 17"/>
          <p:cNvSpPr/>
          <p:nvPr/>
        </p:nvSpPr>
        <p:spPr>
          <a:xfrm>
            <a:off x="6492240" y="1828800"/>
            <a:ext cx="4967935"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720840" y="1965960"/>
            <a:ext cx="2926080" cy="2743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1E293B"/>
                </a:solidFill>
                <a:latin typeface="Segoe UI"/>
              </a:defRPr>
            </a:pPr>
            <a:r>
              <a:t>ENGINEERING CASE STUDY &amp; AUDIT</a:t>
            </a:r>
          </a:p>
        </p:txBody>
      </p:sp>
      <p:sp>
        <p:nvSpPr>
          <p:cNvPr id="20" name="TextBox 19"/>
          <p:cNvSpPr txBox="1"/>
          <p:nvPr/>
        </p:nvSpPr>
        <p:spPr>
          <a:xfrm>
            <a:off x="6720840" y="2331720"/>
            <a:ext cx="4510735" cy="3200400"/>
          </a:xfrm>
          <a:prstGeom prst="rect">
            <a:avLst/>
          </a:prstGeom>
          <a:noFill/>
        </p:spPr>
        <p:txBody>
          <a:bodyPr wrap="square">
            <a:spAutoFit/>
          </a:bodyPr>
          <a:lstStyle/>
          <a:p>
            <a:pPr>
              <a:defRPr b="1" sz="1050">
                <a:solidFill>
                  <a:srgbClr val="2563EB"/>
                </a:solidFill>
              </a:defRPr>
            </a:pPr>
            <a:r>
              <a:t>Case Study: Medical Image Classification</a:t>
            </a:r>
          </a:p>
          <a:p>
            <a:pPr>
              <a:spcBef>
                <a:spcPts val="200"/>
              </a:spcBef>
              <a:spcAft>
                <a:spcPts val="600"/>
              </a:spcAft>
              <a:defRPr sz="950">
                <a:solidFill>
                  <a:srgbClr val="1E293B"/>
                </a:solidFill>
              </a:defRPr>
            </a:pPr>
            <a:r>
              <a:t>A student begins with a single 2021 transformer benchmark paper. By expanding author networks and earlier works, ResearchRabbit reveals 18 seminal CNN baselines, 4 key open-source chest X-ray datasets, and 6 active research groups currently working on vision-language medical models.</a:t>
            </a:r>
          </a:p>
          <a:p>
            <a:pPr>
              <a:spcAft>
                <a:spcPts val="400"/>
              </a:spcAft>
            </a:pPr>
            <a:r>
              <a:rPr b="1" sz="950">
                <a:solidFill>
                  <a:srgbClr val="1E293B"/>
                </a:solidFill>
                <a:latin typeface="Segoe UI"/>
              </a:rPr>
              <a:t>•  Key Advantages: </a:t>
            </a:r>
            <a:r>
              <a:rPr b="0" sz="950">
                <a:solidFill>
                  <a:srgbClr val="1E293B"/>
                </a:solidFill>
                <a:latin typeface="Segoe UI"/>
              </a:rPr>
              <a:t>100% free for academics, unlimited paper collections, seamless Zotero library integration.</a:t>
            </a:r>
          </a:p>
          <a:p>
            <a:pPr>
              <a:spcAft>
                <a:spcPts val="400"/>
              </a:spcAft>
            </a:pPr>
            <a:r>
              <a:rPr b="1" sz="950">
                <a:solidFill>
                  <a:srgbClr val="1E293B"/>
                </a:solidFill>
                <a:latin typeface="Segoe UI"/>
              </a:rPr>
              <a:t>•  Notable Limitations: </a:t>
            </a:r>
            <a:r>
              <a:rPr b="0" sz="950">
                <a:solidFill>
                  <a:srgbClr val="1E293B"/>
                </a:solidFill>
                <a:latin typeface="Segoe UI"/>
              </a:rPr>
              <a:t>Does not perform full-text PDF parsing; heavily reliant on Crossref metadata completeness.</a:t>
            </a:r>
          </a:p>
          <a:p>
            <a:pPr>
              <a:spcAft>
                <a:spcPts val="400"/>
              </a:spcAft>
            </a:pPr>
            <a:r>
              <a:rPr b="1" sz="950">
                <a:solidFill>
                  <a:srgbClr val="1E293B"/>
                </a:solidFill>
                <a:latin typeface="Segoe UI"/>
              </a:rPr>
              <a:t>•  Best Application: </a:t>
            </a:r>
            <a:r>
              <a:rPr b="0" sz="950">
                <a:solidFill>
                  <a:srgbClr val="1E293B"/>
                </a:solidFill>
                <a:latin typeface="Segoe UI"/>
              </a:rPr>
              <a:t>Inception stage of Master's / Ph.D. dissertations and systematic literature reviews.</a:t>
            </a:r>
          </a:p>
        </p:txBody>
      </p:sp>
      <p:sp>
        <p:nvSpPr>
          <p:cNvPr id="21" name="Rounded Rectangle 20"/>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Pro Tip: </a:t>
            </a:r>
            <a:r>
              <a:rPr b="0" sz="950">
                <a:solidFill>
                  <a:srgbClr val="1E293B"/>
                </a:solidFill>
              </a:rPr>
              <a:t>Export your ResearchRabbit collection directly to .BIB or Zotero to immediately populate your LaTeX reference managers with clean DOIs.</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researchrabbitapp.com documentation</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6 of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TOOL DEEP DIVE</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Litmaps: Chronological Literature Mapping &amp; Monitoring</a:t>
            </a:r>
          </a:p>
          <a:p>
            <a:pPr>
              <a:spcBef>
                <a:spcPts val="300"/>
              </a:spcBef>
              <a:defRPr sz="1150">
                <a:solidFill>
                  <a:srgbClr val="475569"/>
                </a:solidFill>
                <a:latin typeface="Segoe UI"/>
              </a:defRPr>
            </a:pPr>
            <a:r>
              <a:t>Visualizing publication timelines, citation trajectories, and emerging research clusters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42900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965960"/>
            <a:ext cx="3154680" cy="32004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LITMAPS CORE ARCHITECTURE</a:t>
            </a:r>
          </a:p>
        </p:txBody>
      </p:sp>
      <p:sp>
        <p:nvSpPr>
          <p:cNvPr id="8" name="TextBox 7"/>
          <p:cNvSpPr txBox="1"/>
          <p:nvPr/>
        </p:nvSpPr>
        <p:spPr>
          <a:xfrm>
            <a:off x="868680" y="2377440"/>
            <a:ext cx="3154680" cy="3200400"/>
          </a:xfrm>
          <a:prstGeom prst="rect">
            <a:avLst/>
          </a:prstGeom>
          <a:noFill/>
        </p:spPr>
        <p:txBody>
          <a:bodyPr wrap="none">
            <a:spAutoFit/>
          </a:bodyPr>
          <a:lstStyle/>
          <a:p>
            <a:pPr>
              <a:spcAft>
                <a:spcPts val="500"/>
              </a:spcAft>
            </a:pPr>
            <a:r>
              <a:rPr b="1" sz="950">
                <a:solidFill>
                  <a:srgbClr val="1E293B"/>
                </a:solidFill>
                <a:latin typeface="Segoe UI"/>
              </a:rPr>
              <a:t>•  Seed Paper Anchors: </a:t>
            </a:r>
            <a:r>
              <a:rPr b="0" sz="950">
                <a:solidFill>
                  <a:srgbClr val="1E293B"/>
                </a:solidFill>
                <a:latin typeface="Segoe UI"/>
              </a:rPr>
              <a:t>Anchor your map around 1–5 foundational milestone papers.</a:t>
            </a:r>
          </a:p>
          <a:p>
            <a:pPr>
              <a:spcAft>
                <a:spcPts val="500"/>
              </a:spcAft>
            </a:pPr>
            <a:r>
              <a:rPr b="1" sz="950">
                <a:solidFill>
                  <a:srgbClr val="1E293B"/>
                </a:solidFill>
                <a:latin typeface="Segoe UI"/>
              </a:rPr>
              <a:t>•  Citation Graph Visualization: </a:t>
            </a:r>
            <a:r>
              <a:rPr b="0" sz="950">
                <a:solidFill>
                  <a:srgbClr val="1E293B"/>
                </a:solidFill>
                <a:latin typeface="Segoe UI"/>
              </a:rPr>
              <a:t>Displays papers along an X-axis (Publication Year) and Y-axis (Citation Count).</a:t>
            </a:r>
          </a:p>
          <a:p>
            <a:pPr>
              <a:spcAft>
                <a:spcPts val="500"/>
              </a:spcAft>
            </a:pPr>
            <a:r>
              <a:rPr b="1" sz="950">
                <a:solidFill>
                  <a:srgbClr val="1E293B"/>
                </a:solidFill>
                <a:latin typeface="Segoe UI"/>
              </a:rPr>
              <a:t>•  Clustering: </a:t>
            </a:r>
            <a:r>
              <a:rPr b="0" sz="950">
                <a:solidFill>
                  <a:srgbClr val="1E293B"/>
                </a:solidFill>
                <a:latin typeface="Segoe UI"/>
              </a:rPr>
              <a:t>Nodes with high connecting edges reveal 'nexus papers' bridging disparate subdisciplines.</a:t>
            </a:r>
          </a:p>
          <a:p>
            <a:pPr>
              <a:spcAft>
                <a:spcPts val="500"/>
              </a:spcAft>
            </a:pPr>
            <a:r>
              <a:rPr b="1" sz="950">
                <a:solidFill>
                  <a:srgbClr val="1E293B"/>
                </a:solidFill>
                <a:latin typeface="Segoe UI"/>
              </a:rPr>
              <a:t>•  Automated Literature Monitor: </a:t>
            </a:r>
            <a:r>
              <a:rPr b="0" sz="950">
                <a:solidFill>
                  <a:srgbClr val="1E293B"/>
                </a:solidFill>
                <a:latin typeface="Segoe UI"/>
              </a:rPr>
              <a:t>Background alerts notify you whenever a paper in your map receives a new citation.</a:t>
            </a:r>
          </a:p>
        </p:txBody>
      </p:sp>
      <p:sp>
        <p:nvSpPr>
          <p:cNvPr id="9" name="Rounded Rectangle 8"/>
          <p:cNvSpPr/>
          <p:nvPr/>
        </p:nvSpPr>
        <p:spPr>
          <a:xfrm>
            <a:off x="4379976" y="1828800"/>
            <a:ext cx="342900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17136" y="1965960"/>
            <a:ext cx="3154680" cy="32004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WHEN SHOULD I USE LITMAPS?</a:t>
            </a:r>
          </a:p>
        </p:txBody>
      </p:sp>
      <p:sp>
        <p:nvSpPr>
          <p:cNvPr id="11" name="TextBox 10"/>
          <p:cNvSpPr txBox="1"/>
          <p:nvPr/>
        </p:nvSpPr>
        <p:spPr>
          <a:xfrm>
            <a:off x="4517136" y="2377440"/>
            <a:ext cx="3154680" cy="3200400"/>
          </a:xfrm>
          <a:prstGeom prst="rect">
            <a:avLst/>
          </a:prstGeom>
          <a:noFill/>
        </p:spPr>
        <p:txBody>
          <a:bodyPr wrap="none">
            <a:spAutoFit/>
          </a:bodyPr>
          <a:lstStyle/>
          <a:p>
            <a:pPr>
              <a:spcAft>
                <a:spcPts val="500"/>
              </a:spcAft>
            </a:pPr>
            <a:r>
              <a:rPr b="1" sz="950">
                <a:solidFill>
                  <a:srgbClr val="1E293B"/>
                </a:solidFill>
                <a:latin typeface="Segoe UI"/>
              </a:rPr>
              <a:t>•  Topic Orientation: </a:t>
            </a:r>
            <a:r>
              <a:rPr b="0" sz="950">
                <a:solidFill>
                  <a:srgbClr val="1E293B"/>
                </a:solidFill>
                <a:latin typeface="Segoe UI"/>
              </a:rPr>
              <a:t>When starting a completely new engineering subject and needing a quick timeline of breakthroughs.</a:t>
            </a:r>
          </a:p>
          <a:p>
            <a:pPr>
              <a:spcAft>
                <a:spcPts val="500"/>
              </a:spcAft>
            </a:pPr>
            <a:r>
              <a:rPr b="1" sz="950">
                <a:solidFill>
                  <a:srgbClr val="1E293B"/>
                </a:solidFill>
                <a:latin typeface="Segoe UI"/>
              </a:rPr>
              <a:t>•  Visualizing Evolution: </a:t>
            </a:r>
            <a:r>
              <a:rPr b="0" sz="950">
                <a:solidFill>
                  <a:srgbClr val="1E293B"/>
                </a:solidFill>
                <a:latin typeface="Segoe UI"/>
              </a:rPr>
              <a:t>Demonstrating how an algorithm (e.g., YOLO v1 → v11) evolved chronologically for thesis defense.</a:t>
            </a:r>
          </a:p>
          <a:p>
            <a:pPr>
              <a:spcAft>
                <a:spcPts val="500"/>
              </a:spcAft>
            </a:pPr>
            <a:r>
              <a:rPr b="1" sz="950">
                <a:solidFill>
                  <a:srgbClr val="1E293B"/>
                </a:solidFill>
                <a:latin typeface="Segoe UI"/>
              </a:rPr>
              <a:t>•  Identifying Outliers: </a:t>
            </a:r>
            <a:r>
              <a:rPr b="0" sz="950">
                <a:solidFill>
                  <a:srgbClr val="1E293B"/>
                </a:solidFill>
                <a:latin typeface="Segoe UI"/>
              </a:rPr>
              <a:t>Discovering recently published high-velocity preprints that have not yet accumulated legacy citations.</a:t>
            </a:r>
          </a:p>
          <a:p>
            <a:pPr>
              <a:spcAft>
                <a:spcPts val="500"/>
              </a:spcAft>
            </a:pPr>
            <a:r>
              <a:rPr b="1" sz="950">
                <a:solidFill>
                  <a:srgbClr val="1E293B"/>
                </a:solidFill>
                <a:latin typeface="Segoe UI"/>
              </a:rPr>
              <a:t>•  Grant Defense: </a:t>
            </a:r>
            <a:r>
              <a:rPr b="0" sz="950">
                <a:solidFill>
                  <a:srgbClr val="1E293B"/>
                </a:solidFill>
                <a:latin typeface="Segoe UI"/>
              </a:rPr>
              <a:t>Providing funding reviewers with an objective visual map of the current state-of-the-art.</a:t>
            </a:r>
          </a:p>
        </p:txBody>
      </p:sp>
      <p:sp>
        <p:nvSpPr>
          <p:cNvPr id="12" name="Rounded Rectangle 11"/>
          <p:cNvSpPr/>
          <p:nvPr/>
        </p:nvSpPr>
        <p:spPr>
          <a:xfrm>
            <a:off x="8028432" y="1828800"/>
            <a:ext cx="3429000" cy="38404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65592" y="1965960"/>
            <a:ext cx="3154680" cy="32004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D9488"/>
                </a:solidFill>
                <a:latin typeface="Segoe UI"/>
              </a:defRPr>
            </a:pPr>
            <a:r>
              <a:t>KEY CAPABILITIES &amp; WORKFLOW</a:t>
            </a:r>
          </a:p>
        </p:txBody>
      </p:sp>
      <p:sp>
        <p:nvSpPr>
          <p:cNvPr id="14" name="TextBox 13"/>
          <p:cNvSpPr txBox="1"/>
          <p:nvPr/>
        </p:nvSpPr>
        <p:spPr>
          <a:xfrm>
            <a:off x="8165592" y="2377440"/>
            <a:ext cx="3154680" cy="3200400"/>
          </a:xfrm>
          <a:prstGeom prst="rect">
            <a:avLst/>
          </a:prstGeom>
          <a:noFill/>
        </p:spPr>
        <p:txBody>
          <a:bodyPr wrap="none">
            <a:spAutoFit/>
          </a:bodyPr>
          <a:lstStyle/>
          <a:p>
            <a:pPr>
              <a:spcAft>
                <a:spcPts val="500"/>
              </a:spcAft>
            </a:pPr>
            <a:r>
              <a:rPr b="1" sz="950">
                <a:solidFill>
                  <a:srgbClr val="1E293B"/>
                </a:solidFill>
                <a:latin typeface="Segoe UI"/>
              </a:rPr>
              <a:t>•  Interactive Discovery Mode: </a:t>
            </a:r>
            <a:r>
              <a:rPr b="0" sz="950">
                <a:solidFill>
                  <a:srgbClr val="1E293B"/>
                </a:solidFill>
                <a:latin typeface="Segoe UI"/>
              </a:rPr>
              <a:t>Expand maps outward with 1-click citation traversal.</a:t>
            </a:r>
          </a:p>
          <a:p>
            <a:pPr>
              <a:spcAft>
                <a:spcPts val="500"/>
              </a:spcAft>
            </a:pPr>
            <a:r>
              <a:rPr b="1" sz="950">
                <a:solidFill>
                  <a:srgbClr val="1E293B"/>
                </a:solidFill>
                <a:latin typeface="Segoe UI"/>
              </a:rPr>
              <a:t>•  Filter by Venue &amp; Author: </a:t>
            </a:r>
            <a:r>
              <a:rPr b="0" sz="950">
                <a:solidFill>
                  <a:srgbClr val="1E293B"/>
                </a:solidFill>
                <a:latin typeface="Segoe UI"/>
              </a:rPr>
              <a:t>Narrow maps to prestigious conferences (CVPR, NeurIPS, IEEE Trans).</a:t>
            </a:r>
          </a:p>
          <a:p>
            <a:pPr>
              <a:spcAft>
                <a:spcPts val="500"/>
              </a:spcAft>
            </a:pPr>
            <a:r>
              <a:rPr b="1" sz="950">
                <a:solidFill>
                  <a:srgbClr val="1E293B"/>
                </a:solidFill>
                <a:latin typeface="Segoe UI"/>
              </a:rPr>
              <a:t>•  Export Publication-Quality SVGs: </a:t>
            </a:r>
            <a:r>
              <a:rPr b="0" sz="950">
                <a:solidFill>
                  <a:srgbClr val="1E293B"/>
                </a:solidFill>
                <a:latin typeface="Segoe UI"/>
              </a:rPr>
              <a:t>Insert high-res vector citation graphs directly into survey papers.</a:t>
            </a:r>
          </a:p>
          <a:p>
            <a:pPr>
              <a:spcAft>
                <a:spcPts val="500"/>
              </a:spcAft>
            </a:pPr>
            <a:r>
              <a:rPr b="1" sz="950">
                <a:solidFill>
                  <a:srgbClr val="1E293B"/>
                </a:solidFill>
                <a:latin typeface="Segoe UI"/>
              </a:rPr>
              <a:t>•  Cross-Platform Sync: </a:t>
            </a:r>
            <a:r>
              <a:rPr b="0" sz="950">
                <a:solidFill>
                  <a:srgbClr val="1E293B"/>
                </a:solidFill>
                <a:latin typeface="Segoe UI"/>
              </a:rPr>
              <a:t>Import and synchronize reading lists directly from Mendeley and Zotero.</a:t>
            </a:r>
          </a:p>
        </p:txBody>
      </p:sp>
      <p:sp>
        <p:nvSpPr>
          <p:cNvPr id="15" name="Rounded Rectangle 14"/>
          <p:cNvSpPr/>
          <p:nvPr/>
        </p:nvSpPr>
        <p:spPr>
          <a:xfrm>
            <a:off x="731520" y="5806440"/>
            <a:ext cx="10728655" cy="5029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Visual Timeline Rule: </a:t>
            </a:r>
            <a:r>
              <a:rPr b="0" sz="950">
                <a:solidFill>
                  <a:srgbClr val="1E293B"/>
                </a:solidFill>
              </a:rPr>
              <a:t>When defending a thesis, a chronological citation map immediately proves to evaluators that you have thoroughly investigated both historic foundations and contemporary advances.</a:t>
            </a: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litmaps.com platform capabilities</a:t>
            </a:r>
          </a:p>
        </p:txBody>
      </p:sp>
      <p:sp>
        <p:nvSpPr>
          <p:cNvPr id="19" name="TextBox 18"/>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7 of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2: PAPER READING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AI Tools for Deep Academic Paper Reading</a:t>
            </a:r>
          </a:p>
          <a:p>
            <a:pPr>
              <a:spcBef>
                <a:spcPts val="300"/>
              </a:spcBef>
              <a:defRPr sz="1150">
                <a:solidFill>
                  <a:srgbClr val="475569"/>
                </a:solidFill>
                <a:latin typeface="Segoe UI"/>
              </a:defRPr>
            </a:pPr>
            <a:r>
              <a:t>Overcoming cognitive fatigue, mathematical opacity, and complex methodology sections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97706"/>
                </a:solidFill>
                <a:latin typeface="Segoe UI"/>
              </a:defRPr>
            </a:pPr>
            <a:r>
              <a:t>COGNITIVE READING BARRIERS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Dense Mathematical Formulations: </a:t>
            </a:r>
            <a:r>
              <a:rPr b="0" sz="1000">
                <a:solidFill>
                  <a:srgbClr val="1E293B"/>
                </a:solidFill>
                <a:latin typeface="Segoe UI"/>
              </a:rPr>
              <a:t>Multi-index proofs, matrix calculus, and implicit notations without step-by-step intermediate derivations.</a:t>
            </a:r>
          </a:p>
          <a:p>
            <a:pPr>
              <a:spcAft>
                <a:spcPts val="450"/>
              </a:spcAft>
            </a:pPr>
            <a:r>
              <a:rPr b="1" sz="1000">
                <a:solidFill>
                  <a:srgbClr val="1E293B"/>
                </a:solidFill>
                <a:latin typeface="Segoe UI"/>
              </a:rPr>
              <a:t>•  Opaque Methodology Sections: </a:t>
            </a:r>
            <a:r>
              <a:rPr b="0" sz="1000">
                <a:solidFill>
                  <a:srgbClr val="1E293B"/>
                </a:solidFill>
                <a:latin typeface="Segoe UI"/>
              </a:rPr>
              <a:t>Vague hardware parameters, missing hyperparameters, or incomplete dataset cleaning descriptions.</a:t>
            </a:r>
          </a:p>
          <a:p>
            <a:pPr>
              <a:spcAft>
                <a:spcPts val="450"/>
              </a:spcAft>
            </a:pPr>
            <a:r>
              <a:rPr b="1" sz="1000">
                <a:solidFill>
                  <a:srgbClr val="1E293B"/>
                </a:solidFill>
                <a:latin typeface="Segoe UI"/>
              </a:rPr>
              <a:t>•  Information Scarcity in Results: </a:t>
            </a:r>
            <a:r>
              <a:rPr b="0" sz="1000">
                <a:solidFill>
                  <a:srgbClr val="1E293B"/>
                </a:solidFill>
                <a:latin typeface="Segoe UI"/>
              </a:rPr>
              <a:t>Tables containing dozens of baseline comparisons without highlighting statistical significance.</a:t>
            </a:r>
          </a:p>
          <a:p>
            <a:pPr>
              <a:spcAft>
                <a:spcPts val="450"/>
              </a:spcAft>
            </a:pPr>
            <a:r>
              <a:rPr b="1" sz="1000">
                <a:solidFill>
                  <a:srgbClr val="1E293B"/>
                </a:solidFill>
                <a:latin typeface="Segoe UI"/>
              </a:rPr>
              <a:t>•  Cross-Paper Contradictions: </a:t>
            </a:r>
            <a:r>
              <a:rPr b="0" sz="1000">
                <a:solidFill>
                  <a:srgbClr val="1E293B"/>
                </a:solidFill>
                <a:latin typeface="Segoe UI"/>
              </a:rPr>
              <a:t>Differing definitions of benchmark accuracy across competing research labs.</a:t>
            </a:r>
          </a:p>
          <a:p>
            <a:pPr>
              <a:spcAft>
                <a:spcPts val="450"/>
              </a:spcAft>
            </a:pPr>
            <a:r>
              <a:rPr b="1" sz="1000">
                <a:solidFill>
                  <a:srgbClr val="1E293B"/>
                </a:solidFill>
                <a:latin typeface="Segoe UI"/>
              </a:rPr>
              <a:t>•  Severe Multi-Paper Fatigue: </a:t>
            </a:r>
            <a:r>
              <a:rPr b="0" sz="1000">
                <a:solidFill>
                  <a:srgbClr val="1E293B"/>
                </a:solidFill>
                <a:latin typeface="Segoe UI"/>
              </a:rPr>
              <a:t>Retaining critical findings across 40 papers while drafting the literature review chapter.</a:t>
            </a:r>
          </a:p>
        </p:txBody>
      </p:sp>
      <p:sp>
        <p:nvSpPr>
          <p:cNvPr id="9" name="Rounded Rectangle 8"/>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6-STEP AI READING PIPELINE</a:t>
            </a:r>
          </a:p>
        </p:txBody>
      </p:sp>
      <p:sp>
        <p:nvSpPr>
          <p:cNvPr id="11" name="Rounded Rectangle 10"/>
          <p:cNvSpPr/>
          <p:nvPr/>
        </p:nvSpPr>
        <p:spPr>
          <a:xfrm>
            <a:off x="6537960" y="2331720"/>
            <a:ext cx="4663440" cy="48463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68296"/>
            <a:ext cx="4480560" cy="411480"/>
          </a:xfrm>
          <a:prstGeom prst="rect">
            <a:avLst/>
          </a:prstGeom>
          <a:noFill/>
        </p:spPr>
        <p:txBody>
          <a:bodyPr wrap="square" lIns="0" rIns="0" tIns="0" bIns="0">
            <a:spAutoFit/>
          </a:bodyPr>
          <a:lstStyle/>
          <a:p>
            <a:pPr>
              <a:defRPr b="1" sz="900">
                <a:solidFill>
                  <a:srgbClr val="2563EB"/>
                </a:solidFill>
              </a:defRPr>
            </a:pPr>
            <a:r>
              <a:t>1. UPLOAD FULL-TEXT PDF: </a:t>
            </a:r>
            <a:r>
              <a:rPr b="0" sz="850">
                <a:solidFill>
                  <a:srgbClr val="1E293B"/>
                </a:solidFill>
              </a:rPr>
              <a:t>Upload verified paper to grounded workspace (NotebookLM, SciSpace)</a:t>
            </a:r>
          </a:p>
        </p:txBody>
      </p:sp>
      <p:sp>
        <p:nvSpPr>
          <p:cNvPr id="13" name="Rounded Rectangle 12"/>
          <p:cNvSpPr/>
          <p:nvPr/>
        </p:nvSpPr>
        <p:spPr>
          <a:xfrm>
            <a:off x="6537960" y="2862072"/>
            <a:ext cx="4663440" cy="48463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2898648"/>
            <a:ext cx="4480560" cy="411480"/>
          </a:xfrm>
          <a:prstGeom prst="rect">
            <a:avLst/>
          </a:prstGeom>
          <a:noFill/>
        </p:spPr>
        <p:txBody>
          <a:bodyPr wrap="square" lIns="0" rIns="0" tIns="0" bIns="0">
            <a:spAutoFit/>
          </a:bodyPr>
          <a:lstStyle/>
          <a:p>
            <a:pPr>
              <a:defRPr b="1" sz="900">
                <a:solidFill>
                  <a:srgbClr val="0F172A"/>
                </a:solidFill>
              </a:defRPr>
            </a:pPr>
            <a:r>
              <a:t>2. TARGETED QUERYING: </a:t>
            </a:r>
            <a:r>
              <a:rPr b="0" sz="850">
                <a:solidFill>
                  <a:srgbClr val="1E293B"/>
                </a:solidFill>
              </a:rPr>
              <a:t>Ask specific questions on methodology, datasets, and loss functions</a:t>
            </a:r>
          </a:p>
        </p:txBody>
      </p:sp>
      <p:sp>
        <p:nvSpPr>
          <p:cNvPr id="15" name="Rounded Rectangle 14"/>
          <p:cNvSpPr/>
          <p:nvPr/>
        </p:nvSpPr>
        <p:spPr>
          <a:xfrm>
            <a:off x="6537960" y="3392424"/>
            <a:ext cx="4663440" cy="48463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429000"/>
            <a:ext cx="4480560" cy="411480"/>
          </a:xfrm>
          <a:prstGeom prst="rect">
            <a:avLst/>
          </a:prstGeom>
          <a:noFill/>
        </p:spPr>
        <p:txBody>
          <a:bodyPr wrap="square" lIns="0" rIns="0" tIns="0" bIns="0">
            <a:spAutoFit/>
          </a:bodyPr>
          <a:lstStyle/>
          <a:p>
            <a:pPr>
              <a:defRPr b="1" sz="900">
                <a:solidFill>
                  <a:srgbClr val="2563EB"/>
                </a:solidFill>
              </a:defRPr>
            </a:pPr>
            <a:r>
              <a:t>3. EVIDENCE EXTRACTION: </a:t>
            </a:r>
            <a:r>
              <a:rPr b="0" sz="850">
                <a:solidFill>
                  <a:srgbClr val="1E293B"/>
                </a:solidFill>
              </a:rPr>
              <a:t>Extract quantitative tables, baseline metrics, and hardware setups</a:t>
            </a:r>
          </a:p>
        </p:txBody>
      </p:sp>
      <p:sp>
        <p:nvSpPr>
          <p:cNvPr id="17" name="Rounded Rectangle 16"/>
          <p:cNvSpPr/>
          <p:nvPr/>
        </p:nvSpPr>
        <p:spPr>
          <a:xfrm>
            <a:off x="6537960" y="3922776"/>
            <a:ext cx="4663440" cy="48463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3959352"/>
            <a:ext cx="4480560" cy="411480"/>
          </a:xfrm>
          <a:prstGeom prst="rect">
            <a:avLst/>
          </a:prstGeom>
          <a:noFill/>
        </p:spPr>
        <p:txBody>
          <a:bodyPr wrap="square" lIns="0" rIns="0" tIns="0" bIns="0">
            <a:spAutoFit/>
          </a:bodyPr>
          <a:lstStyle/>
          <a:p>
            <a:pPr>
              <a:defRPr b="1" sz="900">
                <a:solidFill>
                  <a:srgbClr val="0F172A"/>
                </a:solidFill>
              </a:defRPr>
            </a:pPr>
            <a:r>
              <a:t>4. MULTI-PAPER SYNTHESIS: </a:t>
            </a:r>
            <a:r>
              <a:rPr b="0" sz="850">
                <a:solidFill>
                  <a:srgbClr val="1E293B"/>
                </a:solidFill>
              </a:rPr>
              <a:t>Compare findings across multiple uploaded PDFs side-by-side</a:t>
            </a:r>
          </a:p>
        </p:txBody>
      </p:sp>
      <p:sp>
        <p:nvSpPr>
          <p:cNvPr id="19" name="Rounded Rectangle 18"/>
          <p:cNvSpPr/>
          <p:nvPr/>
        </p:nvSpPr>
        <p:spPr>
          <a:xfrm>
            <a:off x="6537960" y="4453128"/>
            <a:ext cx="4663440" cy="4846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489704"/>
            <a:ext cx="4480560" cy="411480"/>
          </a:xfrm>
          <a:prstGeom prst="rect">
            <a:avLst/>
          </a:prstGeom>
          <a:noFill/>
        </p:spPr>
        <p:txBody>
          <a:bodyPr wrap="square" lIns="0" rIns="0" tIns="0" bIns="0">
            <a:spAutoFit/>
          </a:bodyPr>
          <a:lstStyle/>
          <a:p>
            <a:pPr>
              <a:defRPr b="1" sz="900">
                <a:solidFill>
                  <a:srgbClr val="059669"/>
                </a:solidFill>
              </a:defRPr>
            </a:pPr>
            <a:r>
              <a:t>5. STRUCTURED NOTE MAKING: </a:t>
            </a:r>
            <a:r>
              <a:rPr b="0" sz="850">
                <a:solidFill>
                  <a:srgbClr val="1E293B"/>
                </a:solidFill>
              </a:rPr>
              <a:t>Populate systematic literature template with exact quotes &amp; citations</a:t>
            </a:r>
          </a:p>
        </p:txBody>
      </p:sp>
      <p:sp>
        <p:nvSpPr>
          <p:cNvPr id="21" name="Rounded Rectangle 20"/>
          <p:cNvSpPr/>
          <p:nvPr/>
        </p:nvSpPr>
        <p:spPr>
          <a:xfrm>
            <a:off x="6537960" y="4983480"/>
            <a:ext cx="4663440" cy="48463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020056"/>
            <a:ext cx="4480560" cy="411480"/>
          </a:xfrm>
          <a:prstGeom prst="rect">
            <a:avLst/>
          </a:prstGeom>
          <a:noFill/>
        </p:spPr>
        <p:txBody>
          <a:bodyPr wrap="square" lIns="0" rIns="0" tIns="0" bIns="0">
            <a:spAutoFit/>
          </a:bodyPr>
          <a:lstStyle/>
          <a:p>
            <a:pPr>
              <a:defRPr b="1" sz="900">
                <a:solidFill>
                  <a:srgbClr val="D97706"/>
                </a:solidFill>
              </a:defRPr>
            </a:pPr>
            <a:r>
              <a:t>6. SOURCE VERIFICATION: </a:t>
            </a:r>
            <a:r>
              <a:rPr b="0" sz="850">
                <a:solidFill>
                  <a:srgbClr val="1E293B"/>
                </a:solidFill>
              </a:rPr>
              <a:t>Click inline citations to audit claims against original PDF pages</a:t>
            </a:r>
          </a:p>
        </p:txBody>
      </p:sp>
      <p:sp>
        <p:nvSpPr>
          <p:cNvPr id="23" name="Rounded Rectangle 22"/>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Golden Research Rule: </a:t>
            </a:r>
            <a:r>
              <a:rPr b="0" sz="950">
                <a:solidFill>
                  <a:srgbClr val="1E293B"/>
                </a:solidFill>
              </a:rPr>
              <a:t>Never cite a paper based solely on an AI summary. Always verify that the extracted claim genuinely exists in the original published PDF.</a:t>
            </a:r>
          </a:p>
        </p:txBody>
      </p:sp>
      <p:sp>
        <p:nvSpPr>
          <p:cNvPr id="26" name="TextBox 25"/>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Methodology: Systematic Literature Reviews in Engineering</a:t>
            </a:r>
          </a:p>
        </p:txBody>
      </p:sp>
      <p:sp>
        <p:nvSpPr>
          <p:cNvPr id="27" name="TextBox 26"/>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8 of 33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TOOL DEEP DIVE</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NotebookLM &amp; Gemini: Source-Grounded Paper Synthesis</a:t>
            </a:r>
          </a:p>
          <a:p>
            <a:pPr>
              <a:spcBef>
                <a:spcPts val="300"/>
              </a:spcBef>
              <a:defRPr sz="1150">
                <a:solidFill>
                  <a:srgbClr val="475569"/>
                </a:solidFill>
                <a:latin typeface="Segoe UI"/>
              </a:defRPr>
            </a:pPr>
            <a:r>
              <a:t>Eliminating hallucinations through source-grounded Retrieval-Augmented Generation (RAG)</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GROUNDED NOTEBOOK ARCHITECTURE</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Closed-World Grounding: </a:t>
            </a:r>
            <a:r>
              <a:rPr b="0" sz="1000">
                <a:solidFill>
                  <a:srgbClr val="1E293B"/>
                </a:solidFill>
                <a:latin typeface="Segoe UI"/>
              </a:rPr>
              <a:t>Operates strictly on user-uploaded research papers, lecture notes, and lab PDFs—preventing hallucination of external facts.</a:t>
            </a:r>
          </a:p>
          <a:p>
            <a:pPr>
              <a:spcAft>
                <a:spcPts val="450"/>
              </a:spcAft>
            </a:pPr>
            <a:r>
              <a:rPr b="1" sz="1000">
                <a:solidFill>
                  <a:srgbClr val="1E293B"/>
                </a:solidFill>
                <a:latin typeface="Segoe UI"/>
              </a:rPr>
              <a:t>•  Inline Page Citations: </a:t>
            </a:r>
            <a:r>
              <a:rPr b="0" sz="1000">
                <a:solidFill>
                  <a:srgbClr val="1E293B"/>
                </a:solidFill>
                <a:latin typeface="Segoe UI"/>
              </a:rPr>
              <a:t>Every generated answer includes clickable numerical citations linked directly to the exact page and paragraph in the PDF.</a:t>
            </a:r>
          </a:p>
          <a:p>
            <a:pPr>
              <a:spcAft>
                <a:spcPts val="450"/>
              </a:spcAft>
            </a:pPr>
            <a:r>
              <a:rPr b="1" sz="1000">
                <a:solidFill>
                  <a:srgbClr val="1E293B"/>
                </a:solidFill>
                <a:latin typeface="Segoe UI"/>
              </a:rPr>
              <a:t>•  Cross-Source Comparison: </a:t>
            </a:r>
            <a:r>
              <a:rPr b="0" sz="1000">
                <a:solidFill>
                  <a:srgbClr val="1E293B"/>
                </a:solidFill>
                <a:latin typeface="Segoe UI"/>
              </a:rPr>
              <a:t>Query up to 50 sources simultaneously (e.g., 'Compare the learning rates and optimizers used across Papers A, B, and C').</a:t>
            </a:r>
          </a:p>
          <a:p>
            <a:pPr>
              <a:spcAft>
                <a:spcPts val="450"/>
              </a:spcAft>
            </a:pPr>
            <a:r>
              <a:rPr b="1" sz="1000">
                <a:solidFill>
                  <a:srgbClr val="1E293B"/>
                </a:solidFill>
                <a:latin typeface="Segoe UI"/>
              </a:rPr>
              <a:t>•  Multi-Modal Document Synthesis: </a:t>
            </a:r>
            <a:r>
              <a:rPr b="0" sz="1000">
                <a:solidFill>
                  <a:srgbClr val="1E293B"/>
                </a:solidFill>
                <a:latin typeface="Segoe UI"/>
              </a:rPr>
              <a:t>Parses tables, complex appendices, and supplementary documents seamlessly.</a:t>
            </a:r>
          </a:p>
          <a:p>
            <a:pPr>
              <a:spcAft>
                <a:spcPts val="450"/>
              </a:spcAft>
            </a:pPr>
            <a:r>
              <a:rPr b="1" sz="1000">
                <a:solidFill>
                  <a:srgbClr val="1E293B"/>
                </a:solidFill>
                <a:latin typeface="Segoe UI"/>
              </a:rPr>
              <a:t>•  Audio Overviews: </a:t>
            </a:r>
            <a:r>
              <a:rPr b="0" sz="1000">
                <a:solidFill>
                  <a:srgbClr val="1E293B"/>
                </a:solidFill>
                <a:latin typeface="Segoe UI"/>
              </a:rPr>
              <a:t>Generates engaging, podcast-style academic discussions summarizing the uploaded research cluster.</a:t>
            </a:r>
          </a:p>
        </p:txBody>
      </p:sp>
      <p:sp>
        <p:nvSpPr>
          <p:cNvPr id="9" name="Rounded Rectangle 8"/>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828800"/>
            <a:ext cx="512064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defRPr sz="950" b="1">
                <a:solidFill>
                  <a:srgbClr val="FFFFFF"/>
                </a:solidFill>
                <a:latin typeface="Segoe UI"/>
              </a:defRPr>
            </a:pPr>
            <a:r>
              <a:t>6 ESSENTIAL INQUIRIES FOR ANY UPLOADED RESEARCH PAPER</a:t>
            </a:r>
          </a:p>
        </p:txBody>
      </p:sp>
      <p:sp>
        <p:nvSpPr>
          <p:cNvPr id="11" name="TextBox 10"/>
          <p:cNvSpPr txBox="1"/>
          <p:nvPr/>
        </p:nvSpPr>
        <p:spPr>
          <a:xfrm>
            <a:off x="6473952" y="2267712"/>
            <a:ext cx="4791456" cy="3310128"/>
          </a:xfrm>
          <a:prstGeom prst="rect">
            <a:avLst/>
          </a:prstGeom>
          <a:noFill/>
        </p:spPr>
        <p:txBody>
          <a:bodyPr wrap="square" lIns="0" rIns="0" tIns="0" bIns="0">
            <a:spAutoFit/>
          </a:bodyPr>
          <a:lstStyle/>
          <a:p>
            <a:pPr>
              <a:spcAft>
                <a:spcPts val="250"/>
              </a:spcAft>
              <a:defRPr sz="1000">
                <a:solidFill>
                  <a:srgbClr val="1E293B"/>
                </a:solidFill>
                <a:latin typeface="Segoe UI"/>
              </a:defRPr>
            </a:pPr>
            <a:r>
              <a:t>1. Problem Definition: What precise research gap or failure in existing models does this paper address?</a:t>
            </a:r>
          </a:p>
          <a:p>
            <a:pPr>
              <a:spcAft>
                <a:spcPts val="250"/>
              </a:spcAft>
              <a:defRPr sz="1000">
                <a:solidFill>
                  <a:srgbClr val="1E293B"/>
                </a:solidFill>
                <a:latin typeface="Segoe UI"/>
              </a:defRPr>
            </a:pPr>
            <a:r>
              <a:t>2. Core Methodology: What algorithm, mathematical framework, or neural architecture was proposed?</a:t>
            </a:r>
          </a:p>
          <a:p>
            <a:pPr>
              <a:spcAft>
                <a:spcPts val="250"/>
              </a:spcAft>
              <a:defRPr sz="1000">
                <a:solidFill>
                  <a:srgbClr val="1E293B"/>
                </a:solidFill>
                <a:latin typeface="Segoe UI"/>
              </a:defRPr>
            </a:pPr>
            <a:r>
              <a:t>3. Experimental Setup: What benchmark datasets, sample sizes, train/test splits, and hardware were used?</a:t>
            </a:r>
          </a:p>
          <a:p>
            <a:pPr>
              <a:spcAft>
                <a:spcPts val="250"/>
              </a:spcAft>
              <a:defRPr sz="1000">
                <a:solidFill>
                  <a:srgbClr val="1E293B"/>
                </a:solidFill>
                <a:latin typeface="Segoe UI"/>
              </a:defRPr>
            </a:pPr>
            <a:r>
              <a:t>4. Quantitative Results: What were the primary performance metrics (e.g., F1, mAP, RMSE) vs baselines?</a:t>
            </a:r>
          </a:p>
          <a:p>
            <a:pPr>
              <a:spcAft>
                <a:spcPts val="250"/>
              </a:spcAft>
              <a:defRPr sz="1000">
                <a:solidFill>
                  <a:srgbClr val="1E293B"/>
                </a:solidFill>
                <a:latin typeface="Segoe UI"/>
              </a:defRPr>
            </a:pPr>
            <a:r>
              <a:t>5. Explicit Limitations: What constraints, failure modes, or threats to validity do the authors concede?</a:t>
            </a:r>
          </a:p>
          <a:p>
            <a:pPr>
              <a:spcAft>
                <a:spcPts val="250"/>
              </a:spcAft>
              <a:defRPr sz="1000">
                <a:solidFill>
                  <a:srgbClr val="1E293B"/>
                </a:solidFill>
                <a:latin typeface="Segoe UI"/>
              </a:defRPr>
            </a:pPr>
            <a:r>
              <a:t>6. Suggested Future Work: What concrete research directions do the authors suggest investigating next?</a:t>
            </a:r>
          </a:p>
        </p:txBody>
      </p:sp>
      <p:sp>
        <p:nvSpPr>
          <p:cNvPr id="12" name="Rounded Rectangle 11"/>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Audit Requirement: </a:t>
            </a:r>
            <a:r>
              <a:rPr b="0" sz="950">
                <a:solidFill>
                  <a:srgbClr val="1E293B"/>
                </a:solidFill>
              </a:rPr>
              <a:t>When preparing literature review tables, always click the numbered citation chip in NotebookLM to confirm the author's exact phrasing.</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notebooklm.google.com documentation &amp; Google AI Research</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9 of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PRACTICAL FRAMEWORK</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The 14-Point Systematic Paper Note Template</a:t>
            </a:r>
          </a:p>
          <a:p>
            <a:pPr>
              <a:spcBef>
                <a:spcPts val="300"/>
              </a:spcBef>
              <a:defRPr sz="1150">
                <a:solidFill>
                  <a:srgbClr val="475569"/>
                </a:solidFill>
                <a:latin typeface="Segoe UI"/>
              </a:defRPr>
            </a:pPr>
            <a:r>
              <a:t>A publication-proven extraction schema to systematically structure research reading and literature reviews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21208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METADATA &amp; METHODOLOGY (FIELDS 1–7)</a:t>
            </a:r>
          </a:p>
        </p:txBody>
      </p:sp>
      <p:sp>
        <p:nvSpPr>
          <p:cNvPr id="8" name="TextBox 7"/>
          <p:cNvSpPr txBox="1"/>
          <p:nvPr/>
        </p:nvSpPr>
        <p:spPr>
          <a:xfrm>
            <a:off x="960120" y="2331720"/>
            <a:ext cx="4754880" cy="3200400"/>
          </a:xfrm>
          <a:prstGeom prst="rect">
            <a:avLst/>
          </a:prstGeom>
          <a:noFill/>
        </p:spPr>
        <p:txBody>
          <a:bodyPr wrap="none">
            <a:spAutoFit/>
          </a:bodyPr>
          <a:lstStyle/>
          <a:p>
            <a:pPr>
              <a:spcAft>
                <a:spcPts val="350"/>
              </a:spcAft>
            </a:pPr>
            <a:r>
              <a:rPr b="1" sz="950">
                <a:solidFill>
                  <a:srgbClr val="1E293B"/>
                </a:solidFill>
                <a:latin typeface="Segoe UI"/>
              </a:rPr>
              <a:t>•  1. Paper Title: </a:t>
            </a:r>
            <a:r>
              <a:rPr b="0" sz="950">
                <a:solidFill>
                  <a:srgbClr val="1E293B"/>
                </a:solidFill>
                <a:latin typeface="Segoe UI"/>
              </a:rPr>
              <a:t>Full formal title and publication venue (IEEE/ACM)</a:t>
            </a:r>
          </a:p>
          <a:p>
            <a:pPr>
              <a:spcAft>
                <a:spcPts val="350"/>
              </a:spcAft>
            </a:pPr>
            <a:r>
              <a:rPr b="1" sz="950">
                <a:solidFill>
                  <a:srgbClr val="1E293B"/>
                </a:solidFill>
                <a:latin typeface="Segoe UI"/>
              </a:rPr>
              <a:t>•  2. Authors &amp; Year: </a:t>
            </a:r>
            <a:r>
              <a:rPr b="0" sz="950">
                <a:solidFill>
                  <a:srgbClr val="1E293B"/>
                </a:solidFill>
                <a:latin typeface="Segoe UI"/>
              </a:rPr>
              <a:t>Lead authors, institution, and publication year</a:t>
            </a:r>
          </a:p>
          <a:p>
            <a:pPr>
              <a:spcAft>
                <a:spcPts val="350"/>
              </a:spcAft>
            </a:pPr>
            <a:r>
              <a:rPr b="1" sz="950">
                <a:solidFill>
                  <a:srgbClr val="1E293B"/>
                </a:solidFill>
                <a:latin typeface="Segoe UI"/>
              </a:rPr>
              <a:t>•  3. DOI / URL: </a:t>
            </a:r>
            <a:r>
              <a:rPr b="0" sz="950">
                <a:solidFill>
                  <a:srgbClr val="1E293B"/>
                </a:solidFill>
                <a:latin typeface="Segoe UI"/>
              </a:rPr>
              <a:t>Direct persistent digital object identifier link</a:t>
            </a:r>
          </a:p>
          <a:p>
            <a:pPr>
              <a:spcAft>
                <a:spcPts val="350"/>
              </a:spcAft>
            </a:pPr>
            <a:r>
              <a:rPr b="1" sz="950">
                <a:solidFill>
                  <a:srgbClr val="1E293B"/>
                </a:solidFill>
                <a:latin typeface="Segoe UI"/>
              </a:rPr>
              <a:t>•  4. Research Problem: </a:t>
            </a:r>
            <a:r>
              <a:rPr b="0" sz="950">
                <a:solidFill>
                  <a:srgbClr val="1E293B"/>
                </a:solidFill>
                <a:latin typeface="Segoe UI"/>
              </a:rPr>
              <a:t>The real-world or theoretical challenge addressed</a:t>
            </a:r>
          </a:p>
          <a:p>
            <a:pPr>
              <a:spcAft>
                <a:spcPts val="350"/>
              </a:spcAft>
            </a:pPr>
            <a:r>
              <a:rPr b="1" sz="950">
                <a:solidFill>
                  <a:srgbClr val="1E293B"/>
                </a:solidFill>
                <a:latin typeface="Segoe UI"/>
              </a:rPr>
              <a:t>•  5. Primary Objective: </a:t>
            </a:r>
            <a:r>
              <a:rPr b="0" sz="950">
                <a:solidFill>
                  <a:srgbClr val="1E293B"/>
                </a:solidFill>
                <a:latin typeface="Segoe UI"/>
              </a:rPr>
              <a:t>Explicit hypothesis or project goal</a:t>
            </a:r>
          </a:p>
          <a:p>
            <a:pPr>
              <a:spcAft>
                <a:spcPts val="350"/>
              </a:spcAft>
            </a:pPr>
            <a:r>
              <a:rPr b="1" sz="950">
                <a:solidFill>
                  <a:srgbClr val="1E293B"/>
                </a:solidFill>
                <a:latin typeface="Segoe UI"/>
              </a:rPr>
              <a:t>•  6. Methodology: </a:t>
            </a:r>
            <a:r>
              <a:rPr b="0" sz="950">
                <a:solidFill>
                  <a:srgbClr val="1E293B"/>
                </a:solidFill>
                <a:latin typeface="Segoe UI"/>
              </a:rPr>
              <a:t>Proposed architecture, pipeline, or mathematical model</a:t>
            </a:r>
          </a:p>
          <a:p>
            <a:pPr>
              <a:spcAft>
                <a:spcPts val="350"/>
              </a:spcAft>
            </a:pPr>
            <a:r>
              <a:rPr b="1" sz="950">
                <a:solidFill>
                  <a:srgbClr val="1E293B"/>
                </a:solidFill>
                <a:latin typeface="Segoe UI"/>
              </a:rPr>
              <a:t>•  7. Datasets Used: </a:t>
            </a:r>
            <a:r>
              <a:rPr b="0" sz="950">
                <a:solidFill>
                  <a:srgbClr val="1E293B"/>
                </a:solidFill>
                <a:latin typeface="Segoe UI"/>
              </a:rPr>
              <a:t>Name, sample size, distribution, and preprocessing</a:t>
            </a:r>
          </a:p>
        </p:txBody>
      </p:sp>
      <p:sp>
        <p:nvSpPr>
          <p:cNvPr id="9" name="Rounded Rectangle 8"/>
          <p:cNvSpPr/>
          <p:nvPr/>
        </p:nvSpPr>
        <p:spPr>
          <a:xfrm>
            <a:off x="6217920" y="1828800"/>
            <a:ext cx="521208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96596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EVALUATION &amp; RELEVANCE (FIELDS 8–14)</a:t>
            </a:r>
          </a:p>
        </p:txBody>
      </p:sp>
      <p:sp>
        <p:nvSpPr>
          <p:cNvPr id="11" name="TextBox 10"/>
          <p:cNvSpPr txBox="1"/>
          <p:nvPr/>
        </p:nvSpPr>
        <p:spPr>
          <a:xfrm>
            <a:off x="6446520" y="2331720"/>
            <a:ext cx="4754880" cy="3200400"/>
          </a:xfrm>
          <a:prstGeom prst="rect">
            <a:avLst/>
          </a:prstGeom>
          <a:noFill/>
        </p:spPr>
        <p:txBody>
          <a:bodyPr wrap="none">
            <a:spAutoFit/>
          </a:bodyPr>
          <a:lstStyle/>
          <a:p>
            <a:pPr>
              <a:spcAft>
                <a:spcPts val="350"/>
              </a:spcAft>
            </a:pPr>
            <a:r>
              <a:rPr b="1" sz="950">
                <a:solidFill>
                  <a:srgbClr val="1E293B"/>
                </a:solidFill>
                <a:latin typeface="Segoe UI"/>
              </a:rPr>
              <a:t>•  8. Tools &amp; Hardware: </a:t>
            </a:r>
            <a:r>
              <a:rPr b="0" sz="950">
                <a:solidFill>
                  <a:srgbClr val="1E293B"/>
                </a:solidFill>
                <a:latin typeface="Segoe UI"/>
              </a:rPr>
              <a:t>Frameworks (PyTorch/Colab), GPUs, training hours</a:t>
            </a:r>
          </a:p>
          <a:p>
            <a:pPr>
              <a:spcAft>
                <a:spcPts val="350"/>
              </a:spcAft>
            </a:pPr>
            <a:r>
              <a:rPr b="1" sz="950">
                <a:solidFill>
                  <a:srgbClr val="1E293B"/>
                </a:solidFill>
                <a:latin typeface="Segoe UI"/>
              </a:rPr>
              <a:t>•  9. Key Results: </a:t>
            </a:r>
            <a:r>
              <a:rPr b="0" sz="950">
                <a:solidFill>
                  <a:srgbClr val="1E293B"/>
                </a:solidFill>
                <a:latin typeface="Segoe UI"/>
              </a:rPr>
              <a:t>Quantitative metrics vs state-of-the-art baselines</a:t>
            </a:r>
          </a:p>
          <a:p>
            <a:pPr>
              <a:spcAft>
                <a:spcPts val="350"/>
              </a:spcAft>
            </a:pPr>
            <a:r>
              <a:rPr b="1" sz="950">
                <a:solidFill>
                  <a:srgbClr val="1E293B"/>
                </a:solidFill>
                <a:latin typeface="Segoe UI"/>
              </a:rPr>
              <a:t>•  10. Limitations: </a:t>
            </a:r>
            <a:r>
              <a:rPr b="0" sz="950">
                <a:solidFill>
                  <a:srgbClr val="1E293B"/>
                </a:solidFill>
                <a:latin typeface="Segoe UI"/>
              </a:rPr>
              <a:t>Explicitly stated or unstated failure cases</a:t>
            </a:r>
          </a:p>
          <a:p>
            <a:pPr>
              <a:spcAft>
                <a:spcPts val="350"/>
              </a:spcAft>
            </a:pPr>
            <a:r>
              <a:rPr b="1" sz="950">
                <a:solidFill>
                  <a:srgbClr val="1E293B"/>
                </a:solidFill>
                <a:latin typeface="Segoe UI"/>
              </a:rPr>
              <a:t>•  11. Research Gap: </a:t>
            </a:r>
            <a:r>
              <a:rPr b="0" sz="950">
                <a:solidFill>
                  <a:srgbClr val="1E293B"/>
                </a:solidFill>
                <a:latin typeface="Segoe UI"/>
              </a:rPr>
              <a:t>What remains unsolved or poorly generalized?</a:t>
            </a:r>
          </a:p>
          <a:p>
            <a:pPr>
              <a:spcAft>
                <a:spcPts val="350"/>
              </a:spcAft>
            </a:pPr>
            <a:r>
              <a:rPr b="1" sz="950">
                <a:solidFill>
                  <a:srgbClr val="1E293B"/>
                </a:solidFill>
                <a:latin typeface="Segoe UI"/>
              </a:rPr>
              <a:t>•  12. Future Work: </a:t>
            </a:r>
            <a:r>
              <a:rPr b="0" sz="950">
                <a:solidFill>
                  <a:srgbClr val="1E293B"/>
                </a:solidFill>
                <a:latin typeface="Segoe UI"/>
              </a:rPr>
              <a:t>Direct recommendations provided by the authors</a:t>
            </a:r>
          </a:p>
          <a:p>
            <a:pPr>
              <a:spcAft>
                <a:spcPts val="350"/>
              </a:spcAft>
            </a:pPr>
            <a:r>
              <a:rPr b="1" sz="950">
                <a:solidFill>
                  <a:srgbClr val="1E293B"/>
                </a:solidFill>
                <a:latin typeface="Segoe UI"/>
              </a:rPr>
              <a:t>•  13. Direct Evidence / Quote: </a:t>
            </a:r>
            <a:r>
              <a:rPr b="0" sz="950">
                <a:solidFill>
                  <a:srgbClr val="1E293B"/>
                </a:solidFill>
                <a:latin typeface="Segoe UI"/>
              </a:rPr>
              <a:t>Exact verbatim excerpt for citation</a:t>
            </a:r>
          </a:p>
          <a:p>
            <a:pPr>
              <a:spcAft>
                <a:spcPts val="350"/>
              </a:spcAft>
            </a:pPr>
            <a:r>
              <a:rPr b="1" sz="950">
                <a:solidFill>
                  <a:srgbClr val="1E293B"/>
                </a:solidFill>
                <a:latin typeface="Segoe UI"/>
              </a:rPr>
              <a:t>•  14. Relevance to My Work: </a:t>
            </a:r>
            <a:r>
              <a:rPr b="0" sz="950">
                <a:solidFill>
                  <a:srgbClr val="1E293B"/>
                </a:solidFill>
                <a:latin typeface="Segoe UI"/>
              </a:rPr>
              <a:t>Concrete utility to my specific thesis/grant</a:t>
            </a:r>
          </a:p>
        </p:txBody>
      </p:sp>
      <p:sp>
        <p:nvSpPr>
          <p:cNvPr id="12" name="Rounded Rectangle 11"/>
          <p:cNvSpPr/>
          <p:nvPr/>
        </p:nvSpPr>
        <p:spPr>
          <a:xfrm>
            <a:off x="731520" y="5806440"/>
            <a:ext cx="10728655" cy="5029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Workflow Efficiency: </a:t>
            </a:r>
            <a:r>
              <a:rPr b="0" sz="950">
                <a:solidFill>
                  <a:srgbClr val="1E293B"/>
                </a:solidFill>
              </a:rPr>
              <a:t>Use AI to populate the initial draft of this 14-point template, but spend your cognitive energy validating Fields 10 (Limitations), 11 (Gaps), and 14 (Relevance).</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Adopted from PRISMA Systematic Literature Review Guidelines</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10 of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3: CODING &amp; COMPUTING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AI for Research Coding, Computing &amp; Experimentation</a:t>
            </a:r>
          </a:p>
          <a:p>
            <a:pPr>
              <a:spcBef>
                <a:spcPts val="300"/>
              </a:spcBef>
              <a:defRPr sz="1150">
                <a:solidFill>
                  <a:srgbClr val="475569"/>
                </a:solidFill>
                <a:latin typeface="Segoe UI"/>
              </a:defRPr>
            </a:pPr>
            <a:r>
              <a:t>Accelerating exploratory data analysis, algorithm prototyping, and reproducible computation</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RESEARCH COMPUTING APPLICATIONS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Data Ingestion &amp; Cleaning: </a:t>
            </a:r>
            <a:r>
              <a:rPr b="0" sz="1000">
                <a:solidFill>
                  <a:srgbClr val="1E293B"/>
                </a:solidFill>
                <a:latin typeface="Segoe UI"/>
              </a:rPr>
              <a:t>Automating outlier removal, handling null distributions, and normalizing features across CSV/JSON datasets.</a:t>
            </a:r>
          </a:p>
          <a:p>
            <a:pPr>
              <a:spcAft>
                <a:spcPts val="450"/>
              </a:spcAft>
            </a:pPr>
            <a:r>
              <a:rPr b="1" sz="1000">
                <a:solidFill>
                  <a:srgbClr val="1E293B"/>
                </a:solidFill>
                <a:latin typeface="Segoe UI"/>
              </a:rPr>
              <a:t>•  Exploratory Data Analysis (EDA): </a:t>
            </a:r>
            <a:r>
              <a:rPr b="0" sz="1000">
                <a:solidFill>
                  <a:srgbClr val="1E293B"/>
                </a:solidFill>
                <a:latin typeface="Segoe UI"/>
              </a:rPr>
              <a:t>Rapid generation of distribution plots, correlation matrices, and dimensionality reduction visualizations (t-SNE/UMAP).</a:t>
            </a:r>
          </a:p>
          <a:p>
            <a:pPr>
              <a:spcAft>
                <a:spcPts val="450"/>
              </a:spcAft>
            </a:pPr>
            <a:r>
              <a:rPr b="1" sz="1000">
                <a:solidFill>
                  <a:srgbClr val="1E293B"/>
                </a:solidFill>
                <a:latin typeface="Segoe UI"/>
              </a:rPr>
              <a:t>•  Algorithm Implementation: </a:t>
            </a:r>
            <a:r>
              <a:rPr b="0" sz="1000">
                <a:solidFill>
                  <a:srgbClr val="1E293B"/>
                </a:solidFill>
                <a:latin typeface="Segoe UI"/>
              </a:rPr>
              <a:t>Rapidly translating theoretical pseudocode or mathematical formulas into robust PyTorch/TensorFlow modules.</a:t>
            </a:r>
          </a:p>
          <a:p>
            <a:pPr>
              <a:spcAft>
                <a:spcPts val="450"/>
              </a:spcAft>
            </a:pPr>
            <a:r>
              <a:rPr b="1" sz="1000">
                <a:solidFill>
                  <a:srgbClr val="1E293B"/>
                </a:solidFill>
                <a:latin typeface="Segoe UI"/>
              </a:rPr>
              <a:t>•  Hyperparameter Optimization: </a:t>
            </a:r>
            <a:r>
              <a:rPr b="0" sz="1000">
                <a:solidFill>
                  <a:srgbClr val="1E293B"/>
                </a:solidFill>
                <a:latin typeface="Segoe UI"/>
              </a:rPr>
              <a:t>Generating grid/random search routines and automated cross-validation loops.</a:t>
            </a:r>
          </a:p>
          <a:p>
            <a:pPr>
              <a:spcAft>
                <a:spcPts val="450"/>
              </a:spcAft>
            </a:pPr>
            <a:r>
              <a:rPr b="1" sz="1000">
                <a:solidFill>
                  <a:srgbClr val="1E293B"/>
                </a:solidFill>
                <a:latin typeface="Segoe UI"/>
              </a:rPr>
              <a:t>•  Intelligent Debugging: </a:t>
            </a:r>
            <a:r>
              <a:rPr b="0" sz="1000">
                <a:solidFill>
                  <a:srgbClr val="1E293B"/>
                </a:solidFill>
                <a:latin typeface="Segoe UI"/>
              </a:rPr>
              <a:t>Parsing complex traceback errors, CUDA out-of-memory exceptions, and shape mismatch bugs instantly.</a:t>
            </a:r>
          </a:p>
        </p:txBody>
      </p:sp>
      <p:sp>
        <p:nvSpPr>
          <p:cNvPr id="9" name="Rounded Rectangle 8"/>
          <p:cNvSpPr/>
          <p:nvPr/>
        </p:nvSpPr>
        <p:spPr>
          <a:xfrm>
            <a:off x="6309360" y="1828800"/>
            <a:ext cx="512064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CORE AI COMPUTING PLATFORMS</a:t>
            </a:r>
          </a:p>
        </p:txBody>
      </p:sp>
      <p:sp>
        <p:nvSpPr>
          <p:cNvPr id="11" name="Rounded Rectangle 10"/>
          <p:cNvSpPr/>
          <p:nvPr/>
        </p:nvSpPr>
        <p:spPr>
          <a:xfrm>
            <a:off x="6537960" y="2331720"/>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02920"/>
          </a:xfrm>
          <a:prstGeom prst="rect">
            <a:avLst/>
          </a:prstGeom>
          <a:noFill/>
        </p:spPr>
        <p:txBody>
          <a:bodyPr wrap="square" lIns="0" rIns="0" tIns="0" bIns="0">
            <a:spAutoFit/>
          </a:bodyPr>
          <a:lstStyle/>
          <a:p>
            <a:pPr>
              <a:defRPr b="1" sz="950">
                <a:solidFill>
                  <a:srgbClr val="2563EB"/>
                </a:solidFill>
              </a:defRPr>
            </a:pPr>
            <a:r>
              <a:t>Google Colab</a:t>
            </a:r>
          </a:p>
          <a:p>
            <a:pPr>
              <a:defRPr sz="850">
                <a:solidFill>
                  <a:srgbClr val="1E293B"/>
                </a:solidFill>
              </a:defRPr>
            </a:pPr>
            <a:r>
              <a:t>Browser Python, zero local setup, free T4/A100 GPUs, native Gemini assistant</a:t>
            </a:r>
          </a:p>
        </p:txBody>
      </p:sp>
      <p:sp>
        <p:nvSpPr>
          <p:cNvPr id="13" name="Rounded Rectangle 12"/>
          <p:cNvSpPr/>
          <p:nvPr/>
        </p:nvSpPr>
        <p:spPr>
          <a:xfrm>
            <a:off x="6537960" y="2990088"/>
            <a:ext cx="4663440" cy="5943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44952"/>
            <a:ext cx="4480560" cy="502920"/>
          </a:xfrm>
          <a:prstGeom prst="rect">
            <a:avLst/>
          </a:prstGeom>
          <a:noFill/>
        </p:spPr>
        <p:txBody>
          <a:bodyPr wrap="square" lIns="0" rIns="0" tIns="0" bIns="0">
            <a:spAutoFit/>
          </a:bodyPr>
          <a:lstStyle/>
          <a:p>
            <a:pPr>
              <a:defRPr b="1" sz="950">
                <a:solidFill>
                  <a:srgbClr val="7C3AED"/>
                </a:solidFill>
              </a:defRPr>
            </a:pPr>
            <a:r>
              <a:t>Gemini in Colab</a:t>
            </a:r>
          </a:p>
          <a:p>
            <a:pPr>
              <a:defRPr sz="850">
                <a:solidFill>
                  <a:srgbClr val="1E293B"/>
                </a:solidFill>
              </a:defRPr>
            </a:pPr>
            <a:r>
              <a:t>Inline code generation, error explanation, and automated visualization plotting</a:t>
            </a:r>
          </a:p>
        </p:txBody>
      </p:sp>
      <p:sp>
        <p:nvSpPr>
          <p:cNvPr id="15" name="Rounded Rectangle 14"/>
          <p:cNvSpPr/>
          <p:nvPr/>
        </p:nvSpPr>
        <p:spPr>
          <a:xfrm>
            <a:off x="6537960" y="3648456"/>
            <a:ext cx="466344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03320"/>
            <a:ext cx="4480560" cy="502920"/>
          </a:xfrm>
          <a:prstGeom prst="rect">
            <a:avLst/>
          </a:prstGeom>
          <a:noFill/>
        </p:spPr>
        <p:txBody>
          <a:bodyPr wrap="square" lIns="0" rIns="0" tIns="0" bIns="0">
            <a:spAutoFit/>
          </a:bodyPr>
          <a:lstStyle/>
          <a:p>
            <a:pPr>
              <a:defRPr b="1" sz="950">
                <a:solidFill>
                  <a:srgbClr val="0F172A"/>
                </a:solidFill>
              </a:defRPr>
            </a:pPr>
            <a:r>
              <a:t>GitHub Copilot</a:t>
            </a:r>
          </a:p>
          <a:p>
            <a:pPr>
              <a:defRPr sz="850">
                <a:solidFill>
                  <a:srgbClr val="1E293B"/>
                </a:solidFill>
              </a:defRPr>
            </a:pPr>
            <a:r>
              <a:t>Context-aware autocompletion inside VS Code; writes boilerplate docstrings &amp; tests</a:t>
            </a:r>
          </a:p>
        </p:txBody>
      </p:sp>
      <p:sp>
        <p:nvSpPr>
          <p:cNvPr id="17" name="Rounded Rectangle 16"/>
          <p:cNvSpPr/>
          <p:nvPr/>
        </p:nvSpPr>
        <p:spPr>
          <a:xfrm>
            <a:off x="6537960" y="4306824"/>
            <a:ext cx="46634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361688"/>
            <a:ext cx="4480560" cy="502920"/>
          </a:xfrm>
          <a:prstGeom prst="rect">
            <a:avLst/>
          </a:prstGeom>
          <a:noFill/>
        </p:spPr>
        <p:txBody>
          <a:bodyPr wrap="square" lIns="0" rIns="0" tIns="0" bIns="0">
            <a:spAutoFit/>
          </a:bodyPr>
          <a:lstStyle/>
          <a:p>
            <a:pPr>
              <a:defRPr b="1" sz="950">
                <a:solidFill>
                  <a:srgbClr val="0D9488"/>
                </a:solidFill>
              </a:defRPr>
            </a:pPr>
            <a:r>
              <a:t>Cursor IDE</a:t>
            </a:r>
          </a:p>
          <a:p>
            <a:pPr>
              <a:defRPr sz="850">
                <a:solidFill>
                  <a:srgbClr val="1E293B"/>
                </a:solidFill>
              </a:defRPr>
            </a:pPr>
            <a:r>
              <a:t>AI-native code editor indexing entire repositories for multi-file refactoring</a:t>
            </a:r>
          </a:p>
        </p:txBody>
      </p:sp>
      <p:sp>
        <p:nvSpPr>
          <p:cNvPr id="19" name="Rounded Rectangle 18"/>
          <p:cNvSpPr/>
          <p:nvPr/>
        </p:nvSpPr>
        <p:spPr>
          <a:xfrm>
            <a:off x="6537960" y="4965192"/>
            <a:ext cx="4663440" cy="5943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20056"/>
            <a:ext cx="4480560" cy="502920"/>
          </a:xfrm>
          <a:prstGeom prst="rect">
            <a:avLst/>
          </a:prstGeom>
          <a:noFill/>
        </p:spPr>
        <p:txBody>
          <a:bodyPr wrap="square" lIns="0" rIns="0" tIns="0" bIns="0">
            <a:spAutoFit/>
          </a:bodyPr>
          <a:lstStyle/>
          <a:p>
            <a:pPr>
              <a:defRPr b="1" sz="950">
                <a:solidFill>
                  <a:srgbClr val="D97706"/>
                </a:solidFill>
              </a:defRPr>
            </a:pPr>
            <a:r>
              <a:t>Kaggle Notebooks</a:t>
            </a:r>
          </a:p>
          <a:p>
            <a:pPr>
              <a:defRPr sz="850">
                <a:solidFill>
                  <a:srgbClr val="1E293B"/>
                </a:solidFill>
              </a:defRPr>
            </a:pPr>
            <a:r>
              <a:t>Ready-to-run environments with 50,000+ benchmark datasets and TPU access</a:t>
            </a:r>
          </a:p>
        </p:txBody>
      </p:sp>
      <p:sp>
        <p:nvSpPr>
          <p:cNvPr id="21" name="Rounded Rectangle 20"/>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Validation Mandate: </a:t>
            </a:r>
            <a:r>
              <a:rPr b="0" sz="950">
                <a:solidFill>
                  <a:srgbClr val="1E293B"/>
                </a:solidFill>
              </a:rPr>
              <a:t>Never accept AI-generated code as correct by default. Always write unit tests, verify random seed reproducibility, and validate evaluation metrics.</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ACM Transactions on Computing Education / IEEE Software</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11 of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TOOL DEEP DIVE</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Google Colab: The Zero-Setup Research Laboratory</a:t>
            </a:r>
          </a:p>
          <a:p>
            <a:pPr>
              <a:spcBef>
                <a:spcPts val="300"/>
              </a:spcBef>
              <a:defRPr sz="1150">
                <a:solidFill>
                  <a:srgbClr val="475569"/>
                </a:solidFill>
                <a:latin typeface="Segoe UI"/>
              </a:defRPr>
            </a:pPr>
            <a:r>
              <a:t>Democratizing access to high-performance GPUs, reproducible notebooks, and integrated AI assistance</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LABORATORY CAPABILITIES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Zero Local Environment Overhead: </a:t>
            </a:r>
            <a:r>
              <a:rPr b="0" sz="1000">
                <a:solidFill>
                  <a:srgbClr val="1E293B"/>
                </a:solidFill>
                <a:latin typeface="Segoe UI"/>
              </a:rPr>
              <a:t>Pre-configured Python environment with PyTorch, TensorFlow, Scikit-Learn, and OpenCV pre-installed.</a:t>
            </a:r>
          </a:p>
          <a:p>
            <a:pPr>
              <a:spcAft>
                <a:spcPts val="450"/>
              </a:spcAft>
            </a:pPr>
            <a:r>
              <a:rPr b="1" sz="1000">
                <a:solidFill>
                  <a:srgbClr val="1E293B"/>
                </a:solidFill>
                <a:latin typeface="Segoe UI"/>
              </a:rPr>
              <a:t>•  Free Hardware Acceleration: </a:t>
            </a:r>
            <a:r>
              <a:rPr b="0" sz="1000">
                <a:solidFill>
                  <a:srgbClr val="1E293B"/>
                </a:solidFill>
                <a:latin typeface="Segoe UI"/>
              </a:rPr>
              <a:t>On-demand access to NVIDIA T4 GPUs and TPUs, enabling deep learning without expensive personal rigs.</a:t>
            </a:r>
          </a:p>
          <a:p>
            <a:pPr>
              <a:spcAft>
                <a:spcPts val="450"/>
              </a:spcAft>
            </a:pPr>
            <a:r>
              <a:rPr b="1" sz="1000">
                <a:solidFill>
                  <a:srgbClr val="1E293B"/>
                </a:solidFill>
                <a:latin typeface="Segoe UI"/>
              </a:rPr>
              <a:t>•  Drive &amp; Cloud Storage Integration: </a:t>
            </a:r>
            <a:r>
              <a:rPr b="0" sz="1000">
                <a:solidFill>
                  <a:srgbClr val="1E293B"/>
                </a:solidFill>
                <a:latin typeface="Segoe UI"/>
              </a:rPr>
              <a:t>Mount Google Drive with a single line to stream datasets and checkpoint heavy model weights.</a:t>
            </a:r>
          </a:p>
          <a:p>
            <a:pPr>
              <a:spcAft>
                <a:spcPts val="450"/>
              </a:spcAft>
            </a:pPr>
            <a:r>
              <a:rPr b="1" sz="1000">
                <a:solidFill>
                  <a:srgbClr val="1E293B"/>
                </a:solidFill>
                <a:latin typeface="Segoe UI"/>
              </a:rPr>
              <a:t>•  One-Click Reproducibility: </a:t>
            </a:r>
            <a:r>
              <a:rPr b="0" sz="1000">
                <a:solidFill>
                  <a:srgbClr val="1E293B"/>
                </a:solidFill>
                <a:latin typeface="Segoe UI"/>
              </a:rPr>
              <a:t>Share complete computational notebooks via URL or GitHub commit for transparent peer review.</a:t>
            </a:r>
          </a:p>
          <a:p>
            <a:pPr>
              <a:spcAft>
                <a:spcPts val="450"/>
              </a:spcAft>
            </a:pPr>
            <a:r>
              <a:rPr b="1" sz="1000">
                <a:solidFill>
                  <a:srgbClr val="1E293B"/>
                </a:solidFill>
                <a:latin typeface="Segoe UI"/>
              </a:rPr>
              <a:t>•  Interactive Gemini Assistant: </a:t>
            </a:r>
            <a:r>
              <a:rPr b="0" sz="1000">
                <a:solidFill>
                  <a:srgbClr val="1E293B"/>
                </a:solidFill>
                <a:latin typeface="Segoe UI"/>
              </a:rPr>
              <a:t>Native 'Generate with Gemini' code cell buttons and instant 'Explain Error' buttons.</a:t>
            </a:r>
          </a:p>
        </p:txBody>
      </p:sp>
      <p:sp>
        <p:nvSpPr>
          <p:cNvPr id="9" name="Rounded Rectangle 8"/>
          <p:cNvSpPr/>
          <p:nvPr/>
        </p:nvSpPr>
        <p:spPr>
          <a:xfrm>
            <a:off x="630936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THE 7-STEP EXPERIMENTATION PIPELINE</a:t>
            </a:r>
          </a:p>
        </p:txBody>
      </p:sp>
      <p:sp>
        <p:nvSpPr>
          <p:cNvPr id="11" name="Rounded Rectangle 10"/>
          <p:cNvSpPr/>
          <p:nvPr/>
        </p:nvSpPr>
        <p:spPr>
          <a:xfrm>
            <a:off x="6537960" y="2331720"/>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68296"/>
            <a:ext cx="4480560" cy="365760"/>
          </a:xfrm>
          <a:prstGeom prst="rect">
            <a:avLst/>
          </a:prstGeom>
          <a:noFill/>
        </p:spPr>
        <p:txBody>
          <a:bodyPr wrap="square" lIns="0" rIns="0" tIns="0" bIns="0">
            <a:spAutoFit/>
          </a:bodyPr>
          <a:lstStyle/>
          <a:p>
            <a:r>
              <a:rPr b="1" sz="850">
                <a:solidFill>
                  <a:srgbClr val="2563EB"/>
                </a:solidFill>
              </a:rPr>
              <a:t>1. INGEST DATASET: </a:t>
            </a:r>
            <a:r>
              <a:rPr sz="850">
                <a:solidFill>
                  <a:srgbClr val="1E293B"/>
                </a:solidFill>
              </a:rPr>
              <a:t>Mount Drive / load CSV via Pandas with automated integrity checks</a:t>
            </a:r>
          </a:p>
        </p:txBody>
      </p:sp>
      <p:sp>
        <p:nvSpPr>
          <p:cNvPr id="13" name="Rounded Rectangle 12"/>
          <p:cNvSpPr/>
          <p:nvPr/>
        </p:nvSpPr>
        <p:spPr>
          <a:xfrm>
            <a:off x="6537960" y="2798064"/>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2834640"/>
            <a:ext cx="4480560" cy="365760"/>
          </a:xfrm>
          <a:prstGeom prst="rect">
            <a:avLst/>
          </a:prstGeom>
          <a:noFill/>
        </p:spPr>
        <p:txBody>
          <a:bodyPr wrap="square" lIns="0" rIns="0" tIns="0" bIns="0">
            <a:spAutoFit/>
          </a:bodyPr>
          <a:lstStyle/>
          <a:p>
            <a:r>
              <a:rPr b="1" sz="850">
                <a:solidFill>
                  <a:srgbClr val="2563EB"/>
                </a:solidFill>
              </a:rPr>
              <a:t>2. EXPLORATORY EDA: </a:t>
            </a:r>
            <a:r>
              <a:rPr sz="850">
                <a:solidFill>
                  <a:srgbClr val="1E293B"/>
                </a:solidFill>
              </a:rPr>
              <a:t>Generate correlation heatmaps, boxplots, and feature distributions</a:t>
            </a:r>
          </a:p>
        </p:txBody>
      </p:sp>
      <p:sp>
        <p:nvSpPr>
          <p:cNvPr id="15" name="Rounded Rectangle 14"/>
          <p:cNvSpPr/>
          <p:nvPr/>
        </p:nvSpPr>
        <p:spPr>
          <a:xfrm>
            <a:off x="6537960" y="3264408"/>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300984"/>
            <a:ext cx="4480560" cy="365760"/>
          </a:xfrm>
          <a:prstGeom prst="rect">
            <a:avLst/>
          </a:prstGeom>
          <a:noFill/>
        </p:spPr>
        <p:txBody>
          <a:bodyPr wrap="square" lIns="0" rIns="0" tIns="0" bIns="0">
            <a:spAutoFit/>
          </a:bodyPr>
          <a:lstStyle/>
          <a:p>
            <a:r>
              <a:rPr b="1" sz="850">
                <a:solidFill>
                  <a:srgbClr val="2563EB"/>
                </a:solidFill>
              </a:rPr>
              <a:t>3. PREPROCESSING: </a:t>
            </a:r>
            <a:r>
              <a:rPr sz="850">
                <a:solidFill>
                  <a:srgbClr val="1E293B"/>
                </a:solidFill>
              </a:rPr>
              <a:t>Impute missing values, encode categoricals, and scale numericals</a:t>
            </a:r>
          </a:p>
        </p:txBody>
      </p:sp>
      <p:sp>
        <p:nvSpPr>
          <p:cNvPr id="17" name="Rounded Rectangle 16"/>
          <p:cNvSpPr/>
          <p:nvPr/>
        </p:nvSpPr>
        <p:spPr>
          <a:xfrm>
            <a:off x="6537960" y="3730752"/>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3767328"/>
            <a:ext cx="4480560" cy="365760"/>
          </a:xfrm>
          <a:prstGeom prst="rect">
            <a:avLst/>
          </a:prstGeom>
          <a:noFill/>
        </p:spPr>
        <p:txBody>
          <a:bodyPr wrap="square" lIns="0" rIns="0" tIns="0" bIns="0">
            <a:spAutoFit/>
          </a:bodyPr>
          <a:lstStyle/>
          <a:p>
            <a:r>
              <a:rPr b="1" sz="850">
                <a:solidFill>
                  <a:srgbClr val="2563EB"/>
                </a:solidFill>
              </a:rPr>
              <a:t>4. TRAIN/TEST SPLIT: </a:t>
            </a:r>
            <a:r>
              <a:rPr sz="850">
                <a:solidFill>
                  <a:srgbClr val="1E293B"/>
                </a:solidFill>
              </a:rPr>
              <a:t>Apply stratified sampling with fixed random seeds for reproducibility</a:t>
            </a:r>
          </a:p>
        </p:txBody>
      </p:sp>
      <p:sp>
        <p:nvSpPr>
          <p:cNvPr id="19" name="Rounded Rectangle 18"/>
          <p:cNvSpPr/>
          <p:nvPr/>
        </p:nvSpPr>
        <p:spPr>
          <a:xfrm>
            <a:off x="6537960" y="4197096"/>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233672"/>
            <a:ext cx="4480560" cy="365760"/>
          </a:xfrm>
          <a:prstGeom prst="rect">
            <a:avLst/>
          </a:prstGeom>
          <a:noFill/>
        </p:spPr>
        <p:txBody>
          <a:bodyPr wrap="square" lIns="0" rIns="0" tIns="0" bIns="0">
            <a:spAutoFit/>
          </a:bodyPr>
          <a:lstStyle/>
          <a:p>
            <a:r>
              <a:rPr b="1" sz="850">
                <a:solidFill>
                  <a:srgbClr val="2563EB"/>
                </a:solidFill>
              </a:rPr>
              <a:t>5. MODEL TRAINING: </a:t>
            </a:r>
            <a:r>
              <a:rPr sz="850">
                <a:solidFill>
                  <a:srgbClr val="1E293B"/>
                </a:solidFill>
              </a:rPr>
              <a:t>Train baseline &amp; candidate algorithms using GPU acceleration</a:t>
            </a:r>
          </a:p>
        </p:txBody>
      </p:sp>
      <p:sp>
        <p:nvSpPr>
          <p:cNvPr id="21" name="Rounded Rectangle 20"/>
          <p:cNvSpPr/>
          <p:nvPr/>
        </p:nvSpPr>
        <p:spPr>
          <a:xfrm>
            <a:off x="6537960" y="4663440"/>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4700016"/>
            <a:ext cx="4480560" cy="365760"/>
          </a:xfrm>
          <a:prstGeom prst="rect">
            <a:avLst/>
          </a:prstGeom>
          <a:noFill/>
        </p:spPr>
        <p:txBody>
          <a:bodyPr wrap="square" lIns="0" rIns="0" tIns="0" bIns="0">
            <a:spAutoFit/>
          </a:bodyPr>
          <a:lstStyle/>
          <a:p>
            <a:r>
              <a:rPr b="1" sz="850">
                <a:solidFill>
                  <a:srgbClr val="2563EB"/>
                </a:solidFill>
              </a:rPr>
              <a:t>6. EVALUATION METRICS: </a:t>
            </a:r>
            <a:r>
              <a:rPr sz="850">
                <a:solidFill>
                  <a:srgbClr val="1E293B"/>
                </a:solidFill>
              </a:rPr>
              <a:t>Compute Confusion Matrix, Precision, Recall, F1, ROC-AUC</a:t>
            </a:r>
          </a:p>
        </p:txBody>
      </p:sp>
      <p:sp>
        <p:nvSpPr>
          <p:cNvPr id="23" name="Rounded Rectangle 22"/>
          <p:cNvSpPr/>
          <p:nvPr/>
        </p:nvSpPr>
        <p:spPr>
          <a:xfrm>
            <a:off x="6537960" y="5129784"/>
            <a:ext cx="4663440" cy="43891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5166360"/>
            <a:ext cx="4480560" cy="365760"/>
          </a:xfrm>
          <a:prstGeom prst="rect">
            <a:avLst/>
          </a:prstGeom>
          <a:noFill/>
        </p:spPr>
        <p:txBody>
          <a:bodyPr wrap="square" lIns="0" rIns="0" tIns="0" bIns="0">
            <a:spAutoFit/>
          </a:bodyPr>
          <a:lstStyle/>
          <a:p>
            <a:r>
              <a:rPr b="1" sz="850">
                <a:solidFill>
                  <a:srgbClr val="2563EB"/>
                </a:solidFill>
              </a:rPr>
              <a:t>7. EXPORT ARTIFACTS: </a:t>
            </a:r>
            <a:r>
              <a:rPr sz="850">
                <a:solidFill>
                  <a:srgbClr val="1E293B"/>
                </a:solidFill>
              </a:rPr>
              <a:t>Save serialized weights (.pt/.onnx) and publication-ready charts</a:t>
            </a:r>
          </a:p>
        </p:txBody>
      </p:sp>
      <p:sp>
        <p:nvSpPr>
          <p:cNvPr id="25" name="Rounded Rectangle 24"/>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Practical Research Tip: </a:t>
            </a:r>
            <a:r>
              <a:rPr b="0" sz="950">
                <a:solidFill>
                  <a:srgbClr val="1E293B"/>
                </a:solidFill>
              </a:rPr>
              <a:t>Always specify `torch.manual_seed(42)` and `np.random.seed(42)` in your initial Colab cell to ensure that experimental figures are identical across runs.</a:t>
            </a:r>
          </a:p>
        </p:txBody>
      </p:sp>
      <p:sp>
        <p:nvSpPr>
          <p:cNvPr id="28" name="TextBox 27"/>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colab.research.google.com guidelines</a:t>
            </a:r>
          </a:p>
        </p:txBody>
      </p:sp>
      <p:sp>
        <p:nvSpPr>
          <p:cNvPr id="29" name="TextBox 28"/>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12 of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HANDS-ON IMPLEMENTATION</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Practical AI Coding Experiment: Prompt &amp; Validation</a:t>
            </a:r>
          </a:p>
          <a:p>
            <a:pPr>
              <a:spcBef>
                <a:spcPts val="300"/>
              </a:spcBef>
              <a:defRPr sz="1150">
                <a:solidFill>
                  <a:srgbClr val="475569"/>
                </a:solidFill>
                <a:latin typeface="Segoe UI"/>
              </a:defRPr>
            </a:pPr>
            <a:r>
              <a:t>A realistic engineering prompt for end-to-end machine learning experimentation and critical validation</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21208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521208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defRPr sz="950" b="1">
                <a:solidFill>
                  <a:srgbClr val="FFFFFF"/>
                </a:solidFill>
                <a:latin typeface="Segoe UI"/>
              </a:defRPr>
            </a:pPr>
            <a:r>
              <a:t>GOOGLE COLAB / CURSOR RESEARCH PROMPT TEMPLATE</a:t>
            </a:r>
          </a:p>
        </p:txBody>
      </p:sp>
      <p:sp>
        <p:nvSpPr>
          <p:cNvPr id="8" name="TextBox 7"/>
          <p:cNvSpPr txBox="1"/>
          <p:nvPr/>
        </p:nvSpPr>
        <p:spPr>
          <a:xfrm>
            <a:off x="896112" y="2267712"/>
            <a:ext cx="4882896" cy="3310128"/>
          </a:xfrm>
          <a:prstGeom prst="rect">
            <a:avLst/>
          </a:prstGeom>
          <a:noFill/>
        </p:spPr>
        <p:txBody>
          <a:bodyPr wrap="square" lIns="0" rIns="0" tIns="0" bIns="0">
            <a:spAutoFit/>
          </a:bodyPr>
          <a:lstStyle/>
          <a:p>
            <a:pPr>
              <a:spcAft>
                <a:spcPts val="250"/>
              </a:spcAft>
              <a:defRPr sz="1000">
                <a:solidFill>
                  <a:srgbClr val="1E293B"/>
                </a:solidFill>
                <a:latin typeface="Segoe UI"/>
              </a:defRPr>
            </a:pPr>
            <a:r>
              <a:t>Dataset: 'student_academic_performance.csv' containing features: demographics, study_hours, attendance, parental_education, and final_grade.</a:t>
            </a:r>
          </a:p>
          <a:p>
            <a:pPr>
              <a:spcAft>
                <a:spcPts val="250"/>
              </a:spcAft>
              <a:defRPr sz="1000">
                <a:solidFill>
                  <a:srgbClr val="1E293B"/>
                </a:solidFill>
                <a:latin typeface="Segoe UI"/>
              </a:defRPr>
            </a:pPr>
          </a:p>
          <a:p>
            <a:pPr>
              <a:spcAft>
                <a:spcPts val="250"/>
              </a:spcAft>
              <a:defRPr sz="1000">
                <a:solidFill>
                  <a:srgbClr val="1E293B"/>
                </a:solidFill>
                <a:latin typeface="Segoe UI"/>
              </a:defRPr>
            </a:pPr>
            <a:r>
              <a:t>Write complete, production-grade Python code in Google Colab to:</a:t>
            </a:r>
          </a:p>
          <a:p>
            <a:pPr>
              <a:spcAft>
                <a:spcPts val="250"/>
              </a:spcAft>
              <a:defRPr sz="1000">
                <a:solidFill>
                  <a:srgbClr val="1E293B"/>
                </a:solidFill>
                <a:latin typeface="Segoe UI"/>
              </a:defRPr>
            </a:pPr>
            <a:r>
              <a:t>1. Load dataset with Pandas and check null distributions &amp; data types.</a:t>
            </a:r>
          </a:p>
          <a:p>
            <a:pPr>
              <a:spcAft>
                <a:spcPts val="250"/>
              </a:spcAft>
              <a:defRPr sz="1000">
                <a:solidFill>
                  <a:srgbClr val="1E293B"/>
                </a:solidFill>
                <a:latin typeface="Segoe UI"/>
              </a:defRPr>
            </a:pPr>
            <a:r>
              <a:t>2. Perform EDA: plot feature correlation heatmap and target distribution.</a:t>
            </a:r>
          </a:p>
          <a:p>
            <a:pPr>
              <a:spcAft>
                <a:spcPts val="250"/>
              </a:spcAft>
              <a:defRPr sz="1000">
                <a:solidFill>
                  <a:srgbClr val="1E293B"/>
                </a:solidFill>
                <a:latin typeface="Segoe UI"/>
              </a:defRPr>
            </a:pPr>
            <a:r>
              <a:t>3. Handle categorical encoding (One-Hot) and feature scaling (RobustScaler).</a:t>
            </a:r>
          </a:p>
          <a:p>
            <a:pPr>
              <a:spcAft>
                <a:spcPts val="250"/>
              </a:spcAft>
              <a:defRPr sz="1000">
                <a:solidFill>
                  <a:srgbClr val="1E293B"/>
                </a:solidFill>
                <a:latin typeface="Segoe UI"/>
              </a:defRPr>
            </a:pPr>
            <a:r>
              <a:t>4. Stratified 80/20 train/test split with random_state=42.</a:t>
            </a:r>
          </a:p>
          <a:p>
            <a:pPr>
              <a:spcAft>
                <a:spcPts val="250"/>
              </a:spcAft>
              <a:defRPr sz="1000">
                <a:solidFill>
                  <a:srgbClr val="1E293B"/>
                </a:solidFill>
                <a:latin typeface="Segoe UI"/>
              </a:defRPr>
            </a:pPr>
            <a:r>
              <a:t>5. Train a Random Forest Classifier; run GridSearchCV for n_estimators and max_depth.</a:t>
            </a:r>
          </a:p>
          <a:p>
            <a:pPr>
              <a:spcAft>
                <a:spcPts val="250"/>
              </a:spcAft>
              <a:defRPr sz="1000">
                <a:solidFill>
                  <a:srgbClr val="1E293B"/>
                </a:solidFill>
                <a:latin typeface="Segoe UI"/>
              </a:defRPr>
            </a:pPr>
            <a:r>
              <a:t>6. Compute Accuracy, Precision, Recall, F1-Score, and plot Confusion Matrix.</a:t>
            </a:r>
          </a:p>
          <a:p>
            <a:pPr>
              <a:spcAft>
                <a:spcPts val="250"/>
              </a:spcAft>
              <a:defRPr sz="1000">
                <a:solidFill>
                  <a:srgbClr val="1E293B"/>
                </a:solidFill>
                <a:latin typeface="Segoe UI"/>
              </a:defRPr>
            </a:pPr>
            <a:r>
              <a:t>7. Plot Gini Feature Importance rankings and interpret top 3 features.</a:t>
            </a:r>
          </a:p>
        </p:txBody>
      </p:sp>
      <p:sp>
        <p:nvSpPr>
          <p:cNvPr id="9" name="Rounded Rectangle 8"/>
          <p:cNvSpPr/>
          <p:nvPr/>
        </p:nvSpPr>
        <p:spPr>
          <a:xfrm>
            <a:off x="6217920" y="1828800"/>
            <a:ext cx="521208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96596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WHAT AI ASSISTS VS HUMAN AUDIT</a:t>
            </a:r>
          </a:p>
        </p:txBody>
      </p:sp>
      <p:sp>
        <p:nvSpPr>
          <p:cNvPr id="11" name="TextBox 10"/>
          <p:cNvSpPr txBox="1"/>
          <p:nvPr/>
        </p:nvSpPr>
        <p:spPr>
          <a:xfrm>
            <a:off x="6446520" y="2331720"/>
            <a:ext cx="4754880" cy="3200400"/>
          </a:xfrm>
          <a:prstGeom prst="rect">
            <a:avLst/>
          </a:prstGeom>
          <a:noFill/>
        </p:spPr>
        <p:txBody>
          <a:bodyPr wrap="none">
            <a:spAutoFit/>
          </a:bodyPr>
          <a:lstStyle/>
          <a:p>
            <a:pPr>
              <a:spcAft>
                <a:spcPts val="400"/>
              </a:spcAft>
            </a:pPr>
            <a:r>
              <a:rPr b="1" sz="950">
                <a:solidFill>
                  <a:srgbClr val="1E293B"/>
                </a:solidFill>
                <a:latin typeface="Segoe UI"/>
              </a:rPr>
              <a:t>•  AI Assistance: </a:t>
            </a:r>
            <a:r>
              <a:rPr b="0" sz="950">
                <a:solidFill>
                  <a:srgbClr val="1E293B"/>
                </a:solidFill>
                <a:latin typeface="Segoe UI"/>
              </a:rPr>
              <a:t>Generates clean, idiomatic boilerplate code with Seaborn styling.</a:t>
            </a:r>
          </a:p>
          <a:p>
            <a:pPr>
              <a:spcAft>
                <a:spcPts val="400"/>
              </a:spcAft>
            </a:pPr>
            <a:r>
              <a:rPr b="1" sz="950">
                <a:solidFill>
                  <a:srgbClr val="1E293B"/>
                </a:solidFill>
                <a:latin typeface="Segoe UI"/>
              </a:rPr>
              <a:t>•  AI Assistance: </a:t>
            </a:r>
            <a:r>
              <a:rPr b="0" sz="950">
                <a:solidFill>
                  <a:srgbClr val="1E293B"/>
                </a:solidFill>
                <a:latin typeface="Segoe UI"/>
              </a:rPr>
              <a:t>Suggests appropriate hyperparameter grids for tuning.</a:t>
            </a:r>
          </a:p>
          <a:p>
            <a:pPr>
              <a:spcAft>
                <a:spcPts val="400"/>
              </a:spcAft>
            </a:pPr>
            <a:r>
              <a:rPr b="1" sz="950">
                <a:solidFill>
                  <a:srgbClr val="1E293B"/>
                </a:solidFill>
                <a:latin typeface="Segoe UI"/>
              </a:rPr>
              <a:t>•  AI Assistance: </a:t>
            </a:r>
            <a:r>
              <a:rPr b="0" sz="950">
                <a:solidFill>
                  <a:srgbClr val="1E293B"/>
                </a:solidFill>
                <a:latin typeface="Segoe UI"/>
              </a:rPr>
              <a:t>Writes explanatory docstrings and comments for each block.</a:t>
            </a:r>
          </a:p>
          <a:p>
            <a:pPr>
              <a:spcAft>
                <a:spcPts val="400"/>
              </a:spcAft>
            </a:pPr>
            <a:r>
              <a:rPr b="1" sz="950">
                <a:solidFill>
                  <a:srgbClr val="1E293B"/>
                </a:solidFill>
                <a:latin typeface="Segoe UI"/>
              </a:rPr>
              <a:t>•  Human Audit: </a:t>
            </a:r>
            <a:r>
              <a:rPr b="0" sz="950">
                <a:solidFill>
                  <a:srgbClr val="1E293B"/>
                </a:solidFill>
                <a:latin typeface="Segoe UI"/>
              </a:rPr>
              <a:t>Inspect for Data Leakage—ensure scaler is fitted ONLY on training split.</a:t>
            </a:r>
          </a:p>
          <a:p>
            <a:pPr>
              <a:spcAft>
                <a:spcPts val="400"/>
              </a:spcAft>
            </a:pPr>
            <a:r>
              <a:rPr b="1" sz="950">
                <a:solidFill>
                  <a:srgbClr val="1E293B"/>
                </a:solidFill>
                <a:latin typeface="Segoe UI"/>
              </a:rPr>
              <a:t>•  Human Audit: </a:t>
            </a:r>
            <a:r>
              <a:rPr b="0" sz="950">
                <a:solidFill>
                  <a:srgbClr val="1E293B"/>
                </a:solidFill>
                <a:latin typeface="Segoe UI"/>
              </a:rPr>
              <a:t>Verify Class Imbalance—ensure F1-macro is checked, not just raw accuracy.</a:t>
            </a:r>
          </a:p>
          <a:p>
            <a:pPr>
              <a:spcAft>
                <a:spcPts val="400"/>
              </a:spcAft>
            </a:pPr>
            <a:r>
              <a:rPr b="1" sz="950">
                <a:solidFill>
                  <a:srgbClr val="1E293B"/>
                </a:solidFill>
                <a:latin typeface="Segoe UI"/>
              </a:rPr>
              <a:t>•  Human Audit: </a:t>
            </a:r>
            <a:r>
              <a:rPr b="0" sz="950">
                <a:solidFill>
                  <a:srgbClr val="1E293B"/>
                </a:solidFill>
                <a:latin typeface="Segoe UI"/>
              </a:rPr>
              <a:t>Benchmark against simpler models (Logistic Regression) to ensure complex trees are truly justified.</a:t>
            </a:r>
          </a:p>
          <a:p>
            <a:pPr>
              <a:spcAft>
                <a:spcPts val="400"/>
              </a:spcAft>
            </a:pPr>
            <a:r>
              <a:rPr b="1" sz="950">
                <a:solidFill>
                  <a:srgbClr val="1E293B"/>
                </a:solidFill>
                <a:latin typeface="Segoe UI"/>
              </a:rPr>
              <a:t>•  Human Audit: </a:t>
            </a:r>
            <a:r>
              <a:rPr b="0" sz="950">
                <a:solidFill>
                  <a:srgbClr val="1E293B"/>
                </a:solidFill>
                <a:latin typeface="Segoe UI"/>
              </a:rPr>
              <a:t>Review feature importance to ensure no confounding proxy variables exist.</a:t>
            </a:r>
          </a:p>
        </p:txBody>
      </p:sp>
      <p:sp>
        <p:nvSpPr>
          <p:cNvPr id="12" name="Rounded Rectangle 11"/>
          <p:cNvSpPr/>
          <p:nvPr/>
        </p:nvSpPr>
        <p:spPr>
          <a:xfrm>
            <a:off x="731520" y="5806440"/>
            <a:ext cx="10728655" cy="5029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Audit Checklist: </a:t>
            </a:r>
            <a:r>
              <a:rPr b="0" sz="950">
                <a:solidFill>
                  <a:srgbClr val="1E293B"/>
                </a:solidFill>
              </a:rPr>
              <a:t>Running code is not enough. You must understand every line of mathematical transformation to defend your methodology in a project review.</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Engineering Machine Learning Laboratory Best Practices</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13 of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4: GENERATIVE AI</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Generative AI in Academic Research &amp; Pedagogy</a:t>
            </a:r>
          </a:p>
          <a:p>
            <a:pPr>
              <a:spcBef>
                <a:spcPts val="300"/>
              </a:spcBef>
              <a:defRPr sz="1150">
                <a:solidFill>
                  <a:srgbClr val="475569"/>
                </a:solidFill>
                <a:latin typeface="Segoe UI"/>
              </a:defRPr>
            </a:pPr>
            <a:r>
              <a:t>Understanding LLM reasoning capabilities, multi-modal synthesis, and fundamental boundaries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CORE ACADEMIC CAPABILITIES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Hypothesis Brainstorming: </a:t>
            </a:r>
            <a:r>
              <a:rPr b="0" sz="1000">
                <a:solidFill>
                  <a:srgbClr val="1E293B"/>
                </a:solidFill>
                <a:latin typeface="Segoe UI"/>
              </a:rPr>
              <a:t>Generates diverse candidate angles and novel combinations of existing technologies.</a:t>
            </a:r>
          </a:p>
          <a:p>
            <a:pPr>
              <a:spcAft>
                <a:spcPts val="450"/>
              </a:spcAft>
            </a:pPr>
            <a:r>
              <a:rPr b="1" sz="1000">
                <a:solidFill>
                  <a:srgbClr val="1E293B"/>
                </a:solidFill>
                <a:latin typeface="Segoe UI"/>
              </a:rPr>
              <a:t>•  Concept Explanation: </a:t>
            </a:r>
            <a:r>
              <a:rPr b="0" sz="1000">
                <a:solidFill>
                  <a:srgbClr val="1E293B"/>
                </a:solidFill>
                <a:latin typeface="Segoe UI"/>
              </a:rPr>
              <a:t>Deconstructs complex multi-disciplinary concepts into clear, accessible analogies for students.</a:t>
            </a:r>
          </a:p>
          <a:p>
            <a:pPr>
              <a:spcAft>
                <a:spcPts val="450"/>
              </a:spcAft>
            </a:pPr>
            <a:r>
              <a:rPr b="1" sz="1000">
                <a:solidFill>
                  <a:srgbClr val="1E293B"/>
                </a:solidFill>
                <a:latin typeface="Segoe UI"/>
              </a:rPr>
              <a:t>•  Literature Synthesis: </a:t>
            </a:r>
            <a:r>
              <a:rPr b="0" sz="1000">
                <a:solidFill>
                  <a:srgbClr val="1E293B"/>
                </a:solidFill>
                <a:latin typeface="Segoe UI"/>
              </a:rPr>
              <a:t>Clusters 30+ paper summaries into coherent thematic paragraphs and comparative tables.</a:t>
            </a:r>
          </a:p>
          <a:p>
            <a:pPr>
              <a:spcAft>
                <a:spcPts val="450"/>
              </a:spcAft>
            </a:pPr>
            <a:r>
              <a:rPr b="1" sz="1000">
                <a:solidFill>
                  <a:srgbClr val="1E293B"/>
                </a:solidFill>
                <a:latin typeface="Segoe UI"/>
              </a:rPr>
              <a:t>•  Manuscript Refinement: </a:t>
            </a:r>
            <a:r>
              <a:rPr b="0" sz="1000">
                <a:solidFill>
                  <a:srgbClr val="1E293B"/>
                </a:solidFill>
                <a:latin typeface="Segoe UI"/>
              </a:rPr>
              <a:t>Rewrites informal phrasing into formal, objective academic prose adhering to IEEE style.</a:t>
            </a:r>
          </a:p>
          <a:p>
            <a:pPr>
              <a:spcAft>
                <a:spcPts val="450"/>
              </a:spcAft>
            </a:pPr>
            <a:r>
              <a:rPr b="1" sz="1000">
                <a:solidFill>
                  <a:srgbClr val="1E293B"/>
                </a:solidFill>
                <a:latin typeface="Segoe UI"/>
              </a:rPr>
              <a:t>•  Presentation &amp; Slide Drafting: </a:t>
            </a:r>
            <a:r>
              <a:rPr b="0" sz="1000">
                <a:solidFill>
                  <a:srgbClr val="1E293B"/>
                </a:solidFill>
                <a:latin typeface="Segoe UI"/>
              </a:rPr>
              <a:t>Generates comprehensive presentation outlines, speaker notes, and discussion questions.</a:t>
            </a:r>
          </a:p>
        </p:txBody>
      </p:sp>
      <p:sp>
        <p:nvSpPr>
          <p:cNvPr id="9" name="Rounded Rectangle 8"/>
          <p:cNvSpPr/>
          <p:nvPr/>
        </p:nvSpPr>
        <p:spPr>
          <a:xfrm>
            <a:off x="6309360" y="1828800"/>
            <a:ext cx="5120640" cy="384048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C2626"/>
                </a:solidFill>
                <a:latin typeface="Segoe UI"/>
              </a:defRPr>
            </a:pPr>
            <a:r>
              <a:t>PLATFORMS &amp; CRITICAL BOUNDARIES</a:t>
            </a:r>
          </a:p>
        </p:txBody>
      </p:sp>
      <p:sp>
        <p:nvSpPr>
          <p:cNvPr id="11" name="Rounded Rectangle 10"/>
          <p:cNvSpPr/>
          <p:nvPr/>
        </p:nvSpPr>
        <p:spPr>
          <a:xfrm>
            <a:off x="6537960" y="2331720"/>
            <a:ext cx="4663440" cy="62179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12064"/>
          </a:xfrm>
          <a:prstGeom prst="rect">
            <a:avLst/>
          </a:prstGeom>
          <a:noFill/>
        </p:spPr>
        <p:txBody>
          <a:bodyPr wrap="square" lIns="0" rIns="0" tIns="0" bIns="0">
            <a:spAutoFit/>
          </a:bodyPr>
          <a:lstStyle/>
          <a:p>
            <a:pPr>
              <a:defRPr b="1" sz="950">
                <a:solidFill>
                  <a:srgbClr val="2563EB"/>
                </a:solidFill>
              </a:defRPr>
            </a:pPr>
            <a:r>
              <a:t>Google Gemini</a:t>
            </a:r>
          </a:p>
          <a:p>
            <a:pPr>
              <a:defRPr sz="850">
                <a:solidFill>
                  <a:srgbClr val="1E293B"/>
                </a:solidFill>
              </a:defRPr>
            </a:pPr>
            <a:r>
              <a:t>1M–2M token context window; natively processes entire textbooks, video lectures, and codebases.</a:t>
            </a:r>
          </a:p>
        </p:txBody>
      </p:sp>
      <p:sp>
        <p:nvSpPr>
          <p:cNvPr id="13" name="Rounded Rectangle 12"/>
          <p:cNvSpPr/>
          <p:nvPr/>
        </p:nvSpPr>
        <p:spPr>
          <a:xfrm>
            <a:off x="6537960" y="3008376"/>
            <a:ext cx="4663440" cy="62179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63240"/>
            <a:ext cx="4480560" cy="512064"/>
          </a:xfrm>
          <a:prstGeom prst="rect">
            <a:avLst/>
          </a:prstGeom>
          <a:noFill/>
        </p:spPr>
        <p:txBody>
          <a:bodyPr wrap="square" lIns="0" rIns="0" tIns="0" bIns="0">
            <a:spAutoFit/>
          </a:bodyPr>
          <a:lstStyle/>
          <a:p>
            <a:pPr>
              <a:defRPr b="1" sz="950">
                <a:solidFill>
                  <a:srgbClr val="0F172A"/>
                </a:solidFill>
              </a:defRPr>
            </a:pPr>
            <a:r>
              <a:t>OpenAI ChatGPT (GPT-4o)</a:t>
            </a:r>
          </a:p>
          <a:p>
            <a:pPr>
              <a:defRPr sz="850">
                <a:solidFill>
                  <a:srgbClr val="1E293B"/>
                </a:solidFill>
              </a:defRPr>
            </a:pPr>
            <a:r>
              <a:t>Multi-modal reasoning engine with advanced code interpreter and file analytics.</a:t>
            </a:r>
          </a:p>
        </p:txBody>
      </p:sp>
      <p:sp>
        <p:nvSpPr>
          <p:cNvPr id="15" name="Rounded Rectangle 14"/>
          <p:cNvSpPr/>
          <p:nvPr/>
        </p:nvSpPr>
        <p:spPr>
          <a:xfrm>
            <a:off x="6537960" y="3685032"/>
            <a:ext cx="4663440" cy="621792"/>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39896"/>
            <a:ext cx="4480560" cy="512064"/>
          </a:xfrm>
          <a:prstGeom prst="rect">
            <a:avLst/>
          </a:prstGeom>
          <a:noFill/>
        </p:spPr>
        <p:txBody>
          <a:bodyPr wrap="square" lIns="0" rIns="0" tIns="0" bIns="0">
            <a:spAutoFit/>
          </a:bodyPr>
          <a:lstStyle/>
          <a:p>
            <a:pPr>
              <a:defRPr b="1" sz="950">
                <a:solidFill>
                  <a:srgbClr val="7C3AED"/>
                </a:solidFill>
              </a:defRPr>
            </a:pPr>
            <a:r>
              <a:t>Anthropic Claude (Sonnet)</a:t>
            </a:r>
          </a:p>
          <a:p>
            <a:pPr>
              <a:defRPr sz="850">
                <a:solidFill>
                  <a:srgbClr val="1E293B"/>
                </a:solidFill>
              </a:defRPr>
            </a:pPr>
            <a:r>
              <a:t>Renowned for nuanced academic prose, complex logical analysis, and strict adherence to constraints.</a:t>
            </a:r>
          </a:p>
        </p:txBody>
      </p:sp>
      <p:sp>
        <p:nvSpPr>
          <p:cNvPr id="17" name="Rounded Rectangle 16"/>
          <p:cNvSpPr/>
          <p:nvPr/>
        </p:nvSpPr>
        <p:spPr>
          <a:xfrm>
            <a:off x="6537960" y="4361688"/>
            <a:ext cx="4663440" cy="621792"/>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416552"/>
            <a:ext cx="4480560" cy="512064"/>
          </a:xfrm>
          <a:prstGeom prst="rect">
            <a:avLst/>
          </a:prstGeom>
          <a:noFill/>
        </p:spPr>
        <p:txBody>
          <a:bodyPr wrap="square" lIns="0" rIns="0" tIns="0" bIns="0">
            <a:spAutoFit/>
          </a:bodyPr>
          <a:lstStyle/>
          <a:p>
            <a:pPr>
              <a:defRPr b="1" sz="950">
                <a:solidFill>
                  <a:srgbClr val="0D9488"/>
                </a:solidFill>
              </a:defRPr>
            </a:pPr>
            <a:r>
              <a:t>Microsoft Copilot</a:t>
            </a:r>
          </a:p>
          <a:p>
            <a:pPr>
              <a:defRPr sz="850">
                <a:solidFill>
                  <a:srgbClr val="1E293B"/>
                </a:solidFill>
              </a:defRPr>
            </a:pPr>
            <a:r>
              <a:t>Deeply integrated with Office 365, Word, and Bing web search for cited real-time discovery.</a:t>
            </a:r>
          </a:p>
        </p:txBody>
      </p:sp>
      <p:sp>
        <p:nvSpPr>
          <p:cNvPr id="19" name="Rounded Rectangle 18"/>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Fundamental Warning: </a:t>
            </a:r>
            <a:r>
              <a:rPr b="0" sz="950">
                <a:solidFill>
                  <a:srgbClr val="1E293B"/>
                </a:solidFill>
              </a:rPr>
              <a:t>GENERATIVE AI ≠ AUTOMATICALLY FACTUAL INFORMATION: LLMs predict probable tokens based on training statistics. They have no innate understanding of physical truth and will confidently invent plausible-sounding falsehoods.</a:t>
            </a:r>
          </a:p>
        </p:txBody>
      </p:sp>
      <p:sp>
        <p:nvSpPr>
          <p:cNvPr id="22" name="TextBox 21"/>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Nature Biotechnology (2024): Generative AI in Academic Research</a:t>
            </a:r>
          </a:p>
        </p:txBody>
      </p:sp>
      <p:sp>
        <p:nvSpPr>
          <p:cNvPr id="23" name="TextBox 22"/>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14 of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PROMPT ENGINEERING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Prompt Engineering Fundamentals for Academics</a:t>
            </a:r>
          </a:p>
          <a:p>
            <a:pPr>
              <a:spcBef>
                <a:spcPts val="300"/>
              </a:spcBef>
              <a:defRPr sz="1150">
                <a:solidFill>
                  <a:srgbClr val="475569"/>
                </a:solidFill>
                <a:latin typeface="Segoe UI"/>
              </a:defRPr>
            </a:pPr>
            <a:r>
              <a:t>Transforming vague inquiries into structured, high-precision research instruments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97706"/>
                </a:solidFill>
                <a:latin typeface="Segoe UI"/>
              </a:defRPr>
            </a:pPr>
            <a:r>
              <a:t>PROMPT QUALITY COMPARISON</a:t>
            </a:r>
          </a:p>
        </p:txBody>
      </p:sp>
      <p:sp>
        <p:nvSpPr>
          <p:cNvPr id="8" name="Rounded Rectangle 7"/>
          <p:cNvSpPr/>
          <p:nvPr/>
        </p:nvSpPr>
        <p:spPr>
          <a:xfrm>
            <a:off x="960120" y="2331720"/>
            <a:ext cx="4663440" cy="12801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4480560" cy="1143000"/>
          </a:xfrm>
          <a:prstGeom prst="rect">
            <a:avLst/>
          </a:prstGeom>
          <a:noFill/>
        </p:spPr>
        <p:txBody>
          <a:bodyPr wrap="square">
            <a:spAutoFit/>
          </a:bodyPr>
          <a:lstStyle/>
          <a:p>
            <a:pPr>
              <a:defRPr b="1" sz="950">
                <a:solidFill>
                  <a:srgbClr val="DC2626"/>
                </a:solidFill>
              </a:defRPr>
            </a:pPr>
            <a:r>
              <a:t>POOR PROMPT (VAGUE &amp; SHALLOW):</a:t>
            </a:r>
          </a:p>
          <a:p>
            <a:pPr>
              <a:defRPr sz="950">
                <a:solidFill>
                  <a:srgbClr val="0F172A"/>
                </a:solidFill>
                <a:latin typeface="Consolas"/>
              </a:defRPr>
            </a:pPr>
            <a:r>
              <a:t>"Explain machine learning."</a:t>
            </a:r>
          </a:p>
          <a:p>
            <a:pPr>
              <a:spcBef>
                <a:spcPts val="300"/>
              </a:spcBef>
              <a:defRPr sz="850">
                <a:solidFill>
                  <a:srgbClr val="475569"/>
                </a:solidFill>
              </a:defRPr>
            </a:pPr>
            <a:r>
              <a:t>Result: Produces a generic, high-school textbook summary of zero academic value for engineering research.</a:t>
            </a:r>
          </a:p>
        </p:txBody>
      </p:sp>
      <p:sp>
        <p:nvSpPr>
          <p:cNvPr id="10" name="Rounded Rectangle 9"/>
          <p:cNvSpPr/>
          <p:nvPr/>
        </p:nvSpPr>
        <p:spPr>
          <a:xfrm>
            <a:off x="960120" y="3749039"/>
            <a:ext cx="4663440" cy="1737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822191"/>
            <a:ext cx="4480560" cy="1600200"/>
          </a:xfrm>
          <a:prstGeom prst="rect">
            <a:avLst/>
          </a:prstGeom>
          <a:noFill/>
        </p:spPr>
        <p:txBody>
          <a:bodyPr wrap="square">
            <a:spAutoFit/>
          </a:bodyPr>
          <a:lstStyle/>
          <a:p>
            <a:pPr>
              <a:defRPr b="1" sz="950">
                <a:solidFill>
                  <a:srgbClr val="059669"/>
                </a:solidFill>
              </a:defRPr>
            </a:pPr>
            <a:r>
              <a:t>BETTER PROMPT (CONTEXTUAL &amp; ACTIONABLE):</a:t>
            </a:r>
          </a:p>
          <a:p>
            <a:pPr>
              <a:defRPr sz="900">
                <a:solidFill>
                  <a:srgbClr val="0F172A"/>
                </a:solidFill>
                <a:latin typeface="Segoe UI"/>
              </a:defRPr>
            </a:pPr>
            <a:r>
              <a:t>"Explain supervised machine learning to a 3rd-year electrical engineering student using a predictive maintenance vibration sensor example, a comparison table of 3 algorithms, and Python pseudocode."</a:t>
            </a:r>
          </a:p>
          <a:p>
            <a:pPr>
              <a:spcBef>
                <a:spcPts val="200"/>
              </a:spcBef>
              <a:defRPr sz="850">
                <a:solidFill>
                  <a:srgbClr val="1E293B"/>
                </a:solidFill>
              </a:defRPr>
            </a:pPr>
            <a:r>
              <a:t>Result: Generates highly tailored, mathematically rigorous, classroom-ready pedagogy.</a:t>
            </a:r>
          </a:p>
        </p:txBody>
      </p:sp>
      <p:sp>
        <p:nvSpPr>
          <p:cNvPr id="12" name="Rounded Rectangle 11"/>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3796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6-COMPONENT PROMPT FRAMEWORK</a:t>
            </a:r>
          </a:p>
        </p:txBody>
      </p:sp>
      <p:sp>
        <p:nvSpPr>
          <p:cNvPr id="14" name="TextBox 13"/>
          <p:cNvSpPr txBox="1"/>
          <p:nvPr/>
        </p:nvSpPr>
        <p:spPr>
          <a:xfrm>
            <a:off x="653796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1. ROLE: </a:t>
            </a:r>
            <a:r>
              <a:rPr b="0" sz="1000">
                <a:solidFill>
                  <a:srgbClr val="1E293B"/>
                </a:solidFill>
                <a:latin typeface="Segoe UI"/>
              </a:rPr>
              <a:t>Specify domain authority (e.g., 'Act as a Senior IEEE Reviewer in Computer Vision').</a:t>
            </a:r>
          </a:p>
          <a:p>
            <a:pPr>
              <a:spcAft>
                <a:spcPts val="450"/>
              </a:spcAft>
            </a:pPr>
            <a:r>
              <a:rPr b="1" sz="1000">
                <a:solidFill>
                  <a:srgbClr val="1E293B"/>
                </a:solidFill>
                <a:latin typeface="Segoe UI"/>
              </a:rPr>
              <a:t>•  2. CONTEXT: </a:t>
            </a:r>
            <a:r>
              <a:rPr b="0" sz="1000">
                <a:solidFill>
                  <a:srgbClr val="1E293B"/>
                </a:solidFill>
                <a:latin typeface="Segoe UI"/>
              </a:rPr>
              <a:t>Provide prerequisite background, domain setting, and research motivations.</a:t>
            </a:r>
          </a:p>
          <a:p>
            <a:pPr>
              <a:spcAft>
                <a:spcPts val="450"/>
              </a:spcAft>
            </a:pPr>
            <a:r>
              <a:rPr b="1" sz="1000">
                <a:solidFill>
                  <a:srgbClr val="1E293B"/>
                </a:solidFill>
                <a:latin typeface="Segoe UI"/>
              </a:rPr>
              <a:t>•  3. TASK: </a:t>
            </a:r>
            <a:r>
              <a:rPr b="0" sz="1000">
                <a:solidFill>
                  <a:srgbClr val="1E293B"/>
                </a:solidFill>
                <a:latin typeface="Segoe UI"/>
              </a:rPr>
              <a:t>Define the exact action verb ('Compare', 'Deconstruct', 'Synthesize', 'Extract').</a:t>
            </a:r>
          </a:p>
          <a:p>
            <a:pPr>
              <a:spcAft>
                <a:spcPts val="450"/>
              </a:spcAft>
            </a:pPr>
            <a:r>
              <a:rPr b="1" sz="1000">
                <a:solidFill>
                  <a:srgbClr val="1E293B"/>
                </a:solidFill>
                <a:latin typeface="Segoe UI"/>
              </a:rPr>
              <a:t>•  4. CONSTRAINTS: </a:t>
            </a:r>
            <a:r>
              <a:rPr b="0" sz="1000">
                <a:solidFill>
                  <a:srgbClr val="1E293B"/>
                </a:solidFill>
                <a:latin typeface="Segoe UI"/>
              </a:rPr>
              <a:t>Explicitly prohibit unwanted behaviors ('Do not hallucinate', 'Limit to 300 words').</a:t>
            </a:r>
          </a:p>
          <a:p>
            <a:pPr>
              <a:spcAft>
                <a:spcPts val="450"/>
              </a:spcAft>
            </a:pPr>
            <a:r>
              <a:rPr b="1" sz="1000">
                <a:solidFill>
                  <a:srgbClr val="1E293B"/>
                </a:solidFill>
                <a:latin typeface="Segoe UI"/>
              </a:rPr>
              <a:t>•  5. OUTPUT FORMAT: </a:t>
            </a:r>
            <a:r>
              <a:rPr b="0" sz="1000">
                <a:solidFill>
                  <a:srgbClr val="1E293B"/>
                </a:solidFill>
                <a:latin typeface="Segoe UI"/>
              </a:rPr>
              <a:t>Request specific structure ('Markdown table', 'Numbered list', 'LaTeX equation').</a:t>
            </a:r>
          </a:p>
          <a:p>
            <a:pPr>
              <a:spcAft>
                <a:spcPts val="450"/>
              </a:spcAft>
            </a:pPr>
            <a:r>
              <a:rPr b="1" sz="1000">
                <a:solidFill>
                  <a:srgbClr val="1E293B"/>
                </a:solidFill>
                <a:latin typeface="Segoe UI"/>
              </a:rPr>
              <a:t>•  6. QUALITY CRITERIA: </a:t>
            </a:r>
            <a:r>
              <a:rPr b="0" sz="1000">
                <a:solidFill>
                  <a:srgbClr val="1E293B"/>
                </a:solidFill>
                <a:latin typeface="Segoe UI"/>
              </a:rPr>
              <a:t>State standards ('Maintain peer-reviewed objectivity; prioritize empirical evidence').</a:t>
            </a:r>
          </a:p>
        </p:txBody>
      </p:sp>
      <p:sp>
        <p:nvSpPr>
          <p:cNvPr id="15" name="Rounded Rectangle 14"/>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Prompt Engineering Principle: </a:t>
            </a:r>
            <a:r>
              <a:rPr b="0" sz="950">
                <a:solidFill>
                  <a:srgbClr val="1E293B"/>
                </a:solidFill>
              </a:rPr>
              <a:t>Garbage In, Garbage Out: The intellectual rigor of an AI response is directly proportional to the structural specificity and constraints defined in your prompt.</a:t>
            </a: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Framework: OpenAI / DeepMind Prompt Engineering Guides</a:t>
            </a:r>
          </a:p>
        </p:txBody>
      </p:sp>
      <p:sp>
        <p:nvSpPr>
          <p:cNvPr id="19" name="TextBox 18"/>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15 of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PROMPT ENGINEERING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Academic Prompt Library: 4 Research-Tested Prompts</a:t>
            </a:r>
          </a:p>
          <a:p>
            <a:pPr>
              <a:spcBef>
                <a:spcPts val="300"/>
              </a:spcBef>
              <a:defRPr sz="1150">
                <a:solidFill>
                  <a:srgbClr val="475569"/>
                </a:solidFill>
                <a:latin typeface="Segoe UI"/>
              </a:defRPr>
            </a:pPr>
            <a:r>
              <a:t>Ready-to-use structured prompts engineered for literature synthesis, extraction, gap discovery, and methodology</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1828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920240"/>
            <a:ext cx="4901184" cy="237744"/>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PROMPT 1: LITERATURE SYNTHESIS</a:t>
            </a:r>
          </a:p>
        </p:txBody>
      </p:sp>
      <p:sp>
        <p:nvSpPr>
          <p:cNvPr id="8" name="TextBox 7"/>
          <p:cNvSpPr txBox="1"/>
          <p:nvPr/>
        </p:nvSpPr>
        <p:spPr>
          <a:xfrm>
            <a:off x="868680" y="2194560"/>
            <a:ext cx="4846320" cy="1417320"/>
          </a:xfrm>
          <a:prstGeom prst="rect">
            <a:avLst/>
          </a:prstGeom>
          <a:noFill/>
        </p:spPr>
        <p:txBody>
          <a:bodyPr wrap="square">
            <a:spAutoFit/>
          </a:bodyPr>
          <a:lstStyle/>
          <a:p/>
          <a:p>
            <a:pPr>
              <a:spcAft>
                <a:spcPts val="150"/>
              </a:spcAft>
              <a:defRPr sz="850">
                <a:solidFill>
                  <a:srgbClr val="0F172A"/>
                </a:solidFill>
                <a:latin typeface="Segoe UI"/>
              </a:defRPr>
            </a:pPr>
            <a:r>
              <a:t>"Act as an expert academic research assistant in [Domain].</a:t>
            </a:r>
          </a:p>
          <a:p>
            <a:pPr>
              <a:spcAft>
                <a:spcPts val="150"/>
              </a:spcAft>
              <a:defRPr sz="850">
                <a:solidFill>
                  <a:srgbClr val="1E293B"/>
                </a:solidFill>
                <a:latin typeface="Segoe UI"/>
              </a:defRPr>
            </a:pPr>
            <a:r>
              <a:t>Analyze these 5 uploaded papers and synthesize common methodologies,</a:t>
            </a:r>
          </a:p>
          <a:p>
            <a:pPr>
              <a:spcAft>
                <a:spcPts val="150"/>
              </a:spcAft>
              <a:defRPr sz="850">
                <a:solidFill>
                  <a:srgbClr val="1E293B"/>
                </a:solidFill>
                <a:latin typeface="Segoe UI"/>
              </a:defRPr>
            </a:pPr>
            <a:r>
              <a:t>evaluation metrics, and baseline results into a Markdown table.</a:t>
            </a:r>
          </a:p>
          <a:p>
            <a:pPr>
              <a:spcAft>
                <a:spcPts val="150"/>
              </a:spcAft>
              <a:defRPr sz="850">
                <a:solidFill>
                  <a:srgbClr val="1E293B"/>
                </a:solidFill>
                <a:latin typeface="Segoe UI"/>
              </a:defRPr>
            </a:pPr>
            <a:r>
              <a:t>Identify areas of consensus and major disagreements.</a:t>
            </a:r>
          </a:p>
          <a:p>
            <a:pPr>
              <a:spcAft>
                <a:spcPts val="150"/>
              </a:spcAft>
              <a:defRPr sz="850">
                <a:solidFill>
                  <a:srgbClr val="1E293B"/>
                </a:solidFill>
                <a:latin typeface="Segoe UI"/>
              </a:defRPr>
            </a:pPr>
            <a:r>
              <a:t>Do NOT invent or extrapolate citations beyond the provided texts."</a:t>
            </a:r>
          </a:p>
        </p:txBody>
      </p:sp>
      <p:sp>
        <p:nvSpPr>
          <p:cNvPr id="9" name="Rounded Rectangle 8"/>
          <p:cNvSpPr/>
          <p:nvPr/>
        </p:nvSpPr>
        <p:spPr>
          <a:xfrm>
            <a:off x="6309360" y="1828800"/>
            <a:ext cx="5120640" cy="182880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19088" y="1920240"/>
            <a:ext cx="4901184" cy="237744"/>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7C3AED"/>
                </a:solidFill>
                <a:latin typeface="Segoe UI"/>
              </a:defRPr>
            </a:pPr>
            <a:r>
              <a:t>PROMPT 2: STRUCTURED PAPER EXTRACTION</a:t>
            </a:r>
          </a:p>
        </p:txBody>
      </p:sp>
      <p:sp>
        <p:nvSpPr>
          <p:cNvPr id="11" name="TextBox 10"/>
          <p:cNvSpPr txBox="1"/>
          <p:nvPr/>
        </p:nvSpPr>
        <p:spPr>
          <a:xfrm>
            <a:off x="6446520" y="2194560"/>
            <a:ext cx="4846320" cy="1417320"/>
          </a:xfrm>
          <a:prstGeom prst="rect">
            <a:avLst/>
          </a:prstGeom>
          <a:noFill/>
        </p:spPr>
        <p:txBody>
          <a:bodyPr wrap="square">
            <a:spAutoFit/>
          </a:bodyPr>
          <a:lstStyle/>
          <a:p/>
          <a:p>
            <a:pPr>
              <a:spcAft>
                <a:spcPts val="150"/>
              </a:spcAft>
              <a:defRPr sz="850">
                <a:solidFill>
                  <a:srgbClr val="0F172A"/>
                </a:solidFill>
                <a:latin typeface="Segoe UI"/>
              </a:defRPr>
            </a:pPr>
            <a:r>
              <a:t>"Extract the following fields from this uploaded PDF:</a:t>
            </a:r>
          </a:p>
          <a:p>
            <a:pPr>
              <a:spcAft>
                <a:spcPts val="150"/>
              </a:spcAft>
              <a:defRPr sz="850">
                <a:solidFill>
                  <a:srgbClr val="1E293B"/>
                </a:solidFill>
                <a:latin typeface="Segoe UI"/>
              </a:defRPr>
            </a:pPr>
            <a:r>
              <a:t>1) Exact research problem, 2) Proposed architecture,</a:t>
            </a:r>
          </a:p>
          <a:p>
            <a:pPr>
              <a:spcAft>
                <a:spcPts val="150"/>
              </a:spcAft>
              <a:defRPr sz="850">
                <a:solidFill>
                  <a:srgbClr val="1E293B"/>
                </a:solidFill>
                <a:latin typeface="Segoe UI"/>
              </a:defRPr>
            </a:pPr>
            <a:r>
              <a:t>3) Benchmark datasets &amp; sample size, 4) Quantitative results vs SOTA,</a:t>
            </a:r>
          </a:p>
          <a:p>
            <a:pPr>
              <a:spcAft>
                <a:spcPts val="150"/>
              </a:spcAft>
              <a:defRPr sz="850">
                <a:solidFill>
                  <a:srgbClr val="1E293B"/>
                </a:solidFill>
                <a:latin typeface="Segoe UI"/>
              </a:defRPr>
            </a:pPr>
            <a:r>
              <a:t>5) Explicit limitations acknowledged by authors.</a:t>
            </a:r>
          </a:p>
          <a:p>
            <a:pPr>
              <a:spcAft>
                <a:spcPts val="150"/>
              </a:spcAft>
              <a:defRPr sz="850">
                <a:solidFill>
                  <a:srgbClr val="1E293B"/>
                </a:solidFill>
                <a:latin typeface="Segoe UI"/>
              </a:defRPr>
            </a:pPr>
            <a:r>
              <a:t>Cite the specific page and section number for every extracted item."</a:t>
            </a:r>
          </a:p>
        </p:txBody>
      </p:sp>
      <p:sp>
        <p:nvSpPr>
          <p:cNvPr id="12" name="Rounded Rectangle 11"/>
          <p:cNvSpPr/>
          <p:nvPr/>
        </p:nvSpPr>
        <p:spPr>
          <a:xfrm>
            <a:off x="731520" y="3840480"/>
            <a:ext cx="5120640" cy="182880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1248" y="3931920"/>
            <a:ext cx="4901184" cy="237744"/>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0D9488"/>
                </a:solidFill>
                <a:latin typeface="Segoe UI"/>
              </a:defRPr>
            </a:pPr>
            <a:r>
              <a:t>PROMPT 3: RESEARCH GAP IDENTIFICATION</a:t>
            </a:r>
          </a:p>
        </p:txBody>
      </p:sp>
      <p:sp>
        <p:nvSpPr>
          <p:cNvPr id="14" name="TextBox 13"/>
          <p:cNvSpPr txBox="1"/>
          <p:nvPr/>
        </p:nvSpPr>
        <p:spPr>
          <a:xfrm>
            <a:off x="868680" y="4206240"/>
            <a:ext cx="4846320" cy="1417320"/>
          </a:xfrm>
          <a:prstGeom prst="rect">
            <a:avLst/>
          </a:prstGeom>
          <a:noFill/>
        </p:spPr>
        <p:txBody>
          <a:bodyPr wrap="square">
            <a:spAutoFit/>
          </a:bodyPr>
          <a:lstStyle/>
          <a:p/>
          <a:p>
            <a:pPr>
              <a:spcAft>
                <a:spcPts val="150"/>
              </a:spcAft>
              <a:defRPr sz="850">
                <a:solidFill>
                  <a:srgbClr val="0F172A"/>
                </a:solidFill>
                <a:latin typeface="Segoe UI"/>
              </a:defRPr>
            </a:pPr>
            <a:r>
              <a:t>"Compare these studies on [Topic]. Identify unexplored parameter spaces,</a:t>
            </a:r>
          </a:p>
          <a:p>
            <a:pPr>
              <a:spcAft>
                <a:spcPts val="150"/>
              </a:spcAft>
              <a:defRPr sz="850">
                <a:solidFill>
                  <a:srgbClr val="1E293B"/>
                </a:solidFill>
                <a:latin typeface="Segoe UI"/>
              </a:defRPr>
            </a:pPr>
            <a:r>
              <a:t>unaddressed edge cases, and contradictions in their experimental conclusions.</a:t>
            </a:r>
          </a:p>
          <a:p>
            <a:pPr>
              <a:spcAft>
                <a:spcPts val="150"/>
              </a:spcAft>
              <a:defRPr sz="850">
                <a:solidFill>
                  <a:srgbClr val="1E293B"/>
                </a:solidFill>
                <a:latin typeface="Segoe UI"/>
              </a:defRPr>
            </a:pPr>
            <a:r>
              <a:t>Differentiate between what the authors explicitly proved versus</a:t>
            </a:r>
          </a:p>
          <a:p>
            <a:pPr>
              <a:spcAft>
                <a:spcPts val="150"/>
              </a:spcAft>
              <a:defRPr sz="850">
                <a:solidFill>
                  <a:srgbClr val="1E293B"/>
                </a:solidFill>
                <a:latin typeface="Segoe UI"/>
              </a:defRPr>
            </a:pPr>
            <a:r>
              <a:t>unverified assumptions. Formulate 3 novel research gap statements."</a:t>
            </a:r>
          </a:p>
        </p:txBody>
      </p:sp>
      <p:sp>
        <p:nvSpPr>
          <p:cNvPr id="15" name="Rounded Rectangle 14"/>
          <p:cNvSpPr/>
          <p:nvPr/>
        </p:nvSpPr>
        <p:spPr>
          <a:xfrm>
            <a:off x="6309360" y="3840480"/>
            <a:ext cx="5120640" cy="18288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19088" y="3931920"/>
            <a:ext cx="4901184" cy="237744"/>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D97706"/>
                </a:solidFill>
                <a:latin typeface="Segoe UI"/>
              </a:defRPr>
            </a:pPr>
            <a:r>
              <a:t>PROMPT 4: METHODOLOGY COMPARISON</a:t>
            </a:r>
          </a:p>
        </p:txBody>
      </p:sp>
      <p:sp>
        <p:nvSpPr>
          <p:cNvPr id="17" name="TextBox 16"/>
          <p:cNvSpPr txBox="1"/>
          <p:nvPr/>
        </p:nvSpPr>
        <p:spPr>
          <a:xfrm>
            <a:off x="6446520" y="4206240"/>
            <a:ext cx="4846320" cy="1417320"/>
          </a:xfrm>
          <a:prstGeom prst="rect">
            <a:avLst/>
          </a:prstGeom>
          <a:noFill/>
        </p:spPr>
        <p:txBody>
          <a:bodyPr wrap="square">
            <a:spAutoFit/>
          </a:bodyPr>
          <a:lstStyle/>
          <a:p/>
          <a:p>
            <a:pPr>
              <a:spcAft>
                <a:spcPts val="150"/>
              </a:spcAft>
              <a:defRPr sz="850">
                <a:solidFill>
                  <a:srgbClr val="0F172A"/>
                </a:solidFill>
                <a:latin typeface="Segoe UI"/>
              </a:defRPr>
            </a:pPr>
            <a:r>
              <a:t>"Suggest 3 candidate machine learning methodologies to solve [Problem].</a:t>
            </a:r>
          </a:p>
          <a:p>
            <a:pPr>
              <a:spcAft>
                <a:spcPts val="150"/>
              </a:spcAft>
              <a:defRPr sz="850">
                <a:solidFill>
                  <a:srgbClr val="1E293B"/>
                </a:solidFill>
                <a:latin typeface="Segoe UI"/>
              </a:defRPr>
            </a:pPr>
            <a:r>
              <a:t>Create a comparison table evaluating: computational complexity (Big-O),</a:t>
            </a:r>
          </a:p>
          <a:p>
            <a:pPr>
              <a:spcAft>
                <a:spcPts val="150"/>
              </a:spcAft>
              <a:defRPr sz="850">
                <a:solidFill>
                  <a:srgbClr val="1E293B"/>
                </a:solidFill>
                <a:latin typeface="Segoe UI"/>
              </a:defRPr>
            </a:pPr>
            <a:r>
              <a:t>data volume requirements, training stability, and interpretability.</a:t>
            </a:r>
          </a:p>
          <a:p>
            <a:pPr>
              <a:spcAft>
                <a:spcPts val="150"/>
              </a:spcAft>
              <a:defRPr sz="850">
                <a:solidFill>
                  <a:srgbClr val="1E293B"/>
                </a:solidFill>
                <a:latin typeface="Segoe UI"/>
              </a:defRPr>
            </a:pPr>
            <a:r>
              <a:t>Recommend the most viable approach for a 6-month engineering project."</a:t>
            </a:r>
          </a:p>
        </p:txBody>
      </p:sp>
      <p:sp>
        <p:nvSpPr>
          <p:cNvPr id="18" name="Rounded Rectangle 17"/>
          <p:cNvSpPr/>
          <p:nvPr/>
        </p:nvSpPr>
        <p:spPr>
          <a:xfrm>
            <a:off x="731520" y="5806440"/>
            <a:ext cx="10728655" cy="5029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5806440"/>
            <a:ext cx="109728"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Adaptability Tip: </a:t>
            </a:r>
            <a:r>
              <a:rPr b="0" sz="950">
                <a:solidFill>
                  <a:srgbClr val="1E293B"/>
                </a:solidFill>
              </a:rPr>
              <a:t>Replace the bracketed terms [Domain], [Topic], and [Problem] with your exact project specifics to immediately yield publication-ready analysis.</a:t>
            </a:r>
          </a:p>
        </p:txBody>
      </p:sp>
      <p:sp>
        <p:nvSpPr>
          <p:cNvPr id="21" name="TextBox 20"/>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Curated from Peer-Reviewed AI Research Workflows (2025)</a:t>
            </a:r>
          </a:p>
        </p:txBody>
      </p:sp>
      <p:sp>
        <p:nvSpPr>
          <p:cNvPr id="22" name="TextBox 21"/>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16 of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PROMPT ENGINEERING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Advanced Prompting Strategies &amp; The Improvement Ladder</a:t>
            </a:r>
          </a:p>
          <a:p>
            <a:pPr>
              <a:spcBef>
                <a:spcPts val="300"/>
              </a:spcBef>
              <a:defRPr sz="1150">
                <a:solidFill>
                  <a:srgbClr val="475569"/>
                </a:solidFill>
                <a:latin typeface="Segoe UI"/>
              </a:defRPr>
            </a:pPr>
            <a:r>
              <a:t>Moving from surface-level prompting to iterative, few-shot, and self-critiquing research prompts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ADVANCED PROMPTING PARADIGMS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00"/>
              </a:spcAft>
            </a:pPr>
            <a:r>
              <a:rPr b="1" sz="950">
                <a:solidFill>
                  <a:srgbClr val="1E293B"/>
                </a:solidFill>
                <a:latin typeface="Segoe UI"/>
              </a:rPr>
              <a:t>•  Few-Shot Exemplars: </a:t>
            </a:r>
            <a:r>
              <a:rPr b="0" sz="950">
                <a:solidFill>
                  <a:srgbClr val="1E293B"/>
                </a:solidFill>
                <a:latin typeface="Segoe UI"/>
              </a:rPr>
              <a:t>Provide 1–2 gold-standard examples of academic analysis in the prompt to enforce exact style, depth, and tone.</a:t>
            </a:r>
          </a:p>
          <a:p>
            <a:pPr>
              <a:spcAft>
                <a:spcPts val="400"/>
              </a:spcAft>
            </a:pPr>
            <a:r>
              <a:rPr b="1" sz="950">
                <a:solidFill>
                  <a:srgbClr val="1E293B"/>
                </a:solidFill>
                <a:latin typeface="Segoe UI"/>
              </a:rPr>
              <a:t>•  Chain-of-Thought (CoT): </a:t>
            </a:r>
            <a:r>
              <a:rPr b="0" sz="950">
                <a:solidFill>
                  <a:srgbClr val="1E293B"/>
                </a:solidFill>
                <a:latin typeface="Segoe UI"/>
              </a:rPr>
              <a:t>Instruct the model to 'Think step-by-step and write out mathematical reasoning before stating the conclusion'.</a:t>
            </a:r>
          </a:p>
          <a:p>
            <a:pPr>
              <a:spcAft>
                <a:spcPts val="400"/>
              </a:spcAft>
            </a:pPr>
            <a:r>
              <a:rPr b="1" sz="950">
                <a:solidFill>
                  <a:srgbClr val="1E293B"/>
                </a:solidFill>
                <a:latin typeface="Segoe UI"/>
              </a:rPr>
              <a:t>•  Self-Critique &amp; Refinement: </a:t>
            </a:r>
            <a:r>
              <a:rPr b="0" sz="950">
                <a:solidFill>
                  <a:srgbClr val="1E293B"/>
                </a:solidFill>
                <a:latin typeface="Segoe UI"/>
              </a:rPr>
              <a:t>Prompt the AI to audit its own output: 'Review your previous draft against IEEE publication standards and highlight weak arguments'.</a:t>
            </a:r>
          </a:p>
          <a:p>
            <a:pPr>
              <a:spcAft>
                <a:spcPts val="400"/>
              </a:spcAft>
            </a:pPr>
            <a:r>
              <a:rPr b="1" sz="950">
                <a:solidFill>
                  <a:srgbClr val="1E293B"/>
                </a:solidFill>
                <a:latin typeface="Segoe UI"/>
              </a:rPr>
              <a:t>•  Negative Constraint Prompting: </a:t>
            </a:r>
            <a:r>
              <a:rPr b="0" sz="950">
                <a:solidFill>
                  <a:srgbClr val="1E293B"/>
                </a:solidFill>
                <a:latin typeface="Segoe UI"/>
              </a:rPr>
              <a:t>Explicitly forbid common pitfalls ('Do not cite non-existent papers; do not use promotional buzzwords').</a:t>
            </a:r>
          </a:p>
          <a:p>
            <a:pPr>
              <a:spcAft>
                <a:spcPts val="400"/>
              </a:spcAft>
            </a:pPr>
            <a:r>
              <a:rPr b="1" sz="950">
                <a:solidFill>
                  <a:srgbClr val="1E293B"/>
                </a:solidFill>
                <a:latin typeface="Segoe UI"/>
              </a:rPr>
              <a:t>•  Comparative Triangulation: </a:t>
            </a:r>
            <a:r>
              <a:rPr b="0" sz="950">
                <a:solidFill>
                  <a:srgbClr val="1E293B"/>
                </a:solidFill>
                <a:latin typeface="Segoe UI"/>
              </a:rPr>
              <a:t>Feed two contradictory study findings and ask the AI to map the exact methodological divergences.</a:t>
            </a:r>
          </a:p>
        </p:txBody>
      </p:sp>
      <p:sp>
        <p:nvSpPr>
          <p:cNvPr id="9" name="Rounded Rectangle 8"/>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5-STAGE PROMPT IMPROVEMENT LADDER</a:t>
            </a:r>
          </a:p>
        </p:txBody>
      </p:sp>
      <p:sp>
        <p:nvSpPr>
          <p:cNvPr id="11" name="Rounded Rectangle 10"/>
          <p:cNvSpPr/>
          <p:nvPr/>
        </p:nvSpPr>
        <p:spPr>
          <a:xfrm>
            <a:off x="6537960" y="2331720"/>
            <a:ext cx="4663440" cy="5943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02920"/>
          </a:xfrm>
          <a:prstGeom prst="rect">
            <a:avLst/>
          </a:prstGeom>
          <a:noFill/>
        </p:spPr>
        <p:txBody>
          <a:bodyPr wrap="square" lIns="0" rIns="0" tIns="0" bIns="0">
            <a:spAutoFit/>
          </a:bodyPr>
          <a:lstStyle/>
          <a:p>
            <a:pPr>
              <a:defRPr b="1" sz="950">
                <a:solidFill>
                  <a:srgbClr val="DC2626"/>
                </a:solidFill>
              </a:defRPr>
            </a:pPr>
            <a:r>
              <a:t>LEVEL 1: VAGUE</a:t>
            </a:r>
          </a:p>
          <a:p>
            <a:pPr>
              <a:defRPr sz="850">
                <a:solidFill>
                  <a:srgbClr val="1E293B"/>
                </a:solidFill>
              </a:defRPr>
            </a:pPr>
            <a:r>
              <a:t>"Summarize this paper on solar cells."</a:t>
            </a:r>
          </a:p>
        </p:txBody>
      </p:sp>
      <p:sp>
        <p:nvSpPr>
          <p:cNvPr id="13" name="Rounded Rectangle 12"/>
          <p:cNvSpPr/>
          <p:nvPr/>
        </p:nvSpPr>
        <p:spPr>
          <a:xfrm>
            <a:off x="6537960" y="2990088"/>
            <a:ext cx="4663440" cy="5943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44952"/>
            <a:ext cx="4480560" cy="502920"/>
          </a:xfrm>
          <a:prstGeom prst="rect">
            <a:avLst/>
          </a:prstGeom>
          <a:noFill/>
        </p:spPr>
        <p:txBody>
          <a:bodyPr wrap="square" lIns="0" rIns="0" tIns="0" bIns="0">
            <a:spAutoFit/>
          </a:bodyPr>
          <a:lstStyle/>
          <a:p>
            <a:pPr>
              <a:defRPr b="1" sz="950">
                <a:solidFill>
                  <a:srgbClr val="D97706"/>
                </a:solidFill>
              </a:defRPr>
            </a:pPr>
            <a:r>
              <a:t>LEVEL 2: CONTEXTUAL</a:t>
            </a:r>
          </a:p>
          <a:p>
            <a:pPr>
              <a:defRPr sz="850">
                <a:solidFill>
                  <a:srgbClr val="1E293B"/>
                </a:solidFill>
              </a:defRPr>
            </a:pPr>
            <a:r>
              <a:t>"Summarize this perovskite solar cell paper for an M.Tech thesis."</a:t>
            </a:r>
          </a:p>
        </p:txBody>
      </p:sp>
      <p:sp>
        <p:nvSpPr>
          <p:cNvPr id="15" name="Rounded Rectangle 14"/>
          <p:cNvSpPr/>
          <p:nvPr/>
        </p:nvSpPr>
        <p:spPr>
          <a:xfrm>
            <a:off x="6537960" y="3648456"/>
            <a:ext cx="466344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03320"/>
            <a:ext cx="4480560" cy="502920"/>
          </a:xfrm>
          <a:prstGeom prst="rect">
            <a:avLst/>
          </a:prstGeom>
          <a:noFill/>
        </p:spPr>
        <p:txBody>
          <a:bodyPr wrap="square" lIns="0" rIns="0" tIns="0" bIns="0">
            <a:spAutoFit/>
          </a:bodyPr>
          <a:lstStyle/>
          <a:p>
            <a:pPr>
              <a:defRPr b="1" sz="950">
                <a:solidFill>
                  <a:srgbClr val="0F172A"/>
                </a:solidFill>
              </a:defRPr>
            </a:pPr>
            <a:r>
              <a:t>LEVEL 3: STRUCTURED</a:t>
            </a:r>
          </a:p>
          <a:p>
            <a:pPr>
              <a:defRPr sz="850">
                <a:solidFill>
                  <a:srgbClr val="1E293B"/>
                </a:solidFill>
              </a:defRPr>
            </a:pPr>
            <a:r>
              <a:t>"Extract efficiency %, degradation rate, and cost into a 3-column table."</a:t>
            </a:r>
          </a:p>
        </p:txBody>
      </p:sp>
      <p:sp>
        <p:nvSpPr>
          <p:cNvPr id="17" name="Rounded Rectangle 16"/>
          <p:cNvSpPr/>
          <p:nvPr/>
        </p:nvSpPr>
        <p:spPr>
          <a:xfrm>
            <a:off x="6537960" y="4306824"/>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361688"/>
            <a:ext cx="4480560" cy="502920"/>
          </a:xfrm>
          <a:prstGeom prst="rect">
            <a:avLst/>
          </a:prstGeom>
          <a:noFill/>
        </p:spPr>
        <p:txBody>
          <a:bodyPr wrap="square" lIns="0" rIns="0" tIns="0" bIns="0">
            <a:spAutoFit/>
          </a:bodyPr>
          <a:lstStyle/>
          <a:p>
            <a:pPr>
              <a:defRPr b="1" sz="950">
                <a:solidFill>
                  <a:srgbClr val="2563EB"/>
                </a:solidFill>
              </a:defRPr>
            </a:pPr>
            <a:r>
              <a:t>LEVEL 4: EVIDENCE-BASED</a:t>
            </a:r>
          </a:p>
          <a:p>
            <a:pPr>
              <a:defRPr sz="850">
                <a:solidFill>
                  <a:srgbClr val="1E293B"/>
                </a:solidFill>
              </a:defRPr>
            </a:pPr>
            <a:r>
              <a:t>"Extract efficiency metrics citing specific table numbers from the PDF."</a:t>
            </a:r>
          </a:p>
        </p:txBody>
      </p:sp>
      <p:sp>
        <p:nvSpPr>
          <p:cNvPr id="19" name="Rounded Rectangle 18"/>
          <p:cNvSpPr/>
          <p:nvPr/>
        </p:nvSpPr>
        <p:spPr>
          <a:xfrm>
            <a:off x="6537960" y="4965192"/>
            <a:ext cx="4663440" cy="594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20056"/>
            <a:ext cx="4480560" cy="502920"/>
          </a:xfrm>
          <a:prstGeom prst="rect">
            <a:avLst/>
          </a:prstGeom>
          <a:noFill/>
        </p:spPr>
        <p:txBody>
          <a:bodyPr wrap="square" lIns="0" rIns="0" tIns="0" bIns="0">
            <a:spAutoFit/>
          </a:bodyPr>
          <a:lstStyle/>
          <a:p>
            <a:pPr>
              <a:defRPr b="1" sz="950">
                <a:solidFill>
                  <a:srgbClr val="059669"/>
                </a:solidFill>
              </a:defRPr>
            </a:pPr>
            <a:r>
              <a:t>LEVEL 5: VERIFIED</a:t>
            </a:r>
          </a:p>
          <a:p>
            <a:pPr>
              <a:defRPr sz="850">
                <a:solidFill>
                  <a:srgbClr val="1E293B"/>
                </a:solidFill>
              </a:defRPr>
            </a:pPr>
            <a:r>
              <a:t>"Extract metrics with citations; audit whether conclusions match raw data."</a:t>
            </a:r>
          </a:p>
        </p:txBody>
      </p:sp>
      <p:sp>
        <p:nvSpPr>
          <p:cNvPr id="21" name="Rounded Rectangle 20"/>
          <p:cNvSpPr/>
          <p:nvPr/>
        </p:nvSpPr>
        <p:spPr>
          <a:xfrm>
            <a:off x="731520" y="5806440"/>
            <a:ext cx="10728655" cy="50292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Takeaway: </a:t>
            </a:r>
            <a:r>
              <a:rPr b="0" sz="950">
                <a:solidFill>
                  <a:srgbClr val="1E293B"/>
                </a:solidFill>
              </a:rPr>
              <a:t>Always ascend to Level 4 (Evidence-Based) or Level 5 (Verified) before incorporating any AI output into a formal thesis, paper, or research proposal.</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Prompt Engineering Best Practices in Higher Education (2025)</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17 of 33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5: RESEARCH DISCOVERY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AI-Powered Research Discovery &amp; Gap Analysis</a:t>
            </a:r>
          </a:p>
          <a:p>
            <a:pPr>
              <a:spcBef>
                <a:spcPts val="300"/>
              </a:spcBef>
              <a:defRPr sz="1150">
                <a:solidFill>
                  <a:srgbClr val="475569"/>
                </a:solidFill>
                <a:latin typeface="Segoe UI"/>
              </a:defRPr>
            </a:pPr>
            <a:r>
              <a:t>Uncovering emerging technological trends, under-explored niches, and novel dataset intersections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DISCOVERY FRONTIERS IN RESEARCH</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Emerging Trends &amp; Breakthroughs: </a:t>
            </a:r>
            <a:r>
              <a:rPr b="0" sz="1000">
                <a:solidFill>
                  <a:srgbClr val="1E293B"/>
                </a:solidFill>
                <a:latin typeface="Segoe UI"/>
              </a:rPr>
              <a:t>Tracking semantic clustering of arXiv/bioRxiv preprints before formal journal indexing.</a:t>
            </a:r>
          </a:p>
          <a:p>
            <a:pPr>
              <a:spcAft>
                <a:spcPts val="450"/>
              </a:spcAft>
            </a:pPr>
            <a:r>
              <a:rPr b="1" sz="1000">
                <a:solidFill>
                  <a:srgbClr val="1E293B"/>
                </a:solidFill>
                <a:latin typeface="Segoe UI"/>
              </a:rPr>
              <a:t>•  Under-Explored Research Gaps: </a:t>
            </a:r>
            <a:r>
              <a:rPr b="0" sz="1000">
                <a:solidFill>
                  <a:srgbClr val="1E293B"/>
                </a:solidFill>
                <a:latin typeface="Segoe UI"/>
              </a:rPr>
              <a:t>Detecting methodologies that were successful in one domain (e.g., NLP Attention) but unapplied to another (e.g., Power Grid Load Forecasting).</a:t>
            </a:r>
          </a:p>
          <a:p>
            <a:pPr>
              <a:spcAft>
                <a:spcPts val="450"/>
              </a:spcAft>
            </a:pPr>
            <a:r>
              <a:rPr b="1" sz="1000">
                <a:solidFill>
                  <a:srgbClr val="1E293B"/>
                </a:solidFill>
                <a:latin typeface="Segoe UI"/>
              </a:rPr>
              <a:t>•  Competing Paradigms: </a:t>
            </a:r>
            <a:r>
              <a:rPr b="0" sz="1000">
                <a:solidFill>
                  <a:srgbClr val="1E293B"/>
                </a:solidFill>
                <a:latin typeface="Segoe UI"/>
              </a:rPr>
              <a:t>Triangulating rival schools of thought across international research groups.</a:t>
            </a:r>
          </a:p>
          <a:p>
            <a:pPr>
              <a:spcAft>
                <a:spcPts val="450"/>
              </a:spcAft>
            </a:pPr>
            <a:r>
              <a:rPr b="1" sz="1000">
                <a:solidFill>
                  <a:srgbClr val="1E293B"/>
                </a:solidFill>
                <a:latin typeface="Segoe UI"/>
              </a:rPr>
              <a:t>•  Novel Dataset &amp; Benchmark Discovery: </a:t>
            </a:r>
            <a:r>
              <a:rPr b="0" sz="1000">
                <a:solidFill>
                  <a:srgbClr val="1E293B"/>
                </a:solidFill>
                <a:latin typeface="Segoe UI"/>
              </a:rPr>
              <a:t>Finding niche open-access benchmark repositories matching specific experimental parameters.</a:t>
            </a:r>
          </a:p>
          <a:p>
            <a:pPr>
              <a:spcAft>
                <a:spcPts val="450"/>
              </a:spcAft>
            </a:pPr>
            <a:r>
              <a:rPr b="1" sz="1000">
                <a:solidFill>
                  <a:srgbClr val="1E293B"/>
                </a:solidFill>
                <a:latin typeface="Segoe UI"/>
              </a:rPr>
              <a:t>•  Gemini Deep Research Capabilities: </a:t>
            </a:r>
            <a:r>
              <a:rPr b="0" sz="1000">
                <a:solidFill>
                  <a:srgbClr val="1E293B"/>
                </a:solidFill>
                <a:latin typeface="Segoe UI"/>
              </a:rPr>
              <a:t>Performing autonomous multi-step web queries that synthesize hundreds of technical documents into coherent market and research reports.</a:t>
            </a:r>
          </a:p>
        </p:txBody>
      </p:sp>
      <p:sp>
        <p:nvSpPr>
          <p:cNvPr id="9" name="Rounded Rectangle 8"/>
          <p:cNvSpPr/>
          <p:nvPr/>
        </p:nvSpPr>
        <p:spPr>
          <a:xfrm>
            <a:off x="6309360" y="1828800"/>
            <a:ext cx="5120640" cy="38404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D9488"/>
                </a:solidFill>
                <a:latin typeface="Segoe UI"/>
              </a:defRPr>
            </a:pPr>
            <a:r>
              <a:t>THE DISCOVERY-TO-GAP WORKFLOW</a:t>
            </a:r>
          </a:p>
        </p:txBody>
      </p:sp>
      <p:sp>
        <p:nvSpPr>
          <p:cNvPr id="11" name="Rounded Rectangle 10"/>
          <p:cNvSpPr/>
          <p:nvPr/>
        </p:nvSpPr>
        <p:spPr>
          <a:xfrm>
            <a:off x="6537960" y="2331720"/>
            <a:ext cx="4663440" cy="62179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12064"/>
          </a:xfrm>
          <a:prstGeom prst="rect">
            <a:avLst/>
          </a:prstGeom>
          <a:noFill/>
        </p:spPr>
        <p:txBody>
          <a:bodyPr wrap="square" lIns="0" rIns="0" tIns="0" bIns="0">
            <a:spAutoFit/>
          </a:bodyPr>
          <a:lstStyle/>
          <a:p>
            <a:r>
              <a:rPr b="1" sz="900">
                <a:solidFill>
                  <a:srgbClr val="0D9488"/>
                </a:solidFill>
              </a:rPr>
              <a:t>1. BROAD QUESTION SCOPING
</a:t>
            </a:r>
            <a:r>
              <a:rPr sz="850">
                <a:solidFill>
                  <a:srgbClr val="1E293B"/>
                </a:solidFill>
              </a:rPr>
              <a:t>Use Gemini Deep Research / Consensus to query the macro research landscape</a:t>
            </a:r>
          </a:p>
        </p:txBody>
      </p:sp>
      <p:sp>
        <p:nvSpPr>
          <p:cNvPr id="13" name="Rounded Rectangle 12"/>
          <p:cNvSpPr/>
          <p:nvPr/>
        </p:nvSpPr>
        <p:spPr>
          <a:xfrm>
            <a:off x="6537960" y="3008376"/>
            <a:ext cx="4663440" cy="62179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63240"/>
            <a:ext cx="4480560" cy="512064"/>
          </a:xfrm>
          <a:prstGeom prst="rect">
            <a:avLst/>
          </a:prstGeom>
          <a:noFill/>
        </p:spPr>
        <p:txBody>
          <a:bodyPr wrap="square" lIns="0" rIns="0" tIns="0" bIns="0">
            <a:spAutoFit/>
          </a:bodyPr>
          <a:lstStyle/>
          <a:p>
            <a:r>
              <a:rPr b="1" sz="900">
                <a:solidFill>
                  <a:srgbClr val="0D9488"/>
                </a:solidFill>
              </a:rPr>
              <a:t>2. AI-DRIVEN PAPER HARVESTING
</a:t>
            </a:r>
            <a:r>
              <a:rPr sz="850">
                <a:solidFill>
                  <a:srgbClr val="1E293B"/>
                </a:solidFill>
              </a:rPr>
              <a:t>Consensus &amp; Elicit aggregate 40+ empirical studies with key metrics</a:t>
            </a:r>
          </a:p>
        </p:txBody>
      </p:sp>
      <p:sp>
        <p:nvSpPr>
          <p:cNvPr id="15" name="Rounded Rectangle 14"/>
          <p:cNvSpPr/>
          <p:nvPr/>
        </p:nvSpPr>
        <p:spPr>
          <a:xfrm>
            <a:off x="6537960" y="3685032"/>
            <a:ext cx="4663440" cy="62179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39896"/>
            <a:ext cx="4480560" cy="512064"/>
          </a:xfrm>
          <a:prstGeom prst="rect">
            <a:avLst/>
          </a:prstGeom>
          <a:noFill/>
        </p:spPr>
        <p:txBody>
          <a:bodyPr wrap="square" lIns="0" rIns="0" tIns="0" bIns="0">
            <a:spAutoFit/>
          </a:bodyPr>
          <a:lstStyle/>
          <a:p>
            <a:r>
              <a:rPr b="1" sz="900">
                <a:solidFill>
                  <a:srgbClr val="0D9488"/>
                </a:solidFill>
              </a:rPr>
              <a:t>3. HUMAN CRITICAL SCREENING
</a:t>
            </a:r>
            <a:r>
              <a:rPr sz="850">
                <a:solidFill>
                  <a:srgbClr val="1E293B"/>
                </a:solidFill>
              </a:rPr>
              <a:t>Researcher screens abstracts for methodological relevance and quality</a:t>
            </a:r>
          </a:p>
        </p:txBody>
      </p:sp>
      <p:sp>
        <p:nvSpPr>
          <p:cNvPr id="17" name="Rounded Rectangle 16"/>
          <p:cNvSpPr/>
          <p:nvPr/>
        </p:nvSpPr>
        <p:spPr>
          <a:xfrm>
            <a:off x="6537960" y="4361688"/>
            <a:ext cx="4663440" cy="62179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416552"/>
            <a:ext cx="4480560" cy="512064"/>
          </a:xfrm>
          <a:prstGeom prst="rect">
            <a:avLst/>
          </a:prstGeom>
          <a:noFill/>
        </p:spPr>
        <p:txBody>
          <a:bodyPr wrap="square" lIns="0" rIns="0" tIns="0" bIns="0">
            <a:spAutoFit/>
          </a:bodyPr>
          <a:lstStyle/>
          <a:p>
            <a:r>
              <a:rPr b="1" sz="900">
                <a:solidFill>
                  <a:srgbClr val="0D9488"/>
                </a:solidFill>
              </a:rPr>
              <a:t>4. METRIC &amp; GAP EXTRACTION
</a:t>
            </a:r>
            <a:r>
              <a:rPr sz="850">
                <a:solidFill>
                  <a:srgbClr val="1E293B"/>
                </a:solidFill>
              </a:rPr>
              <a:t>Extract reported limitations, failure modes, and open questions</a:t>
            </a:r>
          </a:p>
        </p:txBody>
      </p:sp>
      <p:sp>
        <p:nvSpPr>
          <p:cNvPr id="19" name="Rounded Rectangle 18"/>
          <p:cNvSpPr/>
          <p:nvPr/>
        </p:nvSpPr>
        <p:spPr>
          <a:xfrm>
            <a:off x="6537960" y="5038344"/>
            <a:ext cx="4663440" cy="62179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93208"/>
            <a:ext cx="4480560" cy="512064"/>
          </a:xfrm>
          <a:prstGeom prst="rect">
            <a:avLst/>
          </a:prstGeom>
          <a:noFill/>
        </p:spPr>
        <p:txBody>
          <a:bodyPr wrap="square" lIns="0" rIns="0" tIns="0" bIns="0">
            <a:spAutoFit/>
          </a:bodyPr>
          <a:lstStyle/>
          <a:p>
            <a:r>
              <a:rPr b="1" sz="900">
                <a:solidFill>
                  <a:srgbClr val="0D9488"/>
                </a:solidFill>
              </a:rPr>
              <a:t>5. NOVEL HYPOTHESIS FORMULATION
</a:t>
            </a:r>
            <a:r>
              <a:rPr sz="850">
                <a:solidFill>
                  <a:srgbClr val="1E293B"/>
                </a:solidFill>
              </a:rPr>
              <a:t>Synthesize findings into an unaddressed, testable engineering hypothesis</a:t>
            </a:r>
          </a:p>
        </p:txBody>
      </p:sp>
      <p:sp>
        <p:nvSpPr>
          <p:cNvPr id="21" name="Rounded Rectangle 20"/>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Discovery Maxim: </a:t>
            </a:r>
            <a:r>
              <a:rPr b="0" sz="950">
                <a:solidFill>
                  <a:srgbClr val="1E293B"/>
                </a:solidFill>
              </a:rPr>
              <a:t>A strong research gap is not merely 'nobody has done this before'. It must be 'this remains unsolved because of specific technical bottlenecks, which our proposed method overcomes'.</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Consensus.app / Elicit / Google Deep Research workflows</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18 of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6: JOURNAL PAPER WRITING</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AI in Academic Writing &amp; The IMRaD Framework</a:t>
            </a:r>
          </a:p>
          <a:p>
            <a:pPr>
              <a:spcBef>
                <a:spcPts val="300"/>
              </a:spcBef>
              <a:defRPr sz="1150">
                <a:solidFill>
                  <a:srgbClr val="475569"/>
                </a:solidFill>
                <a:latin typeface="Segoe UI"/>
              </a:defRPr>
            </a:pPr>
            <a:r>
              <a:t>Leveraging AI across manuscript anatomy while preserving genuine scientific authorship and integrity</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828800"/>
          <a:ext cx="10728655" cy="3840480"/>
        </p:xfrm>
        <a:graphic>
          <a:graphicData uri="http://schemas.openxmlformats.org/drawingml/2006/table">
            <a:tbl>
              <a:tblPr firstRow="1" bandRow="1">
                <a:tableStyleId>{5C22544A-7EE6-4342-B048-85BDC9FD1C3A}</a:tableStyleId>
              </a:tblPr>
              <a:tblGrid>
                <a:gridCol w="1645920"/>
                <a:gridCol w="2926080"/>
                <a:gridCol w="3200400"/>
                <a:gridCol w="2956255"/>
              </a:tblGrid>
              <a:tr h="548640">
                <a:tc>
                  <a:txBody>
                    <a:bodyPr/>
                    <a:lstStyle/>
                    <a:p>
                      <a:pPr algn="l">
                        <a:defRPr b="1" sz="1050">
                          <a:solidFill>
                            <a:srgbClr val="FFFFFF"/>
                          </a:solidFill>
                          <a:latin typeface="Segoe UI"/>
                        </a:defRPr>
                      </a:pPr>
                      <a:r>
                        <a:t>Paper Section</a:t>
                      </a:r>
                    </a:p>
                  </a:txBody>
                  <a:tcPr marL="109728" marR="109728" marT="73152" marB="73152">
                    <a:solidFill>
                      <a:srgbClr val="2563EB"/>
                    </a:solidFill>
                  </a:tcPr>
                </a:tc>
                <a:tc>
                  <a:txBody>
                    <a:bodyPr/>
                    <a:lstStyle/>
                    <a:p>
                      <a:pPr algn="l">
                        <a:defRPr b="1" sz="1050">
                          <a:solidFill>
                            <a:srgbClr val="FFFFFF"/>
                          </a:solidFill>
                          <a:latin typeface="Segoe UI"/>
                        </a:defRPr>
                      </a:pPr>
                      <a:r>
                        <a:t>Primary Academic Function</a:t>
                      </a:r>
                    </a:p>
                  </a:txBody>
                  <a:tcPr marL="109728" marR="109728" marT="73152" marB="73152">
                    <a:solidFill>
                      <a:srgbClr val="2563EB"/>
                    </a:solidFill>
                  </a:tcPr>
                </a:tc>
                <a:tc>
                  <a:txBody>
                    <a:bodyPr/>
                    <a:lstStyle/>
                    <a:p>
                      <a:pPr algn="l">
                        <a:defRPr b="1" sz="1050">
                          <a:solidFill>
                            <a:srgbClr val="FFFFFF"/>
                          </a:solidFill>
                          <a:latin typeface="Segoe UI"/>
                        </a:defRPr>
                      </a:pPr>
                      <a:r>
                        <a:t>Appropriate AI Assistance</a:t>
                      </a:r>
                    </a:p>
                  </a:txBody>
                  <a:tcPr marL="109728" marR="109728" marT="73152" marB="73152">
                    <a:solidFill>
                      <a:srgbClr val="2563EB"/>
                    </a:solidFill>
                  </a:tcPr>
                </a:tc>
                <a:tc>
                  <a:txBody>
                    <a:bodyPr/>
                    <a:lstStyle/>
                    <a:p>
                      <a:pPr algn="l">
                        <a:defRPr b="1" sz="1050">
                          <a:solidFill>
                            <a:srgbClr val="FFFFFF"/>
                          </a:solidFill>
                          <a:latin typeface="Segoe UI"/>
                        </a:defRPr>
                      </a:pPr>
                      <a:r>
                        <a:t>Mandatory Author Responsibility</a:t>
                      </a:r>
                    </a:p>
                  </a:txBody>
                  <a:tcPr marL="109728" marR="109728" marT="73152" marB="73152">
                    <a:solidFill>
                      <a:srgbClr val="2563EB"/>
                    </a:solidFill>
                  </a:tcPr>
                </a:tc>
              </a:tr>
              <a:tr h="548640">
                <a:tc>
                  <a:txBody>
                    <a:bodyPr/>
                    <a:lstStyle/>
                    <a:p>
                      <a:pPr algn="l">
                        <a:defRPr sz="1000" b="1">
                          <a:solidFill>
                            <a:srgbClr val="0F172A"/>
                          </a:solidFill>
                          <a:latin typeface="Segoe UI"/>
                        </a:defRPr>
                      </a:pPr>
                      <a:r>
                        <a:t>Title &amp; Abstract</a:t>
                      </a:r>
                    </a:p>
                  </a:txBody>
                  <a:tcPr marL="109728" marR="109728" marT="73152" marB="73152">
                    <a:solidFill>
                      <a:srgbClr val="FFFFFF"/>
                    </a:solidFill>
                  </a:tcPr>
                </a:tc>
                <a:tc>
                  <a:txBody>
                    <a:bodyPr/>
                    <a:lstStyle/>
                    <a:p>
                      <a:pPr algn="l">
                        <a:defRPr sz="1000">
                          <a:solidFill>
                            <a:srgbClr val="1E293B"/>
                          </a:solidFill>
                          <a:latin typeface="Segoe UI"/>
                        </a:defRPr>
                      </a:pPr>
                      <a:r>
                        <a:t>Concise synthesis of problem, method, and key findings</a:t>
                      </a:r>
                    </a:p>
                  </a:txBody>
                  <a:tcPr marL="109728" marR="109728" marT="73152" marB="73152">
                    <a:solidFill>
                      <a:srgbClr val="FFFFFF"/>
                    </a:solidFill>
                  </a:tcPr>
                </a:tc>
                <a:tc>
                  <a:txBody>
                    <a:bodyPr/>
                    <a:lstStyle/>
                    <a:p>
                      <a:pPr algn="l">
                        <a:defRPr sz="1000">
                          <a:solidFill>
                            <a:srgbClr val="1E293B"/>
                          </a:solidFill>
                          <a:latin typeface="Segoe UI"/>
                        </a:defRPr>
                      </a:pPr>
                      <a:r>
                        <a:t>Drafting alternative title variations; condensing abstract to exact 200-word journal limits</a:t>
                      </a:r>
                    </a:p>
                  </a:txBody>
                  <a:tcPr marL="109728" marR="109728" marT="73152" marB="73152">
                    <a:solidFill>
                      <a:srgbClr val="FFFFFF"/>
                    </a:solidFill>
                  </a:tcPr>
                </a:tc>
                <a:tc>
                  <a:txBody>
                    <a:bodyPr/>
                    <a:lstStyle/>
                    <a:p>
                      <a:pPr algn="l">
                        <a:defRPr sz="1000">
                          <a:solidFill>
                            <a:srgbClr val="1E293B"/>
                          </a:solidFill>
                          <a:latin typeface="Segoe UI"/>
                        </a:defRPr>
                      </a:pPr>
                      <a:r>
                        <a:t>Author guarantees 100% factual accuracy and selects the final title</a:t>
                      </a:r>
                    </a:p>
                  </a:txBody>
                  <a:tcPr marL="109728" marR="109728" marT="73152" marB="73152">
                    <a:solidFill>
                      <a:srgbClr val="FFFFFF"/>
                    </a:solidFill>
                  </a:tcPr>
                </a:tc>
              </a:tr>
              <a:tr h="548640">
                <a:tc>
                  <a:txBody>
                    <a:bodyPr/>
                    <a:lstStyle/>
                    <a:p>
                      <a:pPr algn="l">
                        <a:defRPr sz="1000" b="1">
                          <a:solidFill>
                            <a:srgbClr val="0F172A"/>
                          </a:solidFill>
                          <a:latin typeface="Segoe UI"/>
                        </a:defRPr>
                      </a:pPr>
                      <a:r>
                        <a:t>Introduction</a:t>
                      </a:r>
                    </a:p>
                  </a:txBody>
                  <a:tcPr marL="109728" marR="109728" marT="73152" marB="73152">
                    <a:solidFill>
                      <a:srgbClr val="F1F5F9"/>
                    </a:solidFill>
                  </a:tcPr>
                </a:tc>
                <a:tc>
                  <a:txBody>
                    <a:bodyPr/>
                    <a:lstStyle/>
                    <a:p>
                      <a:pPr algn="l">
                        <a:defRPr sz="1000">
                          <a:solidFill>
                            <a:srgbClr val="1E293B"/>
                          </a:solidFill>
                          <a:latin typeface="Segoe UI"/>
                        </a:defRPr>
                      </a:pPr>
                      <a:r>
                        <a:t>Establishing context, motivation, prior art, and novel contribution</a:t>
                      </a:r>
                    </a:p>
                  </a:txBody>
                  <a:tcPr marL="109728" marR="109728" marT="73152" marB="73152">
                    <a:solidFill>
                      <a:srgbClr val="F1F5F9"/>
                    </a:solidFill>
                  </a:tcPr>
                </a:tc>
                <a:tc>
                  <a:txBody>
                    <a:bodyPr/>
                    <a:lstStyle/>
                    <a:p>
                      <a:pPr algn="l">
                        <a:defRPr sz="1000">
                          <a:solidFill>
                            <a:srgbClr val="1E293B"/>
                          </a:solidFill>
                          <a:latin typeface="Segoe UI"/>
                        </a:defRPr>
                      </a:pPr>
                      <a:r>
                        <a:t>Refining introductory narrative flow; polishing transitions between paragraphs</a:t>
                      </a:r>
                    </a:p>
                  </a:txBody>
                  <a:tcPr marL="109728" marR="109728" marT="73152" marB="73152">
                    <a:solidFill>
                      <a:srgbClr val="F1F5F9"/>
                    </a:solidFill>
                  </a:tcPr>
                </a:tc>
                <a:tc>
                  <a:txBody>
                    <a:bodyPr/>
                    <a:lstStyle/>
                    <a:p>
                      <a:pPr algn="l">
                        <a:defRPr sz="1000">
                          <a:solidFill>
                            <a:srgbClr val="1E293B"/>
                          </a:solidFill>
                          <a:latin typeface="Segoe UI"/>
                        </a:defRPr>
                      </a:pPr>
                      <a:r>
                        <a:t>Author conceives the true research gap and explicitly owns the novelty statement</a:t>
                      </a:r>
                    </a:p>
                  </a:txBody>
                  <a:tcPr marL="109728" marR="109728" marT="73152" marB="73152">
                    <a:solidFill>
                      <a:srgbClr val="F1F5F9"/>
                    </a:solidFill>
                  </a:tcPr>
                </a:tc>
              </a:tr>
              <a:tr h="548640">
                <a:tc>
                  <a:txBody>
                    <a:bodyPr/>
                    <a:lstStyle/>
                    <a:p>
                      <a:pPr algn="l">
                        <a:defRPr sz="1000" b="1">
                          <a:solidFill>
                            <a:srgbClr val="0F172A"/>
                          </a:solidFill>
                          <a:latin typeface="Segoe UI"/>
                        </a:defRPr>
                      </a:pPr>
                      <a:r>
                        <a:t>Methodology</a:t>
                      </a:r>
                    </a:p>
                  </a:txBody>
                  <a:tcPr marL="109728" marR="109728" marT="73152" marB="73152">
                    <a:solidFill>
                      <a:srgbClr val="FFFFFF"/>
                    </a:solidFill>
                  </a:tcPr>
                </a:tc>
                <a:tc>
                  <a:txBody>
                    <a:bodyPr/>
                    <a:lstStyle/>
                    <a:p>
                      <a:pPr algn="l">
                        <a:defRPr sz="1000">
                          <a:solidFill>
                            <a:srgbClr val="1E293B"/>
                          </a:solidFill>
                          <a:latin typeface="Segoe UI"/>
                        </a:defRPr>
                      </a:pPr>
                      <a:r>
                        <a:t>Exhaustive, step-by-step description of experimental design</a:t>
                      </a:r>
                    </a:p>
                  </a:txBody>
                  <a:tcPr marL="109728" marR="109728" marT="73152" marB="73152">
                    <a:solidFill>
                      <a:srgbClr val="FFFFFF"/>
                    </a:solidFill>
                  </a:tcPr>
                </a:tc>
                <a:tc>
                  <a:txBody>
                    <a:bodyPr/>
                    <a:lstStyle/>
                    <a:p>
                      <a:pPr algn="l">
                        <a:defRPr sz="1000">
                          <a:solidFill>
                            <a:srgbClr val="1E293B"/>
                          </a:solidFill>
                          <a:latin typeface="Segoe UI"/>
                        </a:defRPr>
                      </a:pPr>
                      <a:r>
                        <a:t>Generating formatted LaTeX equations, algorithmic pseudocode, and system block diagrams</a:t>
                      </a:r>
                    </a:p>
                  </a:txBody>
                  <a:tcPr marL="109728" marR="109728" marT="73152" marB="73152">
                    <a:solidFill>
                      <a:srgbClr val="FFFFFF"/>
                    </a:solidFill>
                  </a:tcPr>
                </a:tc>
                <a:tc>
                  <a:txBody>
                    <a:bodyPr/>
                    <a:lstStyle/>
                    <a:p>
                      <a:pPr algn="l">
                        <a:defRPr sz="1000">
                          <a:solidFill>
                            <a:srgbClr val="1E293B"/>
                          </a:solidFill>
                          <a:latin typeface="Segoe UI"/>
                        </a:defRPr>
                      </a:pPr>
                      <a:r>
                        <a:t>Author verifies that parameters, mathematical proofs, and setups are fully reproducible</a:t>
                      </a:r>
                    </a:p>
                  </a:txBody>
                  <a:tcPr marL="109728" marR="109728" marT="73152" marB="73152">
                    <a:solidFill>
                      <a:srgbClr val="FFFFFF"/>
                    </a:solidFill>
                  </a:tcPr>
                </a:tc>
              </a:tr>
              <a:tr h="548640">
                <a:tc>
                  <a:txBody>
                    <a:bodyPr/>
                    <a:lstStyle/>
                    <a:p>
                      <a:pPr algn="l">
                        <a:defRPr sz="1000" b="1">
                          <a:solidFill>
                            <a:srgbClr val="0F172A"/>
                          </a:solidFill>
                          <a:latin typeface="Segoe UI"/>
                        </a:defRPr>
                      </a:pPr>
                      <a:r>
                        <a:t>Results</a:t>
                      </a:r>
                    </a:p>
                  </a:txBody>
                  <a:tcPr marL="109728" marR="109728" marT="73152" marB="73152">
                    <a:solidFill>
                      <a:srgbClr val="F1F5F9"/>
                    </a:solidFill>
                  </a:tcPr>
                </a:tc>
                <a:tc>
                  <a:txBody>
                    <a:bodyPr/>
                    <a:lstStyle/>
                    <a:p>
                      <a:pPr algn="l">
                        <a:defRPr sz="1000">
                          <a:solidFill>
                            <a:srgbClr val="1E293B"/>
                          </a:solidFill>
                          <a:latin typeface="Segoe UI"/>
                        </a:defRPr>
                      </a:pPr>
                      <a:r>
                        <a:t>Empirical data presentation, tables, charts, and statistical tests</a:t>
                      </a:r>
                    </a:p>
                  </a:txBody>
                  <a:tcPr marL="109728" marR="109728" marT="73152" marB="73152">
                    <a:solidFill>
                      <a:srgbClr val="F1F5F9"/>
                    </a:solidFill>
                  </a:tcPr>
                </a:tc>
                <a:tc>
                  <a:txBody>
                    <a:bodyPr/>
                    <a:lstStyle/>
                    <a:p>
                      <a:pPr algn="l">
                        <a:defRPr sz="1000">
                          <a:solidFill>
                            <a:srgbClr val="1E293B"/>
                          </a:solidFill>
                          <a:latin typeface="Segoe UI"/>
                        </a:defRPr>
                      </a:pPr>
                      <a:r>
                        <a:t>Formatting publication-quality LaTeX tables; drafting objective descriptive figure captions</a:t>
                      </a:r>
                    </a:p>
                  </a:txBody>
                  <a:tcPr marL="109728" marR="109728" marT="73152" marB="73152">
                    <a:solidFill>
                      <a:srgbClr val="F1F5F9"/>
                    </a:solidFill>
                  </a:tcPr>
                </a:tc>
                <a:tc>
                  <a:txBody>
                    <a:bodyPr/>
                    <a:lstStyle/>
                    <a:p>
                      <a:pPr algn="l">
                        <a:defRPr sz="1000">
                          <a:solidFill>
                            <a:srgbClr val="1E293B"/>
                          </a:solidFill>
                          <a:latin typeface="Segoe UI"/>
                        </a:defRPr>
                      </a:pPr>
                      <a:r>
                        <a:t>Author provides 100% genuine experimental numbers; NEVER synthesize fake results</a:t>
                      </a:r>
                    </a:p>
                  </a:txBody>
                  <a:tcPr marL="109728" marR="109728" marT="73152" marB="73152">
                    <a:solidFill>
                      <a:srgbClr val="F1F5F9"/>
                    </a:solidFill>
                  </a:tcPr>
                </a:tc>
              </a:tr>
              <a:tr h="548640">
                <a:tc>
                  <a:txBody>
                    <a:bodyPr/>
                    <a:lstStyle/>
                    <a:p>
                      <a:pPr algn="l">
                        <a:defRPr sz="1000" b="1">
                          <a:solidFill>
                            <a:srgbClr val="0F172A"/>
                          </a:solidFill>
                          <a:latin typeface="Segoe UI"/>
                        </a:defRPr>
                      </a:pPr>
                      <a:r>
                        <a:t>Discussion</a:t>
                      </a:r>
                    </a:p>
                  </a:txBody>
                  <a:tcPr marL="109728" marR="109728" marT="73152" marB="73152">
                    <a:solidFill>
                      <a:srgbClr val="FFFFFF"/>
                    </a:solidFill>
                  </a:tcPr>
                </a:tc>
                <a:tc>
                  <a:txBody>
                    <a:bodyPr/>
                    <a:lstStyle/>
                    <a:p>
                      <a:pPr algn="l">
                        <a:defRPr sz="1000">
                          <a:solidFill>
                            <a:srgbClr val="1E293B"/>
                          </a:solidFill>
                          <a:latin typeface="Segoe UI"/>
                        </a:defRPr>
                      </a:pPr>
                      <a:r>
                        <a:t>Interpreting significance, theoretical implications, and limitations</a:t>
                      </a:r>
                    </a:p>
                  </a:txBody>
                  <a:tcPr marL="109728" marR="109728" marT="73152" marB="73152">
                    <a:solidFill>
                      <a:srgbClr val="FFFFFF"/>
                    </a:solidFill>
                  </a:tcPr>
                </a:tc>
                <a:tc>
                  <a:txBody>
                    <a:bodyPr/>
                    <a:lstStyle/>
                    <a:p>
                      <a:pPr algn="l">
                        <a:defRPr sz="1000">
                          <a:solidFill>
                            <a:srgbClr val="1E293B"/>
                          </a:solidFill>
                          <a:latin typeface="Segoe UI"/>
                        </a:defRPr>
                      </a:pPr>
                      <a:r>
                        <a:t>Brainstorming potential application domains; structuring comparisons with prior art</a:t>
                      </a:r>
                    </a:p>
                  </a:txBody>
                  <a:tcPr marL="109728" marR="109728" marT="73152" marB="73152">
                    <a:solidFill>
                      <a:srgbClr val="FFFFFF"/>
                    </a:solidFill>
                  </a:tcPr>
                </a:tc>
                <a:tc>
                  <a:txBody>
                    <a:bodyPr/>
                    <a:lstStyle/>
                    <a:p>
                      <a:pPr algn="l">
                        <a:defRPr sz="1000">
                          <a:solidFill>
                            <a:srgbClr val="1E293B"/>
                          </a:solidFill>
                          <a:latin typeface="Segoe UI"/>
                        </a:defRPr>
                      </a:pPr>
                      <a:r>
                        <a:t>Author critically interprets physical/biological implications and acknowledges flaws</a:t>
                      </a:r>
                    </a:p>
                  </a:txBody>
                  <a:tcPr marL="109728" marR="109728" marT="73152" marB="73152">
                    <a:solidFill>
                      <a:srgbClr val="FFFFFF"/>
                    </a:solidFill>
                  </a:tcPr>
                </a:tc>
              </a:tr>
              <a:tr h="548640">
                <a:tc>
                  <a:txBody>
                    <a:bodyPr/>
                    <a:lstStyle/>
                    <a:p>
                      <a:pPr algn="l">
                        <a:defRPr sz="1000" b="1">
                          <a:solidFill>
                            <a:srgbClr val="0F172A"/>
                          </a:solidFill>
                          <a:latin typeface="Segoe UI"/>
                        </a:defRPr>
                      </a:pPr>
                      <a:r>
                        <a:t>References</a:t>
                      </a:r>
                    </a:p>
                  </a:txBody>
                  <a:tcPr marL="109728" marR="109728" marT="73152" marB="73152">
                    <a:solidFill>
                      <a:srgbClr val="F1F5F9"/>
                    </a:solidFill>
                  </a:tcPr>
                </a:tc>
                <a:tc>
                  <a:txBody>
                    <a:bodyPr/>
                    <a:lstStyle/>
                    <a:p>
                      <a:pPr algn="l">
                        <a:defRPr sz="1000">
                          <a:solidFill>
                            <a:srgbClr val="1E293B"/>
                          </a:solidFill>
                          <a:latin typeface="Segoe UI"/>
                        </a:defRPr>
                      </a:pPr>
                      <a:r>
                        <a:t>Formal attribution of scholarly evidence and prior art</a:t>
                      </a:r>
                    </a:p>
                  </a:txBody>
                  <a:tcPr marL="109728" marR="109728" marT="73152" marB="73152">
                    <a:solidFill>
                      <a:srgbClr val="F1F5F9"/>
                    </a:solidFill>
                  </a:tcPr>
                </a:tc>
                <a:tc>
                  <a:txBody>
                    <a:bodyPr/>
                    <a:lstStyle/>
                    <a:p>
                      <a:pPr algn="l">
                        <a:defRPr sz="1000">
                          <a:solidFill>
                            <a:srgbClr val="1E293B"/>
                          </a:solidFill>
                          <a:latin typeface="Segoe UI"/>
                        </a:defRPr>
                      </a:pPr>
                      <a:r>
                        <a:t>Formatting BibTeX entries into APA, IEEE, or Harvard reference styles</a:t>
                      </a:r>
                    </a:p>
                  </a:txBody>
                  <a:tcPr marL="109728" marR="109728" marT="73152" marB="73152">
                    <a:solidFill>
                      <a:srgbClr val="F1F5F9"/>
                    </a:solidFill>
                  </a:tcPr>
                </a:tc>
                <a:tc>
                  <a:txBody>
                    <a:bodyPr/>
                    <a:lstStyle/>
                    <a:p>
                      <a:pPr algn="l">
                        <a:defRPr sz="1000">
                          <a:solidFill>
                            <a:srgbClr val="1E293B"/>
                          </a:solidFill>
                          <a:latin typeface="Segoe UI"/>
                        </a:defRPr>
                      </a:pPr>
                      <a:r>
                        <a:t>Author manually verifies every single citation; NEVER allow AI to fabricate references</a:t>
                      </a:r>
                    </a:p>
                  </a:txBody>
                  <a:tcPr marL="109728" marR="109728" marT="73152" marB="73152">
                    <a:solidFill>
                      <a:srgbClr val="F1F5F9"/>
                    </a:solidFill>
                  </a:tcPr>
                </a:tc>
              </a:tr>
            </a:tbl>
          </a:graphicData>
        </a:graphic>
      </p:graphicFrame>
      <p:sp>
        <p:nvSpPr>
          <p:cNvPr id="7" name="Rounded Rectangle 6"/>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ICMJE / COPE Authorship Standard: </a:t>
            </a:r>
            <a:r>
              <a:rPr b="0" sz="950">
                <a:solidFill>
                  <a:srgbClr val="1E293B"/>
                </a:solidFill>
              </a:rPr>
              <a:t>AI tools (ChatGPT, Gemini, Paperpal) CANNOT be credited as authors. Authorship requires accountability for public integrity, which only human researchers can shoulder.</a:t>
            </a: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Guidelines: Committee on Publication Ethics (COPE) / IEEE Author Center</a:t>
            </a:r>
          </a:p>
        </p:txBody>
      </p:sp>
      <p:sp>
        <p:nvSpPr>
          <p:cNvPr id="11" name="TextBox 10"/>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19 of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TOOL DEEP DIVE</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Paperpal: Academic Writing &amp; Journal Readiness</a:t>
            </a:r>
          </a:p>
          <a:p>
            <a:pPr>
              <a:spcBef>
                <a:spcPts val="300"/>
              </a:spcBef>
              <a:defRPr sz="1150">
                <a:solidFill>
                  <a:srgbClr val="475569"/>
                </a:solidFill>
                <a:latin typeface="Segoe UI"/>
              </a:defRPr>
            </a:pPr>
            <a:r>
              <a:t>Specialized academic language improvement, word count reduction, and submission compliance checks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CORE ACADEMIC CAPABILITIES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00"/>
              </a:spcAft>
            </a:pPr>
            <a:r>
              <a:rPr b="1" sz="950">
                <a:solidFill>
                  <a:srgbClr val="1E293B"/>
                </a:solidFill>
                <a:latin typeface="Segoe UI"/>
              </a:rPr>
              <a:t>•  Academic Grammar &amp; Syntax: </a:t>
            </a:r>
            <a:r>
              <a:rPr b="0" sz="950">
                <a:solidFill>
                  <a:srgbClr val="1E293B"/>
                </a:solidFill>
                <a:latin typeface="Segoe UI"/>
              </a:rPr>
              <a:t>Trained on millions of peer-reviewed journal manuscripts to identify scholarly grammar nuances that generic checkers miss.</a:t>
            </a:r>
          </a:p>
          <a:p>
            <a:pPr>
              <a:spcAft>
                <a:spcPts val="400"/>
              </a:spcAft>
            </a:pPr>
            <a:r>
              <a:rPr b="1" sz="950">
                <a:solidFill>
                  <a:srgbClr val="1E293B"/>
                </a:solidFill>
                <a:latin typeface="Segoe UI"/>
              </a:rPr>
              <a:t>•  Vocabulary Enhancement: </a:t>
            </a:r>
            <a:r>
              <a:rPr b="0" sz="950">
                <a:solidFill>
                  <a:srgbClr val="1E293B"/>
                </a:solidFill>
                <a:latin typeface="Segoe UI"/>
              </a:rPr>
              <a:t>Suggests formal, discipline-specific academic phrases (e.g., replaces 'got better results' with 'exhibited superior convergence characteristics').</a:t>
            </a:r>
          </a:p>
          <a:p>
            <a:pPr>
              <a:spcAft>
                <a:spcPts val="400"/>
              </a:spcAft>
            </a:pPr>
            <a:r>
              <a:rPr b="1" sz="950">
                <a:solidFill>
                  <a:srgbClr val="1E293B"/>
                </a:solidFill>
                <a:latin typeface="Segoe UI"/>
              </a:rPr>
              <a:t>•  Trimming &amp; Word Reduction: </a:t>
            </a:r>
            <a:r>
              <a:rPr b="0" sz="950">
                <a:solidFill>
                  <a:srgbClr val="1E293B"/>
                </a:solidFill>
                <a:latin typeface="Segoe UI"/>
              </a:rPr>
              <a:t>Intelligently condenses verbose sentences by 15–25% to meet strict journal length limitations without losing technical meaning.</a:t>
            </a:r>
          </a:p>
          <a:p>
            <a:pPr>
              <a:spcAft>
                <a:spcPts val="400"/>
              </a:spcAft>
            </a:pPr>
            <a:r>
              <a:rPr b="1" sz="950">
                <a:solidFill>
                  <a:srgbClr val="1E293B"/>
                </a:solidFill>
                <a:latin typeface="Segoe UI"/>
              </a:rPr>
              <a:t>•  Academic Translation: </a:t>
            </a:r>
            <a:r>
              <a:rPr b="0" sz="950">
                <a:solidFill>
                  <a:srgbClr val="1E293B"/>
                </a:solidFill>
                <a:latin typeface="Segoe UI"/>
              </a:rPr>
              <a:t>Translates non-native academic drafts into publication-grade English while preserving specialized terminology.</a:t>
            </a:r>
          </a:p>
          <a:p>
            <a:pPr>
              <a:spcAft>
                <a:spcPts val="400"/>
              </a:spcAft>
            </a:pPr>
            <a:r>
              <a:rPr b="1" sz="950">
                <a:solidFill>
                  <a:srgbClr val="1E293B"/>
                </a:solidFill>
                <a:latin typeface="Segoe UI"/>
              </a:rPr>
              <a:t>•  Journal Pre-Submission Screening: </a:t>
            </a:r>
            <a:r>
              <a:rPr b="0" sz="950">
                <a:solidFill>
                  <a:srgbClr val="1E293B"/>
                </a:solidFill>
                <a:latin typeface="Segoe UI"/>
              </a:rPr>
              <a:t>Audits manuscripts for missing ethical declarations, caption formatting, self-citation ratios, and plagiarism.</a:t>
            </a:r>
          </a:p>
        </p:txBody>
      </p:sp>
      <p:sp>
        <p:nvSpPr>
          <p:cNvPr id="9" name="Rounded Rectangle 8"/>
          <p:cNvSpPr/>
          <p:nvPr/>
        </p:nvSpPr>
        <p:spPr>
          <a:xfrm>
            <a:off x="630936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SUBMISSION PIPELINE &amp; BOUNDARIES</a:t>
            </a:r>
          </a:p>
        </p:txBody>
      </p:sp>
      <p:sp>
        <p:nvSpPr>
          <p:cNvPr id="11" name="TextBox 10"/>
          <p:cNvSpPr txBox="1"/>
          <p:nvPr/>
        </p:nvSpPr>
        <p:spPr>
          <a:xfrm>
            <a:off x="6537960" y="2331720"/>
            <a:ext cx="4663440" cy="3200400"/>
          </a:xfrm>
          <a:prstGeom prst="rect">
            <a:avLst/>
          </a:prstGeom>
          <a:noFill/>
        </p:spPr>
        <p:txBody>
          <a:bodyPr wrap="square">
            <a:spAutoFit/>
          </a:bodyPr>
          <a:lstStyle/>
          <a:p>
            <a:pPr>
              <a:defRPr b="1" sz="1000">
                <a:solidFill>
                  <a:srgbClr val="2563EB"/>
                </a:solidFill>
              </a:defRPr>
            </a:pPr>
            <a:r>
              <a:t>The 6-Stage Journal Polishing Pipeline:</a:t>
            </a:r>
          </a:p>
          <a:p>
            <a:pPr>
              <a:spcBef>
                <a:spcPts val="300"/>
              </a:spcBef>
              <a:spcAft>
                <a:spcPts val="600"/>
              </a:spcAft>
              <a:defRPr b="1" sz="850">
                <a:solidFill>
                  <a:srgbClr val="0F172A"/>
                </a:solidFill>
                <a:latin typeface="Segoe UI"/>
              </a:defRPr>
            </a:pPr>
            <a:r>
              <a:t>RAW DRAFT → GRAMMAR AUDIT → VOCABULARY POLISH → WORD TRIMMING → JOURNAL COMPLIANCE CHECK → FINAL AUTHOR REVIEW</a:t>
            </a:r>
          </a:p>
          <a:p>
            <a:pPr>
              <a:spcAft>
                <a:spcPts val="400"/>
              </a:spcAft>
            </a:pPr>
            <a:r>
              <a:rPr b="1" sz="950">
                <a:solidFill>
                  <a:srgbClr val="1E293B"/>
                </a:solidFill>
                <a:latin typeface="Segoe UI"/>
              </a:rPr>
              <a:t>•  Primary Advantage: </a:t>
            </a:r>
            <a:r>
              <a:rPr b="0" sz="950">
                <a:solidFill>
                  <a:srgbClr val="1E293B"/>
                </a:solidFill>
                <a:latin typeface="Segoe UI"/>
              </a:rPr>
              <a:t>Built-in MS Word and Overleaf web add-ins for seamless real-time academic editing.</a:t>
            </a:r>
          </a:p>
          <a:p>
            <a:pPr>
              <a:spcAft>
                <a:spcPts val="400"/>
              </a:spcAft>
            </a:pPr>
            <a:r>
              <a:rPr b="1" sz="950">
                <a:solidFill>
                  <a:srgbClr val="1E293B"/>
                </a:solidFill>
                <a:latin typeface="Segoe UI"/>
              </a:rPr>
              <a:t>•  Primary Advantage: </a:t>
            </a:r>
            <a:r>
              <a:rPr b="0" sz="950">
                <a:solidFill>
                  <a:srgbClr val="1E293B"/>
                </a:solidFill>
                <a:latin typeface="Segoe UI"/>
              </a:rPr>
              <a:t>Specifically aligned with IEEE, Elsevier, Springer, and Nature formatting guidelines.</a:t>
            </a:r>
          </a:p>
          <a:p>
            <a:pPr>
              <a:spcAft>
                <a:spcPts val="400"/>
              </a:spcAft>
            </a:pPr>
            <a:r>
              <a:rPr b="1" sz="950">
                <a:solidFill>
                  <a:srgbClr val="1E293B"/>
                </a:solidFill>
                <a:latin typeface="Segoe UI"/>
              </a:rPr>
              <a:t>•  Key Limitation: </a:t>
            </a:r>
            <a:r>
              <a:rPr b="0" sz="950">
                <a:solidFill>
                  <a:srgbClr val="1E293B"/>
                </a:solidFill>
                <a:latin typeface="Segoe UI"/>
              </a:rPr>
              <a:t>Freemium model restricts full pre-submission checks to paid institutional tiers.</a:t>
            </a:r>
          </a:p>
          <a:p>
            <a:pPr>
              <a:spcAft>
                <a:spcPts val="400"/>
              </a:spcAft>
            </a:pPr>
            <a:r>
              <a:rPr b="1" sz="950">
                <a:solidFill>
                  <a:srgbClr val="1E293B"/>
                </a:solidFill>
                <a:latin typeface="Segoe UI"/>
              </a:rPr>
              <a:t>•  Critical Boundary: </a:t>
            </a:r>
            <a:r>
              <a:rPr b="0" sz="950">
                <a:solidFill>
                  <a:srgbClr val="1E293B"/>
                </a:solidFill>
                <a:latin typeface="Segoe UI"/>
              </a:rPr>
              <a:t>Paperpal fixes language quality, NOT flawed experimental design, logic, or invalid math.</a:t>
            </a:r>
          </a:p>
        </p:txBody>
      </p:sp>
      <p:sp>
        <p:nvSpPr>
          <p:cNvPr id="12" name="Rounded Rectangle 11"/>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Practical Takeaway: </a:t>
            </a:r>
            <a:r>
              <a:rPr b="0" sz="950">
                <a:solidFill>
                  <a:srgbClr val="1E293B"/>
                </a:solidFill>
              </a:rPr>
              <a:t>Use Paperpal as a digital language mentor to learn formal scholarly phrasing, rather than blindly accepting every suggested modification.</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paperpal.com documentation &amp; academic editorial metrics</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20 of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7: PROJECT PROPOSALS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The 12 Mandatory Components of a Project Proposal</a:t>
            </a:r>
          </a:p>
          <a:p>
            <a:pPr>
              <a:spcBef>
                <a:spcPts val="300"/>
              </a:spcBef>
              <a:defRPr sz="1150">
                <a:solidFill>
                  <a:srgbClr val="475569"/>
                </a:solidFill>
                <a:latin typeface="Segoe UI"/>
              </a:defRPr>
            </a:pPr>
            <a:r>
              <a:t>Structuring winning capstone, thesis, and funded research proposals with targeted AI assistance</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21208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PROPOSAL ANATOMY: SECTIONS 1–6</a:t>
            </a:r>
          </a:p>
        </p:txBody>
      </p:sp>
      <p:sp>
        <p:nvSpPr>
          <p:cNvPr id="8" name="TextBox 7"/>
          <p:cNvSpPr txBox="1"/>
          <p:nvPr/>
        </p:nvSpPr>
        <p:spPr>
          <a:xfrm>
            <a:off x="960120" y="2331720"/>
            <a:ext cx="4754880" cy="3200400"/>
          </a:xfrm>
          <a:prstGeom prst="rect">
            <a:avLst/>
          </a:prstGeom>
          <a:noFill/>
        </p:spPr>
        <p:txBody>
          <a:bodyPr wrap="none">
            <a:spAutoFit/>
          </a:bodyPr>
          <a:lstStyle/>
          <a:p>
            <a:pPr>
              <a:spcAft>
                <a:spcPts val="450"/>
              </a:spcAft>
            </a:pPr>
            <a:r>
              <a:rPr b="1" sz="950">
                <a:solidFill>
                  <a:srgbClr val="1E293B"/>
                </a:solidFill>
                <a:latin typeface="Segoe UI"/>
              </a:rPr>
              <a:t>•  1. Project Title: </a:t>
            </a:r>
            <a:r>
              <a:rPr b="0" sz="950">
                <a:solidFill>
                  <a:srgbClr val="1E293B"/>
                </a:solidFill>
                <a:latin typeface="Segoe UI"/>
              </a:rPr>
              <a:t>Clear, technically specific, and outcome-oriented</a:t>
            </a:r>
          </a:p>
          <a:p>
            <a:pPr>
              <a:spcAft>
                <a:spcPts val="450"/>
              </a:spcAft>
            </a:pPr>
            <a:r>
              <a:rPr b="1" sz="950">
                <a:solidFill>
                  <a:srgbClr val="1E293B"/>
                </a:solidFill>
                <a:latin typeface="Segoe UI"/>
              </a:rPr>
              <a:t>•  2. Abstract / Executive Summary: </a:t>
            </a:r>
            <a:r>
              <a:rPr b="0" sz="950">
                <a:solidFill>
                  <a:srgbClr val="1E293B"/>
                </a:solidFill>
                <a:latin typeface="Segoe UI"/>
              </a:rPr>
              <a:t>Problem, proposed method, and expected impact</a:t>
            </a:r>
          </a:p>
          <a:p>
            <a:pPr>
              <a:spcAft>
                <a:spcPts val="450"/>
              </a:spcAft>
            </a:pPr>
            <a:r>
              <a:rPr b="1" sz="950">
                <a:solidFill>
                  <a:srgbClr val="1E293B"/>
                </a:solidFill>
                <a:latin typeface="Segoe UI"/>
              </a:rPr>
              <a:t>•  3. Problem Statement: </a:t>
            </a:r>
            <a:r>
              <a:rPr b="0" sz="950">
                <a:solidFill>
                  <a:srgbClr val="1E293B"/>
                </a:solidFill>
                <a:latin typeface="Segoe UI"/>
              </a:rPr>
              <a:t>Quantifiable engineering bottleneck being tackled</a:t>
            </a:r>
          </a:p>
          <a:p>
            <a:pPr>
              <a:spcAft>
                <a:spcPts val="450"/>
              </a:spcAft>
            </a:pPr>
            <a:r>
              <a:rPr b="1" sz="950">
                <a:solidFill>
                  <a:srgbClr val="1E293B"/>
                </a:solidFill>
                <a:latin typeface="Segoe UI"/>
              </a:rPr>
              <a:t>•  4. Motivation &amp; Societal Need: </a:t>
            </a:r>
            <a:r>
              <a:rPr b="0" sz="950">
                <a:solidFill>
                  <a:srgbClr val="1E293B"/>
                </a:solidFill>
                <a:latin typeface="Segoe UI"/>
              </a:rPr>
              <a:t>Why this project matters to industry or humanity</a:t>
            </a:r>
          </a:p>
          <a:p>
            <a:pPr>
              <a:spcAft>
                <a:spcPts val="450"/>
              </a:spcAft>
            </a:pPr>
            <a:r>
              <a:rPr b="1" sz="950">
                <a:solidFill>
                  <a:srgbClr val="1E293B"/>
                </a:solidFill>
                <a:latin typeface="Segoe UI"/>
              </a:rPr>
              <a:t>•  5. Project Objectives: </a:t>
            </a:r>
            <a:r>
              <a:rPr b="0" sz="950">
                <a:solidFill>
                  <a:srgbClr val="1E293B"/>
                </a:solidFill>
                <a:latin typeface="Segoe UI"/>
              </a:rPr>
              <a:t>3–4 SMART (Specific, Measurable, Achievable) goals</a:t>
            </a:r>
          </a:p>
          <a:p>
            <a:pPr>
              <a:spcAft>
                <a:spcPts val="450"/>
              </a:spcAft>
            </a:pPr>
            <a:r>
              <a:rPr b="1" sz="950">
                <a:solidFill>
                  <a:srgbClr val="1E293B"/>
                </a:solidFill>
                <a:latin typeface="Segoe UI"/>
              </a:rPr>
              <a:t>•  6. Literature Review &amp; Prior Art: </a:t>
            </a:r>
            <a:r>
              <a:rPr b="0" sz="950">
                <a:solidFill>
                  <a:srgbClr val="1E293B"/>
                </a:solidFill>
                <a:latin typeface="Segoe UI"/>
              </a:rPr>
              <a:t>Grounding in established scientific benchmarks</a:t>
            </a:r>
          </a:p>
        </p:txBody>
      </p:sp>
      <p:sp>
        <p:nvSpPr>
          <p:cNvPr id="9" name="Rounded Rectangle 8"/>
          <p:cNvSpPr/>
          <p:nvPr/>
        </p:nvSpPr>
        <p:spPr>
          <a:xfrm>
            <a:off x="6217920" y="1828800"/>
            <a:ext cx="521208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PROPOSAL ANATOMY: SECTIONS 7–12</a:t>
            </a:r>
          </a:p>
        </p:txBody>
      </p:sp>
      <p:sp>
        <p:nvSpPr>
          <p:cNvPr id="11" name="TextBox 10"/>
          <p:cNvSpPr txBox="1"/>
          <p:nvPr/>
        </p:nvSpPr>
        <p:spPr>
          <a:xfrm>
            <a:off x="6446520" y="2331720"/>
            <a:ext cx="4754880" cy="3200400"/>
          </a:xfrm>
          <a:prstGeom prst="rect">
            <a:avLst/>
          </a:prstGeom>
          <a:noFill/>
        </p:spPr>
        <p:txBody>
          <a:bodyPr wrap="none">
            <a:spAutoFit/>
          </a:bodyPr>
          <a:lstStyle/>
          <a:p>
            <a:pPr>
              <a:spcAft>
                <a:spcPts val="450"/>
              </a:spcAft>
            </a:pPr>
            <a:r>
              <a:rPr b="1" sz="950">
                <a:solidFill>
                  <a:srgbClr val="1E293B"/>
                </a:solidFill>
                <a:latin typeface="Segoe UI"/>
              </a:rPr>
              <a:t>•  7. Identified Research Gap: </a:t>
            </a:r>
            <a:r>
              <a:rPr b="0" sz="950">
                <a:solidFill>
                  <a:srgbClr val="1E293B"/>
                </a:solidFill>
                <a:latin typeface="Segoe UI"/>
              </a:rPr>
              <a:t>Precise limitation in existing solutions being solved</a:t>
            </a:r>
          </a:p>
          <a:p>
            <a:pPr>
              <a:spcAft>
                <a:spcPts val="450"/>
              </a:spcAft>
            </a:pPr>
            <a:r>
              <a:rPr b="1" sz="950">
                <a:solidFill>
                  <a:srgbClr val="1E293B"/>
                </a:solidFill>
                <a:latin typeface="Segoe UI"/>
              </a:rPr>
              <a:t>•  8. Proposed Methodology: </a:t>
            </a:r>
            <a:r>
              <a:rPr b="0" sz="950">
                <a:solidFill>
                  <a:srgbClr val="1E293B"/>
                </a:solidFill>
                <a:latin typeface="Segoe UI"/>
              </a:rPr>
              <a:t>Algorithmic architecture, hardware, and workflow</a:t>
            </a:r>
          </a:p>
          <a:p>
            <a:pPr>
              <a:spcAft>
                <a:spcPts val="450"/>
              </a:spcAft>
            </a:pPr>
            <a:r>
              <a:rPr b="1" sz="950">
                <a:solidFill>
                  <a:srgbClr val="1E293B"/>
                </a:solidFill>
                <a:latin typeface="Segoe UI"/>
              </a:rPr>
              <a:t>•  9. Expected Deliverables: </a:t>
            </a:r>
            <a:r>
              <a:rPr b="0" sz="950">
                <a:solidFill>
                  <a:srgbClr val="1E293B"/>
                </a:solidFill>
                <a:latin typeface="Segoe UI"/>
              </a:rPr>
              <a:t>Software code, hardware prototypes, datasets, papers</a:t>
            </a:r>
          </a:p>
          <a:p>
            <a:pPr>
              <a:spcAft>
                <a:spcPts val="450"/>
              </a:spcAft>
            </a:pPr>
            <a:r>
              <a:rPr b="1" sz="950">
                <a:solidFill>
                  <a:srgbClr val="1E293B"/>
                </a:solidFill>
                <a:latin typeface="Segoe UI"/>
              </a:rPr>
              <a:t>•  10. Work Breakdown &amp; Timeline: </a:t>
            </a:r>
            <a:r>
              <a:rPr b="0" sz="950">
                <a:solidFill>
                  <a:srgbClr val="1E293B"/>
                </a:solidFill>
                <a:latin typeface="Segoe UI"/>
              </a:rPr>
              <a:t>Phased Gantt chart with clear semester milestones</a:t>
            </a:r>
          </a:p>
          <a:p>
            <a:pPr>
              <a:spcAft>
                <a:spcPts val="450"/>
              </a:spcAft>
            </a:pPr>
            <a:r>
              <a:rPr b="1" sz="950">
                <a:solidFill>
                  <a:srgbClr val="1E293B"/>
                </a:solidFill>
                <a:latin typeface="Segoe UI"/>
              </a:rPr>
              <a:t>•  11. Budget &amp; Resource Estimation: </a:t>
            </a:r>
            <a:r>
              <a:rPr b="0" sz="950">
                <a:solidFill>
                  <a:srgbClr val="1E293B"/>
                </a:solidFill>
                <a:latin typeface="Segoe UI"/>
              </a:rPr>
              <a:t>Cloud compute, GPU credits, lab sensors, licenses</a:t>
            </a:r>
          </a:p>
          <a:p>
            <a:pPr>
              <a:spcAft>
                <a:spcPts val="450"/>
              </a:spcAft>
            </a:pPr>
            <a:r>
              <a:rPr b="1" sz="950">
                <a:solidFill>
                  <a:srgbClr val="1E293B"/>
                </a:solidFill>
                <a:latin typeface="Segoe UI"/>
              </a:rPr>
              <a:t>•  12. Risk Mitigation &amp; References: </a:t>
            </a:r>
            <a:r>
              <a:rPr b="0" sz="950">
                <a:solidFill>
                  <a:srgbClr val="1E293B"/>
                </a:solidFill>
                <a:latin typeface="Segoe UI"/>
              </a:rPr>
              <a:t>Contingency plans and verified bibliography</a:t>
            </a:r>
          </a:p>
        </p:txBody>
      </p:sp>
      <p:sp>
        <p:nvSpPr>
          <p:cNvPr id="12" name="Rounded Rectangle 11"/>
          <p:cNvSpPr/>
          <p:nvPr/>
        </p:nvSpPr>
        <p:spPr>
          <a:xfrm>
            <a:off x="731520" y="5806440"/>
            <a:ext cx="10728655" cy="50292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Proposal Evaluation Criteria: </a:t>
            </a:r>
            <a:r>
              <a:rPr b="0" sz="950">
                <a:solidFill>
                  <a:srgbClr val="1E293B"/>
                </a:solidFill>
              </a:rPr>
              <a:t>Reviewers look for three things: 1) Is the problem real? 2) Is the methodology feasible within the timeline? 3) Do the researchers have a verifiable plan to measure success?</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Standard Engineering Grant &amp; Capstone Project Evaluation Rubric</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21 of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7: PROJECT PROPOSALS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The 11-Stage AI-Assisted Proposal Pipeline</a:t>
            </a:r>
          </a:p>
          <a:p>
            <a:pPr>
              <a:spcBef>
                <a:spcPts val="300"/>
              </a:spcBef>
              <a:defRPr sz="1150">
                <a:solidFill>
                  <a:srgbClr val="475569"/>
                </a:solidFill>
                <a:latin typeface="Segoe UI"/>
              </a:defRPr>
            </a:pPr>
            <a:r>
              <a:t>Step-by-step acceleration from initial idea inception to final institutional defense</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21208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PHASE 1: SCOPING &amp; DESIGN</a:t>
            </a:r>
          </a:p>
        </p:txBody>
      </p:sp>
      <p:sp>
        <p:nvSpPr>
          <p:cNvPr id="8" name="Rounded Rectangle 7"/>
          <p:cNvSpPr/>
          <p:nvPr/>
        </p:nvSpPr>
        <p:spPr>
          <a:xfrm>
            <a:off x="960120" y="2331720"/>
            <a:ext cx="4754880" cy="43891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68296"/>
            <a:ext cx="4572000" cy="365760"/>
          </a:xfrm>
          <a:prstGeom prst="rect">
            <a:avLst/>
          </a:prstGeom>
          <a:noFill/>
        </p:spPr>
        <p:txBody>
          <a:bodyPr wrap="square" lIns="0" rIns="0" tIns="0" bIns="0">
            <a:spAutoFit/>
          </a:bodyPr>
          <a:lstStyle/>
          <a:p>
            <a:r>
              <a:rPr b="1" sz="850">
                <a:solidFill>
                  <a:srgbClr val="2563EB"/>
                </a:solidFill>
              </a:rPr>
              <a:t>1. IDEA INCEPTION: </a:t>
            </a:r>
            <a:r>
              <a:rPr sz="850">
                <a:solidFill>
                  <a:srgbClr val="1E293B"/>
                </a:solidFill>
              </a:rPr>
              <a:t>Gemini / Claude brainstorm engineering angles</a:t>
            </a:r>
          </a:p>
        </p:txBody>
      </p:sp>
      <p:sp>
        <p:nvSpPr>
          <p:cNvPr id="10" name="Rounded Rectangle 9"/>
          <p:cNvSpPr/>
          <p:nvPr/>
        </p:nvSpPr>
        <p:spPr>
          <a:xfrm>
            <a:off x="960120" y="2807208"/>
            <a:ext cx="4754880" cy="43891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843784"/>
            <a:ext cx="4572000" cy="365760"/>
          </a:xfrm>
          <a:prstGeom prst="rect">
            <a:avLst/>
          </a:prstGeom>
          <a:noFill/>
        </p:spPr>
        <p:txBody>
          <a:bodyPr wrap="square" lIns="0" rIns="0" tIns="0" bIns="0">
            <a:spAutoFit/>
          </a:bodyPr>
          <a:lstStyle/>
          <a:p>
            <a:r>
              <a:rPr b="1" sz="850">
                <a:solidFill>
                  <a:srgbClr val="0F172A"/>
                </a:solidFill>
              </a:rPr>
              <a:t>2. LITERATURE SEARCH: </a:t>
            </a:r>
            <a:r>
              <a:rPr sz="850">
                <a:solidFill>
                  <a:srgbClr val="1E293B"/>
                </a:solidFill>
              </a:rPr>
              <a:t>ResearchRabbit &amp; Litmaps map existing patents/papers</a:t>
            </a:r>
          </a:p>
        </p:txBody>
      </p:sp>
      <p:sp>
        <p:nvSpPr>
          <p:cNvPr id="12" name="Rounded Rectangle 11"/>
          <p:cNvSpPr/>
          <p:nvPr/>
        </p:nvSpPr>
        <p:spPr>
          <a:xfrm>
            <a:off x="960120" y="3282696"/>
            <a:ext cx="4754880" cy="438912"/>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319272"/>
            <a:ext cx="4572000" cy="365760"/>
          </a:xfrm>
          <a:prstGeom prst="rect">
            <a:avLst/>
          </a:prstGeom>
          <a:noFill/>
        </p:spPr>
        <p:txBody>
          <a:bodyPr wrap="square" lIns="0" rIns="0" tIns="0" bIns="0">
            <a:spAutoFit/>
          </a:bodyPr>
          <a:lstStyle/>
          <a:p>
            <a:r>
              <a:rPr b="1" sz="850">
                <a:solidFill>
                  <a:srgbClr val="2563EB"/>
                </a:solidFill>
              </a:rPr>
              <a:t>3. GAP IDENTIFICATION: </a:t>
            </a:r>
            <a:r>
              <a:rPr sz="850">
                <a:solidFill>
                  <a:srgbClr val="1E293B"/>
                </a:solidFill>
              </a:rPr>
              <a:t>Elicit &amp; Consensus extract unsolved limitations</a:t>
            </a:r>
          </a:p>
        </p:txBody>
      </p:sp>
      <p:sp>
        <p:nvSpPr>
          <p:cNvPr id="14" name="Rounded Rectangle 13"/>
          <p:cNvSpPr/>
          <p:nvPr/>
        </p:nvSpPr>
        <p:spPr>
          <a:xfrm>
            <a:off x="960120" y="3758184"/>
            <a:ext cx="4754880" cy="43891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794760"/>
            <a:ext cx="4572000" cy="365760"/>
          </a:xfrm>
          <a:prstGeom prst="rect">
            <a:avLst/>
          </a:prstGeom>
          <a:noFill/>
        </p:spPr>
        <p:txBody>
          <a:bodyPr wrap="square" lIns="0" rIns="0" tIns="0" bIns="0">
            <a:spAutoFit/>
          </a:bodyPr>
          <a:lstStyle/>
          <a:p>
            <a:r>
              <a:rPr b="1" sz="850">
                <a:solidFill>
                  <a:srgbClr val="0F172A"/>
                </a:solidFill>
              </a:rPr>
              <a:t>4. PROBLEM STATEMENT: </a:t>
            </a:r>
            <a:r>
              <a:rPr sz="850">
                <a:solidFill>
                  <a:srgbClr val="1E293B"/>
                </a:solidFill>
              </a:rPr>
              <a:t>AI assists in sharpening problem boundaries</a:t>
            </a:r>
          </a:p>
        </p:txBody>
      </p:sp>
      <p:sp>
        <p:nvSpPr>
          <p:cNvPr id="16" name="Rounded Rectangle 15"/>
          <p:cNvSpPr/>
          <p:nvPr/>
        </p:nvSpPr>
        <p:spPr>
          <a:xfrm>
            <a:off x="960120" y="4233672"/>
            <a:ext cx="4754880" cy="438912"/>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70248"/>
            <a:ext cx="4572000" cy="365760"/>
          </a:xfrm>
          <a:prstGeom prst="rect">
            <a:avLst/>
          </a:prstGeom>
          <a:noFill/>
        </p:spPr>
        <p:txBody>
          <a:bodyPr wrap="square" lIns="0" rIns="0" tIns="0" bIns="0">
            <a:spAutoFit/>
          </a:bodyPr>
          <a:lstStyle/>
          <a:p>
            <a:r>
              <a:rPr b="1" sz="850">
                <a:solidFill>
                  <a:srgbClr val="7C3AED"/>
                </a:solidFill>
              </a:rPr>
              <a:t>5. SMART OBJECTIVES: </a:t>
            </a:r>
            <a:r>
              <a:rPr sz="850">
                <a:solidFill>
                  <a:srgbClr val="1E293B"/>
                </a:solidFill>
              </a:rPr>
              <a:t>Convert vague ideas into measurable milestones</a:t>
            </a:r>
          </a:p>
        </p:txBody>
      </p:sp>
      <p:sp>
        <p:nvSpPr>
          <p:cNvPr id="18" name="Rounded Rectangle 17"/>
          <p:cNvSpPr/>
          <p:nvPr/>
        </p:nvSpPr>
        <p:spPr>
          <a:xfrm>
            <a:off x="960120" y="4709160"/>
            <a:ext cx="4754880" cy="43891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745736"/>
            <a:ext cx="4572000" cy="365760"/>
          </a:xfrm>
          <a:prstGeom prst="rect">
            <a:avLst/>
          </a:prstGeom>
          <a:noFill/>
        </p:spPr>
        <p:txBody>
          <a:bodyPr wrap="square" lIns="0" rIns="0" tIns="0" bIns="0">
            <a:spAutoFit/>
          </a:bodyPr>
          <a:lstStyle/>
          <a:p>
            <a:r>
              <a:rPr b="1" sz="850">
                <a:solidFill>
                  <a:srgbClr val="0F172A"/>
                </a:solidFill>
              </a:rPr>
              <a:t>6. METHODOLOGY DESIGN: </a:t>
            </a:r>
            <a:r>
              <a:rPr sz="850">
                <a:solidFill>
                  <a:srgbClr val="1E293B"/>
                </a:solidFill>
              </a:rPr>
              <a:t>Structure system block diagrams and pipeline flow</a:t>
            </a:r>
          </a:p>
        </p:txBody>
      </p:sp>
      <p:sp>
        <p:nvSpPr>
          <p:cNvPr id="20" name="Rounded Rectangle 19"/>
          <p:cNvSpPr/>
          <p:nvPr/>
        </p:nvSpPr>
        <p:spPr>
          <a:xfrm>
            <a:off x="6217920" y="1828800"/>
            <a:ext cx="521208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46520" y="196596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PHASE 2: EXECUTION &amp; DEFENSE</a:t>
            </a:r>
          </a:p>
        </p:txBody>
      </p:sp>
      <p:sp>
        <p:nvSpPr>
          <p:cNvPr id="22" name="Rounded Rectangle 21"/>
          <p:cNvSpPr/>
          <p:nvPr/>
        </p:nvSpPr>
        <p:spPr>
          <a:xfrm>
            <a:off x="6446520" y="2331720"/>
            <a:ext cx="4754880" cy="438912"/>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2368296"/>
            <a:ext cx="4572000" cy="365760"/>
          </a:xfrm>
          <a:prstGeom prst="rect">
            <a:avLst/>
          </a:prstGeom>
          <a:noFill/>
        </p:spPr>
        <p:txBody>
          <a:bodyPr wrap="square" lIns="0" rIns="0" tIns="0" bIns="0">
            <a:spAutoFit/>
          </a:bodyPr>
          <a:lstStyle/>
          <a:p>
            <a:r>
              <a:rPr b="1" sz="850">
                <a:solidFill>
                  <a:srgbClr val="7C3AED"/>
                </a:solidFill>
              </a:rPr>
              <a:t>7. EXPECTED OUTCOMES: </a:t>
            </a:r>
            <a:r>
              <a:rPr sz="850">
                <a:solidFill>
                  <a:srgbClr val="1E293B"/>
                </a:solidFill>
              </a:rPr>
              <a:t>Draft explicit deliverable definitions &amp; metrics</a:t>
            </a:r>
          </a:p>
        </p:txBody>
      </p:sp>
      <p:sp>
        <p:nvSpPr>
          <p:cNvPr id="24" name="Rounded Rectangle 23"/>
          <p:cNvSpPr/>
          <p:nvPr/>
        </p:nvSpPr>
        <p:spPr>
          <a:xfrm>
            <a:off x="6446520" y="2807208"/>
            <a:ext cx="4754880" cy="438912"/>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843784"/>
            <a:ext cx="4572000" cy="365760"/>
          </a:xfrm>
          <a:prstGeom prst="rect">
            <a:avLst/>
          </a:prstGeom>
          <a:noFill/>
        </p:spPr>
        <p:txBody>
          <a:bodyPr wrap="square" lIns="0" rIns="0" tIns="0" bIns="0">
            <a:spAutoFit/>
          </a:bodyPr>
          <a:lstStyle/>
          <a:p>
            <a:r>
              <a:rPr b="1" sz="850">
                <a:solidFill>
                  <a:srgbClr val="0D9488"/>
                </a:solidFill>
              </a:rPr>
              <a:t>8. TIMELINE &amp; GANTT: </a:t>
            </a:r>
            <a:r>
              <a:rPr sz="850">
                <a:solidFill>
                  <a:srgbClr val="1E293B"/>
                </a:solidFill>
              </a:rPr>
              <a:t>AI generates weekly milestone breakdowns</a:t>
            </a:r>
          </a:p>
        </p:txBody>
      </p:sp>
      <p:sp>
        <p:nvSpPr>
          <p:cNvPr id="26" name="Rounded Rectangle 25"/>
          <p:cNvSpPr/>
          <p:nvPr/>
        </p:nvSpPr>
        <p:spPr>
          <a:xfrm>
            <a:off x="6446520" y="3282696"/>
            <a:ext cx="4754880" cy="438912"/>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3319272"/>
            <a:ext cx="4572000" cy="365760"/>
          </a:xfrm>
          <a:prstGeom prst="rect">
            <a:avLst/>
          </a:prstGeom>
          <a:noFill/>
        </p:spPr>
        <p:txBody>
          <a:bodyPr wrap="square" lIns="0" rIns="0" tIns="0" bIns="0">
            <a:spAutoFit/>
          </a:bodyPr>
          <a:lstStyle/>
          <a:p>
            <a:r>
              <a:rPr b="1" sz="850">
                <a:solidFill>
                  <a:srgbClr val="0F172A"/>
                </a:solidFill>
              </a:rPr>
              <a:t>9. BUDGET ESTIMATION: </a:t>
            </a:r>
            <a:r>
              <a:rPr sz="850">
                <a:solidFill>
                  <a:srgbClr val="1E293B"/>
                </a:solidFill>
              </a:rPr>
              <a:t>Calculate AWS/GCP compute costs &amp; hardware specs</a:t>
            </a:r>
          </a:p>
        </p:txBody>
      </p:sp>
      <p:sp>
        <p:nvSpPr>
          <p:cNvPr id="28" name="Rounded Rectangle 27"/>
          <p:cNvSpPr/>
          <p:nvPr/>
        </p:nvSpPr>
        <p:spPr>
          <a:xfrm>
            <a:off x="6446520" y="3758184"/>
            <a:ext cx="4754880" cy="438912"/>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794760"/>
            <a:ext cx="4572000" cy="365760"/>
          </a:xfrm>
          <a:prstGeom prst="rect">
            <a:avLst/>
          </a:prstGeom>
          <a:noFill/>
        </p:spPr>
        <p:txBody>
          <a:bodyPr wrap="square" lIns="0" rIns="0" tIns="0" bIns="0">
            <a:spAutoFit/>
          </a:bodyPr>
          <a:lstStyle/>
          <a:p>
            <a:r>
              <a:rPr b="1" sz="850">
                <a:solidFill>
                  <a:srgbClr val="0D9488"/>
                </a:solidFill>
              </a:rPr>
              <a:t>10. PROPOSAL REVIEW: </a:t>
            </a:r>
            <a:r>
              <a:rPr sz="850">
                <a:solidFill>
                  <a:srgbClr val="1E293B"/>
                </a:solidFill>
              </a:rPr>
              <a:t>Paperpal checks academic tone &amp; formatting</a:t>
            </a:r>
          </a:p>
        </p:txBody>
      </p:sp>
      <p:sp>
        <p:nvSpPr>
          <p:cNvPr id="30" name="Rounded Rectangle 29"/>
          <p:cNvSpPr/>
          <p:nvPr/>
        </p:nvSpPr>
        <p:spPr>
          <a:xfrm>
            <a:off x="6446520" y="4233672"/>
            <a:ext cx="4754880" cy="43891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4270248"/>
            <a:ext cx="4572000" cy="365760"/>
          </a:xfrm>
          <a:prstGeom prst="rect">
            <a:avLst/>
          </a:prstGeom>
          <a:noFill/>
        </p:spPr>
        <p:txBody>
          <a:bodyPr wrap="square" lIns="0" rIns="0" tIns="0" bIns="0">
            <a:spAutoFit/>
          </a:bodyPr>
          <a:lstStyle/>
          <a:p>
            <a:r>
              <a:rPr b="1" sz="850">
                <a:solidFill>
                  <a:srgbClr val="059669"/>
                </a:solidFill>
              </a:rPr>
              <a:t>11. COMMITTEE DEFENSE: </a:t>
            </a:r>
            <a:r>
              <a:rPr sz="850">
                <a:solidFill>
                  <a:srgbClr val="1E293B"/>
                </a:solidFill>
              </a:rPr>
              <a:t>AI generates tough cross-examination questions</a:t>
            </a:r>
          </a:p>
        </p:txBody>
      </p:sp>
      <p:sp>
        <p:nvSpPr>
          <p:cNvPr id="32" name="Rounded Rectangle 31"/>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Proposal Integrity Alert: </a:t>
            </a:r>
            <a:r>
              <a:rPr b="0" sz="950">
                <a:solidFill>
                  <a:srgbClr val="1E293B"/>
                </a:solidFill>
              </a:rPr>
              <a:t>NEVER allow AI to invent citations, synthetic experimental findings, or fictitious partner institutions in grant proposals. Hallucinated references in a proposal guarantee immediate rejection.</a:t>
            </a:r>
          </a:p>
        </p:txBody>
      </p:sp>
      <p:sp>
        <p:nvSpPr>
          <p:cNvPr id="35" name="TextBox 3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National Science Foundation (NSF) / European Research Council (ERC) Proposal Protocols</a:t>
            </a:r>
          </a:p>
        </p:txBody>
      </p:sp>
      <p:sp>
        <p:nvSpPr>
          <p:cNvPr id="36" name="TextBox 3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22 of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8: COLLABORATION</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Collaborative Research Strategies &amp; Modern Toolchains</a:t>
            </a:r>
          </a:p>
          <a:p>
            <a:pPr>
              <a:spcBef>
                <a:spcPts val="300"/>
              </a:spcBef>
              <a:defRPr sz="1150">
                <a:solidFill>
                  <a:srgbClr val="475569"/>
                </a:solidFill>
                <a:latin typeface="Segoe UI"/>
              </a:defRPr>
            </a:pPr>
            <a:r>
              <a:t>Eliminating version chaos, siloed data, and asynchronous communication bottlenecks in research teams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COLLABORATIVE INFRASTRUCTURE</a:t>
            </a:r>
          </a:p>
        </p:txBody>
      </p:sp>
      <p:sp>
        <p:nvSpPr>
          <p:cNvPr id="8" name="Rounded Rectangle 7"/>
          <p:cNvSpPr/>
          <p:nvPr/>
        </p:nvSpPr>
        <p:spPr>
          <a:xfrm>
            <a:off x="960120" y="2331720"/>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86584"/>
            <a:ext cx="4480560" cy="502920"/>
          </a:xfrm>
          <a:prstGeom prst="rect">
            <a:avLst/>
          </a:prstGeom>
          <a:noFill/>
        </p:spPr>
        <p:txBody>
          <a:bodyPr wrap="square" lIns="0" rIns="0" tIns="0" bIns="0">
            <a:spAutoFit/>
          </a:bodyPr>
          <a:lstStyle/>
          <a:p>
            <a:pPr>
              <a:defRPr b="1" sz="950">
                <a:solidFill>
                  <a:srgbClr val="2563EB"/>
                </a:solidFill>
              </a:defRPr>
            </a:pPr>
            <a:r>
              <a:t>Git &amp; GitHub</a:t>
            </a:r>
          </a:p>
          <a:p>
            <a:pPr>
              <a:defRPr sz="850">
                <a:solidFill>
                  <a:srgbClr val="1E293B"/>
                </a:solidFill>
              </a:defRPr>
            </a:pPr>
            <a:r>
              <a:t>Version control for code, data pipelines, LaTeX source, and transparent issue tracking.</a:t>
            </a:r>
          </a:p>
        </p:txBody>
      </p:sp>
      <p:sp>
        <p:nvSpPr>
          <p:cNvPr id="10" name="Rounded Rectangle 9"/>
          <p:cNvSpPr/>
          <p:nvPr/>
        </p:nvSpPr>
        <p:spPr>
          <a:xfrm>
            <a:off x="960120" y="2990088"/>
            <a:ext cx="4663440" cy="5943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44952"/>
            <a:ext cx="4480560" cy="502920"/>
          </a:xfrm>
          <a:prstGeom prst="rect">
            <a:avLst/>
          </a:prstGeom>
          <a:noFill/>
        </p:spPr>
        <p:txBody>
          <a:bodyPr wrap="square" lIns="0" rIns="0" tIns="0" bIns="0">
            <a:spAutoFit/>
          </a:bodyPr>
          <a:lstStyle/>
          <a:p>
            <a:pPr>
              <a:defRPr b="1" sz="950">
                <a:solidFill>
                  <a:srgbClr val="7C3AED"/>
                </a:solidFill>
              </a:defRPr>
            </a:pPr>
            <a:r>
              <a:t>Overleaf (LaTeX)</a:t>
            </a:r>
          </a:p>
          <a:p>
            <a:pPr>
              <a:defRPr sz="850">
                <a:solidFill>
                  <a:srgbClr val="1E293B"/>
                </a:solidFill>
              </a:defRPr>
            </a:pPr>
            <a:r>
              <a:t>Real-time collaborative manuscript authoring with track changes, comments, and direct journal submission.</a:t>
            </a:r>
          </a:p>
        </p:txBody>
      </p:sp>
      <p:sp>
        <p:nvSpPr>
          <p:cNvPr id="12" name="Rounded Rectangle 11"/>
          <p:cNvSpPr/>
          <p:nvPr/>
        </p:nvSpPr>
        <p:spPr>
          <a:xfrm>
            <a:off x="960120" y="3648456"/>
            <a:ext cx="466344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03320"/>
            <a:ext cx="4480560" cy="502920"/>
          </a:xfrm>
          <a:prstGeom prst="rect">
            <a:avLst/>
          </a:prstGeom>
          <a:noFill/>
        </p:spPr>
        <p:txBody>
          <a:bodyPr wrap="square" lIns="0" rIns="0" tIns="0" bIns="0">
            <a:spAutoFit/>
          </a:bodyPr>
          <a:lstStyle/>
          <a:p>
            <a:pPr>
              <a:defRPr b="1" sz="950">
                <a:solidFill>
                  <a:srgbClr val="0F172A"/>
                </a:solidFill>
              </a:defRPr>
            </a:pPr>
            <a:r>
              <a:t>Google Drive &amp; Docs</a:t>
            </a:r>
          </a:p>
          <a:p>
            <a:pPr>
              <a:defRPr sz="850">
                <a:solidFill>
                  <a:srgbClr val="1E293B"/>
                </a:solidFill>
              </a:defRPr>
            </a:pPr>
            <a:r>
              <a:t>Collaborative brainstorming, meeting notes, lab logs, and asynchronous faculty feedback.</a:t>
            </a:r>
          </a:p>
        </p:txBody>
      </p:sp>
      <p:sp>
        <p:nvSpPr>
          <p:cNvPr id="14" name="Rounded Rectangle 13"/>
          <p:cNvSpPr/>
          <p:nvPr/>
        </p:nvSpPr>
        <p:spPr>
          <a:xfrm>
            <a:off x="960120" y="4306824"/>
            <a:ext cx="46634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361688"/>
            <a:ext cx="4480560" cy="502920"/>
          </a:xfrm>
          <a:prstGeom prst="rect">
            <a:avLst/>
          </a:prstGeom>
          <a:noFill/>
        </p:spPr>
        <p:txBody>
          <a:bodyPr wrap="square" lIns="0" rIns="0" tIns="0" bIns="0">
            <a:spAutoFit/>
          </a:bodyPr>
          <a:lstStyle/>
          <a:p>
            <a:pPr>
              <a:defRPr b="1" sz="950">
                <a:solidFill>
                  <a:srgbClr val="0D9488"/>
                </a:solidFill>
              </a:defRPr>
            </a:pPr>
            <a:r>
              <a:t>Notion / Obsidian</a:t>
            </a:r>
          </a:p>
          <a:p>
            <a:pPr>
              <a:defRPr sz="850">
                <a:solidFill>
                  <a:srgbClr val="1E293B"/>
                </a:solidFill>
              </a:defRPr>
            </a:pPr>
            <a:r>
              <a:t>Shared central lab wiki, structured literature reading libraries, and protocol documentation.</a:t>
            </a:r>
          </a:p>
        </p:txBody>
      </p:sp>
      <p:sp>
        <p:nvSpPr>
          <p:cNvPr id="16" name="Rounded Rectangle 15"/>
          <p:cNvSpPr/>
          <p:nvPr/>
        </p:nvSpPr>
        <p:spPr>
          <a:xfrm>
            <a:off x="960120" y="4965192"/>
            <a:ext cx="4663440" cy="5943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020056"/>
            <a:ext cx="4480560" cy="502920"/>
          </a:xfrm>
          <a:prstGeom prst="rect">
            <a:avLst/>
          </a:prstGeom>
          <a:noFill/>
        </p:spPr>
        <p:txBody>
          <a:bodyPr wrap="square" lIns="0" rIns="0" tIns="0" bIns="0">
            <a:spAutoFit/>
          </a:bodyPr>
          <a:lstStyle/>
          <a:p>
            <a:pPr>
              <a:defRPr b="1" sz="950">
                <a:solidFill>
                  <a:srgbClr val="D97706"/>
                </a:solidFill>
              </a:defRPr>
            </a:pPr>
            <a:r>
              <a:t>Slack / Teams</a:t>
            </a:r>
          </a:p>
          <a:p>
            <a:pPr>
              <a:defRPr sz="850">
                <a:solidFill>
                  <a:srgbClr val="1E293B"/>
                </a:solidFill>
              </a:defRPr>
            </a:pPr>
            <a:r>
              <a:t>Synchronous team channels, automated paper alert webhooks, and standup meetings.</a:t>
            </a:r>
          </a:p>
        </p:txBody>
      </p:sp>
      <p:sp>
        <p:nvSpPr>
          <p:cNvPr id="18" name="Rounded Rectangle 17"/>
          <p:cNvSpPr/>
          <p:nvPr/>
        </p:nvSpPr>
        <p:spPr>
          <a:xfrm>
            <a:off x="630936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1965960"/>
            <a:ext cx="320040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TEAM WORKFLOW ARCHITECTURE</a:t>
            </a:r>
          </a:p>
        </p:txBody>
      </p:sp>
      <p:sp>
        <p:nvSpPr>
          <p:cNvPr id="20" name="TextBox 19"/>
          <p:cNvSpPr txBox="1"/>
          <p:nvPr/>
        </p:nvSpPr>
        <p:spPr>
          <a:xfrm>
            <a:off x="6537960" y="2331720"/>
            <a:ext cx="4663440" cy="3200400"/>
          </a:xfrm>
          <a:prstGeom prst="rect">
            <a:avLst/>
          </a:prstGeom>
          <a:noFill/>
        </p:spPr>
        <p:txBody>
          <a:bodyPr wrap="none">
            <a:spAutoFit/>
          </a:bodyPr>
          <a:lstStyle/>
          <a:p>
            <a:pPr>
              <a:spcAft>
                <a:spcPts val="400"/>
              </a:spcAft>
            </a:pPr>
            <a:r>
              <a:rPr b="1" sz="950">
                <a:solidFill>
                  <a:srgbClr val="1E293B"/>
                </a:solidFill>
                <a:latin typeface="Segoe UI"/>
              </a:rPr>
              <a:t>•  Principal Investigator / Faculty Lead: </a:t>
            </a:r>
            <a:r>
              <a:rPr b="0" sz="950">
                <a:solidFill>
                  <a:srgbClr val="1E293B"/>
                </a:solidFill>
                <a:latin typeface="Segoe UI"/>
              </a:rPr>
              <a:t>Defines research vision, reviews milestone deliverables, and approves final manuscript.</a:t>
            </a:r>
          </a:p>
          <a:p>
            <a:pPr>
              <a:spcAft>
                <a:spcPts val="400"/>
              </a:spcAft>
            </a:pPr>
            <a:r>
              <a:rPr b="1" sz="950">
                <a:solidFill>
                  <a:srgbClr val="1E293B"/>
                </a:solidFill>
                <a:latin typeface="Segoe UI"/>
              </a:rPr>
              <a:t>•  Literature Sub-Team: </a:t>
            </a:r>
            <a:r>
              <a:rPr b="0" sz="950">
                <a:solidFill>
                  <a:srgbClr val="1E293B"/>
                </a:solidFill>
                <a:latin typeface="Segoe UI"/>
              </a:rPr>
              <a:t>Manages shared Zotero library, tracks emerging preprints, and drafts related work sections.</a:t>
            </a:r>
          </a:p>
          <a:p>
            <a:pPr>
              <a:spcAft>
                <a:spcPts val="400"/>
              </a:spcAft>
            </a:pPr>
            <a:r>
              <a:rPr b="1" sz="950">
                <a:solidFill>
                  <a:srgbClr val="1E293B"/>
                </a:solidFill>
                <a:latin typeface="Segoe UI"/>
              </a:rPr>
              <a:t>•  Experimentation Sub-Team: </a:t>
            </a:r>
            <a:r>
              <a:rPr b="0" sz="950">
                <a:solidFill>
                  <a:srgbClr val="1E293B"/>
                </a:solidFill>
                <a:latin typeface="Segoe UI"/>
              </a:rPr>
              <a:t>Authors Colab notebooks, runs GPU model training, and serializes baseline weights into GitHub.</a:t>
            </a:r>
          </a:p>
          <a:p>
            <a:pPr>
              <a:spcAft>
                <a:spcPts val="400"/>
              </a:spcAft>
            </a:pPr>
            <a:r>
              <a:rPr b="1" sz="950">
                <a:solidFill>
                  <a:srgbClr val="1E293B"/>
                </a:solidFill>
                <a:latin typeface="Segoe UI"/>
              </a:rPr>
              <a:t>•  Writing &amp; Documentation Sub-Team: </a:t>
            </a:r>
            <a:r>
              <a:rPr b="0" sz="950">
                <a:solidFill>
                  <a:srgbClr val="1E293B"/>
                </a:solidFill>
                <a:latin typeface="Segoe UI"/>
              </a:rPr>
              <a:t>Translates experimental charts and tables into formal Overleaf LaTeX chapters.</a:t>
            </a:r>
          </a:p>
          <a:p>
            <a:pPr>
              <a:spcAft>
                <a:spcPts val="400"/>
              </a:spcAft>
            </a:pPr>
            <a:r>
              <a:rPr b="1" sz="950">
                <a:solidFill>
                  <a:srgbClr val="1E293B"/>
                </a:solidFill>
                <a:latin typeface="Segoe UI"/>
              </a:rPr>
              <a:t>•  Shared Research Decision Log: </a:t>
            </a:r>
            <a:r>
              <a:rPr b="0" sz="950">
                <a:solidFill>
                  <a:srgbClr val="1E293B"/>
                </a:solidFill>
                <a:latin typeface="Segoe UI"/>
              </a:rPr>
              <a:t>A central markdown file documenting every algorithmic failure, parameter choice, and pivot.</a:t>
            </a:r>
          </a:p>
          <a:p>
            <a:pPr>
              <a:spcAft>
                <a:spcPts val="400"/>
              </a:spcAft>
            </a:pPr>
            <a:r>
              <a:rPr b="1" sz="950">
                <a:solidFill>
                  <a:srgbClr val="1E293B"/>
                </a:solidFill>
                <a:latin typeface="Segoe UI"/>
              </a:rPr>
              <a:t>•  Standardized Naming Conventions: </a:t>
            </a:r>
            <a:r>
              <a:rPr b="0" sz="950">
                <a:solidFill>
                  <a:srgbClr val="1E293B"/>
                </a:solidFill>
                <a:latin typeface="Segoe UI"/>
              </a:rPr>
              <a:t>Strict directory schemas (`/data`, `/src`, `/notebooks`, `/figures`, `/manuscript`).</a:t>
            </a:r>
          </a:p>
        </p:txBody>
      </p:sp>
      <p:sp>
        <p:nvSpPr>
          <p:cNvPr id="21" name="Rounded Rectangle 20"/>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Collaboration Rule: </a:t>
            </a:r>
            <a:r>
              <a:rPr b="0" sz="950">
                <a:solidFill>
                  <a:srgbClr val="1E293B"/>
                </a:solidFill>
              </a:rPr>
              <a:t>A project is only as strong as its reproducibility. If a teammate cannot clone your repo and reproduce your exact experimental figures in one click, the research is incomplete.</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ACM Guidelines on Reproducible Academic Computation</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23 of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9: EXPERIMENTAL RIGOR</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Hands-On &amp; Experimental Learning Strategies</a:t>
            </a:r>
          </a:p>
          <a:p>
            <a:pPr>
              <a:spcBef>
                <a:spcPts val="300"/>
              </a:spcBef>
              <a:defRPr sz="1150">
                <a:solidFill>
                  <a:srgbClr val="475569"/>
                </a:solidFill>
                <a:latin typeface="Segoe UI"/>
              </a:defRPr>
            </a:pPr>
            <a:r>
              <a:t>Translating theoretical concepts into empirical validation through structured scientific method loops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EMPIRICAL RESEARCH STRATEGIES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Rapid Minimum Viable Prototype (MVP): </a:t>
            </a:r>
            <a:r>
              <a:rPr b="0" sz="1000">
                <a:solidFill>
                  <a:srgbClr val="1E293B"/>
                </a:solidFill>
                <a:latin typeface="Segoe UI"/>
              </a:rPr>
              <a:t>Build simple baseline models on small sample subsets before launching 48-hour GPU cluster jobs.</a:t>
            </a:r>
          </a:p>
          <a:p>
            <a:pPr>
              <a:spcAft>
                <a:spcPts val="450"/>
              </a:spcAft>
            </a:pPr>
            <a:r>
              <a:rPr b="1" sz="1000">
                <a:solidFill>
                  <a:srgbClr val="1E293B"/>
                </a:solidFill>
                <a:latin typeface="Segoe UI"/>
              </a:rPr>
              <a:t>•  Single Variable Isolation: </a:t>
            </a:r>
            <a:r>
              <a:rPr b="0" sz="1000">
                <a:solidFill>
                  <a:srgbClr val="1E293B"/>
                </a:solidFill>
                <a:latin typeface="Segoe UI"/>
              </a:rPr>
              <a:t>Modify exactly ONE hyperparameter or layer at a time to establish definitive causal attribution.</a:t>
            </a:r>
          </a:p>
          <a:p>
            <a:pPr>
              <a:spcAft>
                <a:spcPts val="450"/>
              </a:spcAft>
            </a:pPr>
            <a:r>
              <a:rPr b="1" sz="1000">
                <a:solidFill>
                  <a:srgbClr val="1E293B"/>
                </a:solidFill>
                <a:latin typeface="Segoe UI"/>
              </a:rPr>
              <a:t>•  Rigorous Measurement Standards: </a:t>
            </a:r>
            <a:r>
              <a:rPr b="0" sz="1000">
                <a:solidFill>
                  <a:srgbClr val="1E293B"/>
                </a:solidFill>
                <a:latin typeface="Segoe UI"/>
              </a:rPr>
              <a:t>Utilize multiple complementary metrics (e.g., Precision-Recall curves alongside ROC-AUC for imbalanced data).</a:t>
            </a:r>
          </a:p>
          <a:p>
            <a:pPr>
              <a:spcAft>
                <a:spcPts val="450"/>
              </a:spcAft>
            </a:pPr>
            <a:r>
              <a:rPr b="1" sz="1000">
                <a:solidFill>
                  <a:srgbClr val="1E293B"/>
                </a:solidFill>
                <a:latin typeface="Segoe UI"/>
              </a:rPr>
              <a:t>•  Documenting Negative Results: </a:t>
            </a:r>
            <a:r>
              <a:rPr b="0" sz="1000">
                <a:solidFill>
                  <a:srgbClr val="1E293B"/>
                </a:solidFill>
                <a:latin typeface="Segoe UI"/>
              </a:rPr>
              <a:t>Meticulously record failed architectures; negative results reveal true algorithmic boundaries.</a:t>
            </a:r>
          </a:p>
          <a:p>
            <a:pPr>
              <a:spcAft>
                <a:spcPts val="450"/>
              </a:spcAft>
            </a:pPr>
            <a:r>
              <a:rPr b="1" sz="1000">
                <a:solidFill>
                  <a:srgbClr val="1E293B"/>
                </a:solidFill>
                <a:latin typeface="Segoe UI"/>
              </a:rPr>
              <a:t>•  Cross-Validation Rigor: </a:t>
            </a:r>
            <a:r>
              <a:rPr b="0" sz="1000">
                <a:solidFill>
                  <a:srgbClr val="1E293B"/>
                </a:solidFill>
                <a:latin typeface="Segoe UI"/>
              </a:rPr>
              <a:t>Implement k-fold cross-validation to guarantee that results are not artifacts of lucky train/test splits.</a:t>
            </a:r>
          </a:p>
        </p:txBody>
      </p:sp>
      <p:sp>
        <p:nvSpPr>
          <p:cNvPr id="9" name="Rounded Rectangle 8"/>
          <p:cNvSpPr/>
          <p:nvPr/>
        </p:nvSpPr>
        <p:spPr>
          <a:xfrm>
            <a:off x="630936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THE EMPIRICAL FEEDBACK LOOP</a:t>
            </a:r>
          </a:p>
        </p:txBody>
      </p:sp>
      <p:sp>
        <p:nvSpPr>
          <p:cNvPr id="11" name="Rounded Rectangle 10"/>
          <p:cNvSpPr/>
          <p:nvPr/>
        </p:nvSpPr>
        <p:spPr>
          <a:xfrm>
            <a:off x="6537960" y="2331720"/>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68296"/>
            <a:ext cx="4480560" cy="411480"/>
          </a:xfrm>
          <a:prstGeom prst="rect">
            <a:avLst/>
          </a:prstGeom>
          <a:noFill/>
        </p:spPr>
        <p:txBody>
          <a:bodyPr wrap="square" lIns="0" rIns="0" tIns="0" bIns="0">
            <a:spAutoFit/>
          </a:bodyPr>
          <a:lstStyle/>
          <a:p>
            <a:r>
              <a:rPr b="1" sz="900">
                <a:solidFill>
                  <a:srgbClr val="059669"/>
                </a:solidFill>
              </a:rPr>
              <a:t>1. TESTABLE HYPOTHESIS: </a:t>
            </a:r>
            <a:r>
              <a:rPr sz="850">
                <a:solidFill>
                  <a:srgbClr val="1E293B"/>
                </a:solidFill>
              </a:rPr>
              <a:t>Formulate clear falsifiable claim ('Adding attention increases F1 by &gt;3%')</a:t>
            </a:r>
          </a:p>
        </p:txBody>
      </p:sp>
      <p:sp>
        <p:nvSpPr>
          <p:cNvPr id="13" name="Rounded Rectangle 12"/>
          <p:cNvSpPr/>
          <p:nvPr/>
        </p:nvSpPr>
        <p:spPr>
          <a:xfrm>
            <a:off x="6537960" y="2862072"/>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2898648"/>
            <a:ext cx="4480560" cy="411480"/>
          </a:xfrm>
          <a:prstGeom prst="rect">
            <a:avLst/>
          </a:prstGeom>
          <a:noFill/>
        </p:spPr>
        <p:txBody>
          <a:bodyPr wrap="square" lIns="0" rIns="0" tIns="0" bIns="0">
            <a:spAutoFit/>
          </a:bodyPr>
          <a:lstStyle/>
          <a:p>
            <a:r>
              <a:rPr b="1" sz="900">
                <a:solidFill>
                  <a:srgbClr val="059669"/>
                </a:solidFill>
              </a:rPr>
              <a:t>2. CONTROLLED EXPERIMENT: </a:t>
            </a:r>
            <a:r>
              <a:rPr sz="850">
                <a:solidFill>
                  <a:srgbClr val="1E293B"/>
                </a:solidFill>
              </a:rPr>
              <a:t>Implement code in Colab with fixed seeds and identical datasets</a:t>
            </a:r>
          </a:p>
        </p:txBody>
      </p:sp>
      <p:sp>
        <p:nvSpPr>
          <p:cNvPr id="15" name="Rounded Rectangle 14"/>
          <p:cNvSpPr/>
          <p:nvPr/>
        </p:nvSpPr>
        <p:spPr>
          <a:xfrm>
            <a:off x="6537960" y="3392424"/>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429000"/>
            <a:ext cx="4480560" cy="411480"/>
          </a:xfrm>
          <a:prstGeom prst="rect">
            <a:avLst/>
          </a:prstGeom>
          <a:noFill/>
        </p:spPr>
        <p:txBody>
          <a:bodyPr wrap="square" lIns="0" rIns="0" tIns="0" bIns="0">
            <a:spAutoFit/>
          </a:bodyPr>
          <a:lstStyle/>
          <a:p>
            <a:r>
              <a:rPr b="1" sz="900">
                <a:solidFill>
                  <a:srgbClr val="059669"/>
                </a:solidFill>
              </a:rPr>
              <a:t>3. DIRECT OBSERVATION: </a:t>
            </a:r>
            <a:r>
              <a:rPr sz="850">
                <a:solidFill>
                  <a:srgbClr val="1E293B"/>
                </a:solidFill>
              </a:rPr>
              <a:t>Monitor training loss, validation curves, and GPU memory in real-time</a:t>
            </a:r>
          </a:p>
        </p:txBody>
      </p:sp>
      <p:sp>
        <p:nvSpPr>
          <p:cNvPr id="17" name="Rounded Rectangle 16"/>
          <p:cNvSpPr/>
          <p:nvPr/>
        </p:nvSpPr>
        <p:spPr>
          <a:xfrm>
            <a:off x="6537960" y="3922776"/>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3959352"/>
            <a:ext cx="4480560" cy="411480"/>
          </a:xfrm>
          <a:prstGeom prst="rect">
            <a:avLst/>
          </a:prstGeom>
          <a:noFill/>
        </p:spPr>
        <p:txBody>
          <a:bodyPr wrap="square" lIns="0" rIns="0" tIns="0" bIns="0">
            <a:spAutoFit/>
          </a:bodyPr>
          <a:lstStyle/>
          <a:p>
            <a:r>
              <a:rPr b="1" sz="900">
                <a:solidFill>
                  <a:srgbClr val="059669"/>
                </a:solidFill>
              </a:rPr>
              <a:t>4. METRIC MEASUREMENT: </a:t>
            </a:r>
            <a:r>
              <a:rPr sz="850">
                <a:solidFill>
                  <a:srgbClr val="1E293B"/>
                </a:solidFill>
              </a:rPr>
              <a:t>Evaluate quantitative test set performance against prior baselines</a:t>
            </a:r>
          </a:p>
        </p:txBody>
      </p:sp>
      <p:sp>
        <p:nvSpPr>
          <p:cNvPr id="19" name="Rounded Rectangle 18"/>
          <p:cNvSpPr/>
          <p:nvPr/>
        </p:nvSpPr>
        <p:spPr>
          <a:xfrm>
            <a:off x="6537960" y="4453128"/>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489704"/>
            <a:ext cx="4480560" cy="411480"/>
          </a:xfrm>
          <a:prstGeom prst="rect">
            <a:avLst/>
          </a:prstGeom>
          <a:noFill/>
        </p:spPr>
        <p:txBody>
          <a:bodyPr wrap="square" lIns="0" rIns="0" tIns="0" bIns="0">
            <a:spAutoFit/>
          </a:bodyPr>
          <a:lstStyle/>
          <a:p>
            <a:r>
              <a:rPr b="1" sz="900">
                <a:solidFill>
                  <a:srgbClr val="059669"/>
                </a:solidFill>
              </a:rPr>
              <a:t>5. STATISTICAL ANALYSIS: </a:t>
            </a:r>
            <a:r>
              <a:rPr sz="850">
                <a:solidFill>
                  <a:srgbClr val="1E293B"/>
                </a:solidFill>
              </a:rPr>
              <a:t>Conduct paired t-tests or Wilcoxon signed-rank tests for significance</a:t>
            </a:r>
          </a:p>
        </p:txBody>
      </p:sp>
      <p:sp>
        <p:nvSpPr>
          <p:cNvPr id="21" name="Rounded Rectangle 20"/>
          <p:cNvSpPr/>
          <p:nvPr/>
        </p:nvSpPr>
        <p:spPr>
          <a:xfrm>
            <a:off x="6537960" y="4983480"/>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020056"/>
            <a:ext cx="4480560" cy="411480"/>
          </a:xfrm>
          <a:prstGeom prst="rect">
            <a:avLst/>
          </a:prstGeom>
          <a:noFill/>
        </p:spPr>
        <p:txBody>
          <a:bodyPr wrap="square" lIns="0" rIns="0" tIns="0" bIns="0">
            <a:spAutoFit/>
          </a:bodyPr>
          <a:lstStyle/>
          <a:p>
            <a:r>
              <a:rPr b="1" sz="900">
                <a:solidFill>
                  <a:srgbClr val="059669"/>
                </a:solidFill>
              </a:rPr>
              <a:t>6. ITERATIVE CONCLUSION: </a:t>
            </a:r>
            <a:r>
              <a:rPr sz="850">
                <a:solidFill>
                  <a:srgbClr val="1E293B"/>
                </a:solidFill>
              </a:rPr>
              <a:t>Accept/reject hypothesis; document insights; formulate next experiment</a:t>
            </a:r>
          </a:p>
        </p:txBody>
      </p:sp>
      <p:sp>
        <p:nvSpPr>
          <p:cNvPr id="23" name="Rounded Rectangle 22"/>
          <p:cNvSpPr/>
          <p:nvPr/>
        </p:nvSpPr>
        <p:spPr>
          <a:xfrm>
            <a:off x="731520" y="5806440"/>
            <a:ext cx="10728655" cy="5029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5806440"/>
            <a:ext cx="109728"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Engineering Wisdom: </a:t>
            </a:r>
            <a:r>
              <a:rPr b="0" sz="950">
                <a:solidFill>
                  <a:srgbClr val="1E293B"/>
                </a:solidFill>
              </a:rPr>
              <a:t>Simulation and theory propose; empirical measurement disposes. A single clean benchmark chart on genuine hardware is worth 100 theoretical conjectures.</a:t>
            </a:r>
          </a:p>
        </p:txBody>
      </p:sp>
      <p:sp>
        <p:nvSpPr>
          <p:cNvPr id="26" name="TextBox 25"/>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Principles of Experimental Research in Engineering</a:t>
            </a:r>
          </a:p>
        </p:txBody>
      </p:sp>
      <p:sp>
        <p:nvSpPr>
          <p:cNvPr id="27" name="TextBox 26"/>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24 of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10: ACTIVE PEDAGOGY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Technology-Enhanced Engagement in Engineering Education</a:t>
            </a:r>
          </a:p>
          <a:p>
            <a:pPr>
              <a:spcBef>
                <a:spcPts val="300"/>
              </a:spcBef>
              <a:defRPr sz="1150">
                <a:solidFill>
                  <a:srgbClr val="475569"/>
                </a:solidFill>
                <a:latin typeface="Segoe UI"/>
              </a:defRPr>
            </a:pPr>
            <a:r>
              <a:t>Transforming passive lectures into active, data-driven, and participatory learning environments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ACTIVE LEARNING METHODOLOGIES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1000">
                <a:solidFill>
                  <a:srgbClr val="1E293B"/>
                </a:solidFill>
                <a:latin typeface="Segoe UI"/>
              </a:rPr>
              <a:t>•  Peer Instruction (Mazur Model): </a:t>
            </a:r>
            <a:r>
              <a:rPr b="0" sz="1000">
                <a:solidFill>
                  <a:srgbClr val="1E293B"/>
                </a:solidFill>
                <a:latin typeface="Segoe UI"/>
              </a:rPr>
              <a:t>Present a challenging conceptual MCQ, poll students, have them debate peers in pairs, and repoll.</a:t>
            </a:r>
          </a:p>
          <a:p>
            <a:pPr>
              <a:spcAft>
                <a:spcPts val="450"/>
              </a:spcAft>
            </a:pPr>
            <a:r>
              <a:rPr b="1" sz="1000">
                <a:solidFill>
                  <a:srgbClr val="1E293B"/>
                </a:solidFill>
                <a:latin typeface="Segoe UI"/>
              </a:rPr>
              <a:t>•  Real-Time Diagnostic Quizzing: </a:t>
            </a:r>
            <a:r>
              <a:rPr b="0" sz="1000">
                <a:solidFill>
                  <a:srgbClr val="1E293B"/>
                </a:solidFill>
                <a:latin typeface="Segoe UI"/>
              </a:rPr>
              <a:t>Conduct 3-minute pulse checks at the midpoint of lectures to verify whether students grasped difficult derivations.</a:t>
            </a:r>
          </a:p>
          <a:p>
            <a:pPr>
              <a:spcAft>
                <a:spcPts val="450"/>
              </a:spcAft>
            </a:pPr>
            <a:r>
              <a:rPr b="1" sz="1000">
                <a:solidFill>
                  <a:srgbClr val="1E293B"/>
                </a:solidFill>
                <a:latin typeface="Segoe UI"/>
              </a:rPr>
              <a:t>•  Problem-Based Learning (PBL): </a:t>
            </a:r>
            <a:r>
              <a:rPr b="0" sz="1000">
                <a:solidFill>
                  <a:srgbClr val="1E293B"/>
                </a:solidFill>
                <a:latin typeface="Segoe UI"/>
              </a:rPr>
              <a:t>Challenge student teams with real-world engineering failure case studies (e.g., the Ariane 5 integer overflow).</a:t>
            </a:r>
          </a:p>
          <a:p>
            <a:pPr>
              <a:spcAft>
                <a:spcPts val="450"/>
              </a:spcAft>
            </a:pPr>
            <a:r>
              <a:rPr b="1" sz="1000">
                <a:solidFill>
                  <a:srgbClr val="1E293B"/>
                </a:solidFill>
                <a:latin typeface="Segoe UI"/>
              </a:rPr>
              <a:t>•  Formative Exit Tickets: </a:t>
            </a:r>
            <a:r>
              <a:rPr b="0" sz="1000">
                <a:solidFill>
                  <a:srgbClr val="1E293B"/>
                </a:solidFill>
                <a:latin typeface="Segoe UI"/>
              </a:rPr>
              <a:t>Prompt students for their 'muddiest point' before leaving the lecture room to calibrate the next class.</a:t>
            </a:r>
          </a:p>
          <a:p>
            <a:pPr>
              <a:spcAft>
                <a:spcPts val="450"/>
              </a:spcAft>
            </a:pPr>
            <a:r>
              <a:rPr b="1" sz="1000">
                <a:solidFill>
                  <a:srgbClr val="1E293B"/>
                </a:solidFill>
                <a:latin typeface="Segoe UI"/>
              </a:rPr>
              <a:t>•  Mini-Coding Hack Rounds: </a:t>
            </a:r>
            <a:r>
              <a:rPr b="0" sz="1000">
                <a:solidFill>
                  <a:srgbClr val="1E293B"/>
                </a:solidFill>
                <a:latin typeface="Segoe UI"/>
              </a:rPr>
              <a:t>15-minute live coding challenges in Colab to implement algorithms discussed in theory.</a:t>
            </a:r>
          </a:p>
        </p:txBody>
      </p:sp>
      <p:sp>
        <p:nvSpPr>
          <p:cNvPr id="9" name="Rounded Rectangle 8"/>
          <p:cNvSpPr/>
          <p:nvPr/>
        </p:nvSpPr>
        <p:spPr>
          <a:xfrm>
            <a:off x="6309360" y="1828800"/>
            <a:ext cx="5120640" cy="38404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7C3AED"/>
                </a:solidFill>
                <a:latin typeface="Segoe UI"/>
              </a:defRPr>
            </a:pPr>
            <a:r>
              <a:t>INTERACTIVE PEDAGOGICAL PLATFORMS</a:t>
            </a:r>
          </a:p>
        </p:txBody>
      </p:sp>
      <p:sp>
        <p:nvSpPr>
          <p:cNvPr id="11" name="Rounded Rectangle 10"/>
          <p:cNvSpPr/>
          <p:nvPr/>
        </p:nvSpPr>
        <p:spPr>
          <a:xfrm>
            <a:off x="6537960" y="2331720"/>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02920"/>
          </a:xfrm>
          <a:prstGeom prst="rect">
            <a:avLst/>
          </a:prstGeom>
          <a:noFill/>
        </p:spPr>
        <p:txBody>
          <a:bodyPr wrap="square" lIns="0" rIns="0" tIns="0" bIns="0">
            <a:spAutoFit/>
          </a:bodyPr>
          <a:lstStyle/>
          <a:p>
            <a:pPr>
              <a:defRPr b="1" sz="950">
                <a:solidFill>
                  <a:srgbClr val="2563EB"/>
                </a:solidFill>
              </a:defRPr>
            </a:pPr>
            <a:r>
              <a:t>Google Forms</a:t>
            </a:r>
          </a:p>
          <a:p>
            <a:pPr>
              <a:defRPr sz="850">
                <a:solidFill>
                  <a:srgbClr val="1E293B"/>
                </a:solidFill>
              </a:defRPr>
            </a:pPr>
            <a:r>
              <a:t>Rapid diagnostic quizzes, real-time response aggregation, and instant concept feedback.</a:t>
            </a:r>
          </a:p>
        </p:txBody>
      </p:sp>
      <p:sp>
        <p:nvSpPr>
          <p:cNvPr id="13" name="Rounded Rectangle 12"/>
          <p:cNvSpPr/>
          <p:nvPr/>
        </p:nvSpPr>
        <p:spPr>
          <a:xfrm>
            <a:off x="6537960" y="2990088"/>
            <a:ext cx="4663440" cy="5943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44952"/>
            <a:ext cx="4480560" cy="502920"/>
          </a:xfrm>
          <a:prstGeom prst="rect">
            <a:avLst/>
          </a:prstGeom>
          <a:noFill/>
        </p:spPr>
        <p:txBody>
          <a:bodyPr wrap="square" lIns="0" rIns="0" tIns="0" bIns="0">
            <a:spAutoFit/>
          </a:bodyPr>
          <a:lstStyle/>
          <a:p>
            <a:pPr>
              <a:defRPr b="1" sz="950">
                <a:solidFill>
                  <a:srgbClr val="7C3AED"/>
                </a:solidFill>
              </a:defRPr>
            </a:pPr>
            <a:r>
              <a:t>Kahoot!</a:t>
            </a:r>
          </a:p>
          <a:p>
            <a:pPr>
              <a:defRPr sz="850">
                <a:solidFill>
                  <a:srgbClr val="1E293B"/>
                </a:solidFill>
              </a:defRPr>
            </a:pPr>
            <a:r>
              <a:t>High-energy competitive quizzes; ideal for review sessions and icebreaker concept checks.</a:t>
            </a:r>
          </a:p>
        </p:txBody>
      </p:sp>
      <p:sp>
        <p:nvSpPr>
          <p:cNvPr id="15" name="Rounded Rectangle 14"/>
          <p:cNvSpPr/>
          <p:nvPr/>
        </p:nvSpPr>
        <p:spPr>
          <a:xfrm>
            <a:off x="6537960" y="3648456"/>
            <a:ext cx="4663440" cy="5943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03320"/>
            <a:ext cx="4480560" cy="502920"/>
          </a:xfrm>
          <a:prstGeom prst="rect">
            <a:avLst/>
          </a:prstGeom>
          <a:noFill/>
        </p:spPr>
        <p:txBody>
          <a:bodyPr wrap="square" lIns="0" rIns="0" tIns="0" bIns="0">
            <a:spAutoFit/>
          </a:bodyPr>
          <a:lstStyle/>
          <a:p>
            <a:pPr>
              <a:defRPr b="1" sz="950">
                <a:solidFill>
                  <a:srgbClr val="D97706"/>
                </a:solidFill>
              </a:defRPr>
            </a:pPr>
            <a:r>
              <a:t>Blooket</a:t>
            </a:r>
          </a:p>
          <a:p>
            <a:pPr>
              <a:defRPr sz="850">
                <a:solidFill>
                  <a:srgbClr val="1E293B"/>
                </a:solidFill>
              </a:defRPr>
            </a:pPr>
            <a:r>
              <a:t>Gamified learning activities featuring Tower Defense and Gold Quest mechanics for high engagement.</a:t>
            </a:r>
          </a:p>
        </p:txBody>
      </p:sp>
      <p:sp>
        <p:nvSpPr>
          <p:cNvPr id="17" name="Rounded Rectangle 16"/>
          <p:cNvSpPr/>
          <p:nvPr/>
        </p:nvSpPr>
        <p:spPr>
          <a:xfrm>
            <a:off x="6537960" y="4306824"/>
            <a:ext cx="46634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361688"/>
            <a:ext cx="4480560" cy="502920"/>
          </a:xfrm>
          <a:prstGeom prst="rect">
            <a:avLst/>
          </a:prstGeom>
          <a:noFill/>
        </p:spPr>
        <p:txBody>
          <a:bodyPr wrap="square" lIns="0" rIns="0" tIns="0" bIns="0">
            <a:spAutoFit/>
          </a:bodyPr>
          <a:lstStyle/>
          <a:p>
            <a:pPr>
              <a:defRPr b="1" sz="950">
                <a:solidFill>
                  <a:srgbClr val="0D9488"/>
                </a:solidFill>
              </a:defRPr>
            </a:pPr>
            <a:r>
              <a:t>Flippity</a:t>
            </a:r>
          </a:p>
          <a:p>
            <a:pPr>
              <a:defRPr sz="850">
                <a:solidFill>
                  <a:srgbClr val="1E293B"/>
                </a:solidFill>
              </a:defRPr>
            </a:pPr>
            <a:r>
              <a:t>Converts simple Google Sheets into flashcards, Jeopardy game boards, and random student pickers.</a:t>
            </a:r>
          </a:p>
        </p:txBody>
      </p:sp>
      <p:sp>
        <p:nvSpPr>
          <p:cNvPr id="19" name="Rounded Rectangle 18"/>
          <p:cNvSpPr/>
          <p:nvPr/>
        </p:nvSpPr>
        <p:spPr>
          <a:xfrm>
            <a:off x="6537960" y="4965192"/>
            <a:ext cx="4663440" cy="594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20056"/>
            <a:ext cx="4480560" cy="502920"/>
          </a:xfrm>
          <a:prstGeom prst="rect">
            <a:avLst/>
          </a:prstGeom>
          <a:noFill/>
        </p:spPr>
        <p:txBody>
          <a:bodyPr wrap="square" lIns="0" rIns="0" tIns="0" bIns="0">
            <a:spAutoFit/>
          </a:bodyPr>
          <a:lstStyle/>
          <a:p>
            <a:pPr>
              <a:defRPr b="1" sz="950">
                <a:solidFill>
                  <a:srgbClr val="059669"/>
                </a:solidFill>
              </a:defRPr>
            </a:pPr>
            <a:r>
              <a:t>Khan Academy</a:t>
            </a:r>
          </a:p>
          <a:p>
            <a:pPr>
              <a:defRPr sz="850">
                <a:solidFill>
                  <a:srgbClr val="1E293B"/>
                </a:solidFill>
              </a:defRPr>
            </a:pPr>
            <a:r>
              <a:t>Scaffolded self-paced modules, interactive hints, and student mastery tracking dashboards.</a:t>
            </a:r>
          </a:p>
        </p:txBody>
      </p:sp>
      <p:sp>
        <p:nvSpPr>
          <p:cNvPr id="21" name="Rounded Rectangle 20"/>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Educational Finding: </a:t>
            </a:r>
            <a:r>
              <a:rPr b="0" sz="950">
                <a:solidFill>
                  <a:srgbClr val="1E293B"/>
                </a:solidFill>
              </a:rPr>
              <a:t>Studies in engineering education prove that active learning reduces course failure rates by 33% compared to traditional lecturing (Freeman et al., PNAS).</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PNAS / Journal of Engineering Education</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25 of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PEDAGOGICAL TOOLS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Google Forms for Brisk Active Teaching &amp; Rapid Feedback</a:t>
            </a:r>
          </a:p>
          <a:p>
            <a:pPr>
              <a:spcBef>
                <a:spcPts val="300"/>
              </a:spcBef>
              <a:defRPr sz="1150">
                <a:solidFill>
                  <a:srgbClr val="475569"/>
                </a:solidFill>
                <a:latin typeface="Segoe UI"/>
              </a:defRPr>
            </a:pPr>
            <a:r>
              <a:t>Implementing continuous formative assessment, instant misconception detection, and dynamic lecture tuning</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6 CORE ACTIVE USE CASES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00"/>
              </a:spcAft>
            </a:pPr>
            <a:r>
              <a:rPr b="1" sz="950">
                <a:solidFill>
                  <a:srgbClr val="1E293B"/>
                </a:solidFill>
                <a:latin typeface="Segoe UI"/>
              </a:rPr>
              <a:t>•  1. Pre-Class Diagnostic Check: </a:t>
            </a:r>
            <a:r>
              <a:rPr b="0" sz="950">
                <a:solidFill>
                  <a:srgbClr val="1E293B"/>
                </a:solidFill>
                <a:latin typeface="Segoe UI"/>
              </a:rPr>
              <a:t>A 3-question survey assessing prerequisite readiness before introducing advanced topics.</a:t>
            </a:r>
          </a:p>
          <a:p>
            <a:pPr>
              <a:spcAft>
                <a:spcPts val="400"/>
              </a:spcAft>
            </a:pPr>
            <a:r>
              <a:rPr b="1" sz="950">
                <a:solidFill>
                  <a:srgbClr val="1E293B"/>
                </a:solidFill>
                <a:latin typeface="Segoe UI"/>
              </a:rPr>
              <a:t>•  2. Frictionless Attendance &amp; Verification: </a:t>
            </a:r>
            <a:r>
              <a:rPr b="0" sz="950">
                <a:solidFill>
                  <a:srgbClr val="1E293B"/>
                </a:solidFill>
                <a:latin typeface="Segoe UI"/>
              </a:rPr>
              <a:t>Time-stamped attendance verification with an integrated conceptual challenge.</a:t>
            </a:r>
          </a:p>
          <a:p>
            <a:pPr>
              <a:spcAft>
                <a:spcPts val="400"/>
              </a:spcAft>
            </a:pPr>
            <a:r>
              <a:rPr b="1" sz="950">
                <a:solidFill>
                  <a:srgbClr val="1E293B"/>
                </a:solidFill>
                <a:latin typeface="Segoe UI"/>
              </a:rPr>
              <a:t>•  3. Mid-Lecture Concept Pulse: </a:t>
            </a:r>
            <a:r>
              <a:rPr b="0" sz="950">
                <a:solidFill>
                  <a:srgbClr val="1E293B"/>
                </a:solidFill>
                <a:latin typeface="Segoe UI"/>
              </a:rPr>
              <a:t>Gauge class understanding of a freshly derived theorem before moving to applications.</a:t>
            </a:r>
          </a:p>
          <a:p>
            <a:pPr>
              <a:spcAft>
                <a:spcPts val="400"/>
              </a:spcAft>
            </a:pPr>
            <a:r>
              <a:rPr b="1" sz="950">
                <a:solidFill>
                  <a:srgbClr val="1E293B"/>
                </a:solidFill>
                <a:latin typeface="Segoe UI"/>
              </a:rPr>
              <a:t>•  4. Formative Exit Ticket: </a:t>
            </a:r>
            <a:r>
              <a:rPr b="0" sz="950">
                <a:solidFill>
                  <a:srgbClr val="1E293B"/>
                </a:solidFill>
                <a:latin typeface="Segoe UI"/>
              </a:rPr>
              <a:t>Ask: 'What was the single most confusing concept covered today?' to shape tomorrow's lecture.</a:t>
            </a:r>
          </a:p>
          <a:p>
            <a:pPr>
              <a:spcAft>
                <a:spcPts val="400"/>
              </a:spcAft>
            </a:pPr>
            <a:r>
              <a:rPr b="1" sz="950">
                <a:solidFill>
                  <a:srgbClr val="1E293B"/>
                </a:solidFill>
                <a:latin typeface="Segoe UI"/>
              </a:rPr>
              <a:t>•  5. Automated Grading &amp; Instant Analytics: </a:t>
            </a:r>
            <a:r>
              <a:rPr b="0" sz="950">
                <a:solidFill>
                  <a:srgbClr val="1E293B"/>
                </a:solidFill>
                <a:latin typeface="Segoe UI"/>
              </a:rPr>
              <a:t>View real-time bar charts of student distributions across multiple-choice options.</a:t>
            </a:r>
          </a:p>
          <a:p>
            <a:pPr>
              <a:spcAft>
                <a:spcPts val="400"/>
              </a:spcAft>
            </a:pPr>
            <a:r>
              <a:rPr b="1" sz="950">
                <a:solidFill>
                  <a:srgbClr val="1E293B"/>
                </a:solidFill>
                <a:latin typeface="Segoe UI"/>
              </a:rPr>
              <a:t>•  6. Anonymous Project Peer Feedback: </a:t>
            </a:r>
            <a:r>
              <a:rPr b="0" sz="950">
                <a:solidFill>
                  <a:srgbClr val="1E293B"/>
                </a:solidFill>
                <a:latin typeface="Segoe UI"/>
              </a:rPr>
              <a:t>Students review peer presentations with standardized rubric grading.</a:t>
            </a:r>
          </a:p>
        </p:txBody>
      </p:sp>
      <p:sp>
        <p:nvSpPr>
          <p:cNvPr id="9" name="Rounded Rectangle 8"/>
          <p:cNvSpPr/>
          <p:nvPr/>
        </p:nvSpPr>
        <p:spPr>
          <a:xfrm>
            <a:off x="630936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THE RAPID FEEDBACK-TO-TEACHING LOOP</a:t>
            </a:r>
          </a:p>
        </p:txBody>
      </p:sp>
      <p:sp>
        <p:nvSpPr>
          <p:cNvPr id="11" name="Rounded Rectangle 10"/>
          <p:cNvSpPr/>
          <p:nvPr/>
        </p:nvSpPr>
        <p:spPr>
          <a:xfrm>
            <a:off x="6537960" y="2331720"/>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68296"/>
            <a:ext cx="4480560" cy="411480"/>
          </a:xfrm>
          <a:prstGeom prst="rect">
            <a:avLst/>
          </a:prstGeom>
          <a:noFill/>
        </p:spPr>
        <p:txBody>
          <a:bodyPr wrap="square" lIns="0" rIns="0" tIns="0" bIns="0">
            <a:spAutoFit/>
          </a:bodyPr>
          <a:lstStyle/>
          <a:p>
            <a:r>
              <a:rPr b="1" sz="900">
                <a:solidFill>
                  <a:srgbClr val="2563EB"/>
                </a:solidFill>
              </a:rPr>
              <a:t>1. INSTRUCTOR DEPLOYS FORM: </a:t>
            </a:r>
            <a:r>
              <a:rPr sz="850">
                <a:solidFill>
                  <a:srgbClr val="1E293B"/>
                </a:solidFill>
              </a:rPr>
              <a:t>Share QR code or short link at the start or midpoint of class</a:t>
            </a:r>
          </a:p>
        </p:txBody>
      </p:sp>
      <p:sp>
        <p:nvSpPr>
          <p:cNvPr id="13" name="Rounded Rectangle 12"/>
          <p:cNvSpPr/>
          <p:nvPr/>
        </p:nvSpPr>
        <p:spPr>
          <a:xfrm>
            <a:off x="6537960" y="2862072"/>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2898648"/>
            <a:ext cx="4480560" cy="411480"/>
          </a:xfrm>
          <a:prstGeom prst="rect">
            <a:avLst/>
          </a:prstGeom>
          <a:noFill/>
        </p:spPr>
        <p:txBody>
          <a:bodyPr wrap="square" lIns="0" rIns="0" tIns="0" bIns="0">
            <a:spAutoFit/>
          </a:bodyPr>
          <a:lstStyle/>
          <a:p>
            <a:r>
              <a:rPr b="1" sz="900">
                <a:solidFill>
                  <a:srgbClr val="2563EB"/>
                </a:solidFill>
              </a:rPr>
              <a:t>2. REAL-TIME STUDENT SUBMISSION: </a:t>
            </a:r>
            <a:r>
              <a:rPr sz="850">
                <a:solidFill>
                  <a:srgbClr val="1E293B"/>
                </a:solidFill>
              </a:rPr>
              <a:t>Students submit answers via smartphones in under 90 seconds</a:t>
            </a:r>
          </a:p>
        </p:txBody>
      </p:sp>
      <p:sp>
        <p:nvSpPr>
          <p:cNvPr id="15" name="Rounded Rectangle 14"/>
          <p:cNvSpPr/>
          <p:nvPr/>
        </p:nvSpPr>
        <p:spPr>
          <a:xfrm>
            <a:off x="6537960" y="3392424"/>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429000"/>
            <a:ext cx="4480560" cy="411480"/>
          </a:xfrm>
          <a:prstGeom prst="rect">
            <a:avLst/>
          </a:prstGeom>
          <a:noFill/>
        </p:spPr>
        <p:txBody>
          <a:bodyPr wrap="square" lIns="0" rIns="0" tIns="0" bIns="0">
            <a:spAutoFit/>
          </a:bodyPr>
          <a:lstStyle/>
          <a:p>
            <a:r>
              <a:rPr b="1" sz="900">
                <a:solidFill>
                  <a:srgbClr val="2563EB"/>
                </a:solidFill>
              </a:rPr>
              <a:t>3. AUTOMATED CHART GENERATION: </a:t>
            </a:r>
            <a:r>
              <a:rPr sz="850">
                <a:solidFill>
                  <a:srgbClr val="1E293B"/>
                </a:solidFill>
              </a:rPr>
              <a:t>Google Forms automatically aggregates responses into live charts</a:t>
            </a:r>
          </a:p>
        </p:txBody>
      </p:sp>
      <p:sp>
        <p:nvSpPr>
          <p:cNvPr id="17" name="Rounded Rectangle 16"/>
          <p:cNvSpPr/>
          <p:nvPr/>
        </p:nvSpPr>
        <p:spPr>
          <a:xfrm>
            <a:off x="6537960" y="3922776"/>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3959352"/>
            <a:ext cx="4480560" cy="411480"/>
          </a:xfrm>
          <a:prstGeom prst="rect">
            <a:avLst/>
          </a:prstGeom>
          <a:noFill/>
        </p:spPr>
        <p:txBody>
          <a:bodyPr wrap="square" lIns="0" rIns="0" tIns="0" bIns="0">
            <a:spAutoFit/>
          </a:bodyPr>
          <a:lstStyle/>
          <a:p>
            <a:r>
              <a:rPr b="1" sz="900">
                <a:solidFill>
                  <a:srgbClr val="2563EB"/>
                </a:solidFill>
              </a:rPr>
              <a:t>4. MISCONCEPTION DETECTION: </a:t>
            </a:r>
            <a:r>
              <a:rPr sz="850">
                <a:solidFill>
                  <a:srgbClr val="1E293B"/>
                </a:solidFill>
              </a:rPr>
              <a:t>Instructor immediately identifies if 60% picked wrong option 'B'</a:t>
            </a:r>
          </a:p>
        </p:txBody>
      </p:sp>
      <p:sp>
        <p:nvSpPr>
          <p:cNvPr id="19" name="Rounded Rectangle 18"/>
          <p:cNvSpPr/>
          <p:nvPr/>
        </p:nvSpPr>
        <p:spPr>
          <a:xfrm>
            <a:off x="6537960" y="4453128"/>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489704"/>
            <a:ext cx="4480560" cy="411480"/>
          </a:xfrm>
          <a:prstGeom prst="rect">
            <a:avLst/>
          </a:prstGeom>
          <a:noFill/>
        </p:spPr>
        <p:txBody>
          <a:bodyPr wrap="square" lIns="0" rIns="0" tIns="0" bIns="0">
            <a:spAutoFit/>
          </a:bodyPr>
          <a:lstStyle/>
          <a:p>
            <a:r>
              <a:rPr b="1" sz="900">
                <a:solidFill>
                  <a:srgbClr val="2563EB"/>
                </a:solidFill>
              </a:rPr>
              <a:t>5. ON-THE-FLY LECTURE TUNING: </a:t>
            </a:r>
            <a:r>
              <a:rPr sz="850">
                <a:solidFill>
                  <a:srgbClr val="1E293B"/>
                </a:solidFill>
              </a:rPr>
              <a:t>Spend 5 minutes clarifying the misconception rather than lecturing ahead</a:t>
            </a:r>
          </a:p>
        </p:txBody>
      </p:sp>
      <p:sp>
        <p:nvSpPr>
          <p:cNvPr id="21" name="Rounded Rectangle 20"/>
          <p:cNvSpPr/>
          <p:nvPr/>
        </p:nvSpPr>
        <p:spPr>
          <a:xfrm>
            <a:off x="6537960" y="4983480"/>
            <a:ext cx="4663440" cy="48463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020056"/>
            <a:ext cx="4480560" cy="411480"/>
          </a:xfrm>
          <a:prstGeom prst="rect">
            <a:avLst/>
          </a:prstGeom>
          <a:noFill/>
        </p:spPr>
        <p:txBody>
          <a:bodyPr wrap="square" lIns="0" rIns="0" tIns="0" bIns="0">
            <a:spAutoFit/>
          </a:bodyPr>
          <a:lstStyle/>
          <a:p>
            <a:r>
              <a:rPr b="1" sz="900">
                <a:solidFill>
                  <a:srgbClr val="2563EB"/>
                </a:solidFill>
              </a:rPr>
              <a:t>6. POST-CLASS EXCEL ARCHIVE: </a:t>
            </a:r>
            <a:r>
              <a:rPr sz="850">
                <a:solidFill>
                  <a:srgbClr val="1E293B"/>
                </a:solidFill>
              </a:rPr>
              <a:t>Export Sheets for longitudinal tracking of struggling students</a:t>
            </a:r>
          </a:p>
        </p:txBody>
      </p:sp>
      <p:sp>
        <p:nvSpPr>
          <p:cNvPr id="23" name="Rounded Rectangle 22"/>
          <p:cNvSpPr/>
          <p:nvPr/>
        </p:nvSpPr>
        <p:spPr>
          <a:xfrm>
            <a:off x="731520" y="5806440"/>
            <a:ext cx="10728655" cy="5029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5806440"/>
            <a:ext cx="109728"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Pedagogical Efficiency: </a:t>
            </a:r>
            <a:r>
              <a:rPr b="0" sz="950">
                <a:solidFill>
                  <a:srgbClr val="1E293B"/>
                </a:solidFill>
              </a:rPr>
              <a:t>Never wait until mid-term exams to discover that students misunderstood a fundamental concept. A 2-minute Google Form provides instant diagnostic visibility.</a:t>
            </a:r>
          </a:p>
        </p:txBody>
      </p:sp>
      <p:sp>
        <p:nvSpPr>
          <p:cNvPr id="26" name="TextBox 25"/>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Google Workspace for Education / Teaching Strategies</a:t>
            </a:r>
          </a:p>
        </p:txBody>
      </p:sp>
      <p:sp>
        <p:nvSpPr>
          <p:cNvPr id="27" name="TextBox 26"/>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26 of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PEDAGOGICAL TOOLS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Khan Academy: Structured Mastery &amp; Flipped Learning</a:t>
            </a:r>
          </a:p>
          <a:p>
            <a:pPr>
              <a:spcBef>
                <a:spcPts val="300"/>
              </a:spcBef>
              <a:defRPr sz="1150">
                <a:solidFill>
                  <a:srgbClr val="475569"/>
                </a:solidFill>
                <a:latin typeface="Segoe UI"/>
              </a:defRPr>
            </a:pPr>
            <a:r>
              <a:t>Implementing self-paced mastery learning, prerequisite remediation, and the 3-phase flipped classroom</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059669"/>
                </a:solidFill>
                <a:latin typeface="Segoe UI"/>
              </a:defRPr>
            </a:pPr>
            <a:r>
              <a:t>MASTERY LEARNING PHILOSOPHY</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950">
                <a:solidFill>
                  <a:srgbClr val="1E293B"/>
                </a:solidFill>
                <a:latin typeface="Segoe UI"/>
              </a:rPr>
              <a:t>•  Variable Time, Constant Mastery: </a:t>
            </a:r>
            <a:r>
              <a:rPr b="0" sz="950">
                <a:solidFill>
                  <a:srgbClr val="1E293B"/>
                </a:solidFill>
                <a:latin typeface="Segoe UI"/>
              </a:rPr>
              <a:t>In traditional education, time is constant and learning is variable. In mastery learning, learning is held constant at 100% while students take the time they need.</a:t>
            </a:r>
          </a:p>
          <a:p>
            <a:pPr>
              <a:spcAft>
                <a:spcPts val="450"/>
              </a:spcAft>
            </a:pPr>
            <a:r>
              <a:rPr b="1" sz="950">
                <a:solidFill>
                  <a:srgbClr val="1E293B"/>
                </a:solidFill>
                <a:latin typeface="Segoe UI"/>
              </a:rPr>
              <a:t>•  Scaffolded Hint Systems: </a:t>
            </a:r>
            <a:r>
              <a:rPr b="0" sz="950">
                <a:solidFill>
                  <a:srgbClr val="1E293B"/>
                </a:solidFill>
                <a:latin typeface="Segoe UI"/>
              </a:rPr>
              <a:t>Instant step-by-step hints guide students through math and science derivations without revealing answers prematurely.</a:t>
            </a:r>
          </a:p>
          <a:p>
            <a:pPr>
              <a:spcAft>
                <a:spcPts val="450"/>
              </a:spcAft>
            </a:pPr>
            <a:r>
              <a:rPr b="1" sz="950">
                <a:solidFill>
                  <a:srgbClr val="1E293B"/>
                </a:solidFill>
                <a:latin typeface="Segoe UI"/>
              </a:rPr>
              <a:t>•  Automated Prerequisite Mapping: </a:t>
            </a:r>
            <a:r>
              <a:rPr b="0" sz="950">
                <a:solidFill>
                  <a:srgbClr val="1E293B"/>
                </a:solidFill>
                <a:latin typeface="Segoe UI"/>
              </a:rPr>
              <a:t>Identifies foundational gaps in linear algebra or calculus that impede advanced engineering coursework.</a:t>
            </a:r>
          </a:p>
          <a:p>
            <a:pPr>
              <a:spcAft>
                <a:spcPts val="450"/>
              </a:spcAft>
            </a:pPr>
            <a:r>
              <a:rPr b="1" sz="950">
                <a:solidFill>
                  <a:srgbClr val="1E293B"/>
                </a:solidFill>
                <a:latin typeface="Segoe UI"/>
              </a:rPr>
              <a:t>•  Teacher Dashboard Analytics: </a:t>
            </a:r>
            <a:r>
              <a:rPr b="0" sz="950">
                <a:solidFill>
                  <a:srgbClr val="1E293B"/>
                </a:solidFill>
                <a:latin typeface="Segoe UI"/>
              </a:rPr>
              <a:t>Instructors gain real-time visibility into student practice time, struggle areas, and mastery badges.</a:t>
            </a:r>
          </a:p>
          <a:p>
            <a:pPr>
              <a:spcAft>
                <a:spcPts val="450"/>
              </a:spcAft>
            </a:pPr>
            <a:r>
              <a:rPr b="1" sz="950">
                <a:solidFill>
                  <a:srgbClr val="1E293B"/>
                </a:solidFill>
                <a:latin typeface="Segoe UI"/>
              </a:rPr>
              <a:t>•  Khanmigo AI Co-Pilot: </a:t>
            </a:r>
            <a:r>
              <a:rPr b="0" sz="950">
                <a:solidFill>
                  <a:srgbClr val="1E293B"/>
                </a:solidFill>
                <a:latin typeface="Segoe UI"/>
              </a:rPr>
              <a:t>Contextual AI tutor that engages students in Socratic dialogue rather than simply providing direct answers.</a:t>
            </a:r>
          </a:p>
        </p:txBody>
      </p:sp>
      <p:sp>
        <p:nvSpPr>
          <p:cNvPr id="9" name="Rounded Rectangle 8"/>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3-PHASE FLIPPED CLASSROOM MODEL</a:t>
            </a:r>
          </a:p>
        </p:txBody>
      </p:sp>
      <p:sp>
        <p:nvSpPr>
          <p:cNvPr id="11" name="Rounded Rectangle 10"/>
          <p:cNvSpPr/>
          <p:nvPr/>
        </p:nvSpPr>
        <p:spPr>
          <a:xfrm>
            <a:off x="6537960" y="2331720"/>
            <a:ext cx="4663440" cy="10058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404872"/>
            <a:ext cx="4480560" cy="868680"/>
          </a:xfrm>
          <a:prstGeom prst="rect">
            <a:avLst/>
          </a:prstGeom>
          <a:noFill/>
        </p:spPr>
        <p:txBody>
          <a:bodyPr wrap="square" lIns="0" rIns="0" tIns="0" bIns="0">
            <a:spAutoFit/>
          </a:bodyPr>
          <a:lstStyle/>
          <a:p>
            <a:pPr>
              <a:defRPr b="1" sz="1000">
                <a:solidFill>
                  <a:srgbClr val="2563EB"/>
                </a:solidFill>
              </a:defRPr>
            </a:pPr>
            <a:r>
              <a:t>PHASE 1: PRE-CLASS (LEARN)</a:t>
            </a:r>
          </a:p>
          <a:p>
            <a:pPr>
              <a:spcBef>
                <a:spcPts val="300"/>
              </a:spcBef>
              <a:defRPr sz="900">
                <a:solidFill>
                  <a:srgbClr val="1E293B"/>
                </a:solidFill>
              </a:defRPr>
            </a:pPr>
            <a:r>
              <a:t>Students watch concise micro-lectures and complete diagnostic mastery exercises asynchronously at home.</a:t>
            </a:r>
          </a:p>
        </p:txBody>
      </p:sp>
      <p:sp>
        <p:nvSpPr>
          <p:cNvPr id="13" name="Rounded Rectangle 12"/>
          <p:cNvSpPr/>
          <p:nvPr/>
        </p:nvSpPr>
        <p:spPr>
          <a:xfrm>
            <a:off x="6537960" y="3410712"/>
            <a:ext cx="4663440" cy="100584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483864"/>
            <a:ext cx="4480560" cy="868680"/>
          </a:xfrm>
          <a:prstGeom prst="rect">
            <a:avLst/>
          </a:prstGeom>
          <a:noFill/>
        </p:spPr>
        <p:txBody>
          <a:bodyPr wrap="square" lIns="0" rIns="0" tIns="0" bIns="0">
            <a:spAutoFit/>
          </a:bodyPr>
          <a:lstStyle/>
          <a:p>
            <a:pPr>
              <a:defRPr b="1" sz="1000">
                <a:solidFill>
                  <a:srgbClr val="7C3AED"/>
                </a:solidFill>
              </a:defRPr>
            </a:pPr>
            <a:r>
              <a:t>PHASE 2: IN-CLASS (DISCUSS &amp; SOLVE)</a:t>
            </a:r>
          </a:p>
          <a:p>
            <a:pPr>
              <a:spcBef>
                <a:spcPts val="300"/>
              </a:spcBef>
              <a:defRPr sz="900">
                <a:solidFill>
                  <a:srgbClr val="1E293B"/>
                </a:solidFill>
              </a:defRPr>
            </a:pPr>
            <a:r>
              <a:t>Classroom hours are dedicated entirely to peer debate, complex engineering problem-solving, lab experiments, and instructor mentoring.</a:t>
            </a:r>
          </a:p>
        </p:txBody>
      </p:sp>
      <p:sp>
        <p:nvSpPr>
          <p:cNvPr id="15" name="Rounded Rectangle 14"/>
          <p:cNvSpPr/>
          <p:nvPr/>
        </p:nvSpPr>
        <p:spPr>
          <a:xfrm>
            <a:off x="6537960" y="4489704"/>
            <a:ext cx="4663440" cy="100584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562856"/>
            <a:ext cx="4480560" cy="868680"/>
          </a:xfrm>
          <a:prstGeom prst="rect">
            <a:avLst/>
          </a:prstGeom>
          <a:noFill/>
        </p:spPr>
        <p:txBody>
          <a:bodyPr wrap="square" lIns="0" rIns="0" tIns="0" bIns="0">
            <a:spAutoFit/>
          </a:bodyPr>
          <a:lstStyle/>
          <a:p>
            <a:pPr>
              <a:defRPr b="1" sz="1000">
                <a:solidFill>
                  <a:srgbClr val="0D9488"/>
                </a:solidFill>
              </a:defRPr>
            </a:pPr>
            <a:r>
              <a:t>PHASE 3: POST-CLASS (PRACTICE &amp; RETAIN)</a:t>
            </a:r>
          </a:p>
          <a:p>
            <a:pPr>
              <a:spcBef>
                <a:spcPts val="300"/>
              </a:spcBef>
              <a:defRPr sz="900">
                <a:solidFill>
                  <a:srgbClr val="1E293B"/>
                </a:solidFill>
              </a:defRPr>
            </a:pPr>
            <a:r>
              <a:t>Students tackle targeted retention challenges, spaced repetition problem sets, and capstone project implementations.</a:t>
            </a:r>
          </a:p>
        </p:txBody>
      </p:sp>
      <p:sp>
        <p:nvSpPr>
          <p:cNvPr id="17" name="Rounded Rectangle 16"/>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Pedagogical Shift: </a:t>
            </a:r>
            <a:r>
              <a:rPr b="0" sz="950">
                <a:solidFill>
                  <a:srgbClr val="1E293B"/>
                </a:solidFill>
              </a:rPr>
              <a:t>Flipping the classroom transforms the professor from the 'sage on the stage' delivering a monologue to the 'guide on the side' facilitating high-order engineering design.</a:t>
            </a:r>
          </a:p>
        </p:txBody>
      </p:sp>
      <p:sp>
        <p:nvSpPr>
          <p:cNvPr id="20" name="TextBox 19"/>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Source: khanacademy.org pedagogical research</a:t>
            </a:r>
          </a:p>
        </p:txBody>
      </p:sp>
      <p:sp>
        <p:nvSpPr>
          <p:cNvPr id="21" name="TextBox 20"/>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27 of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GAMIFICATION PLATFORMS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Comparative Analysis: Kahoot!, Blooket &amp; Flippity</a:t>
            </a:r>
          </a:p>
          <a:p>
            <a:pPr>
              <a:spcBef>
                <a:spcPts val="300"/>
              </a:spcBef>
              <a:defRPr sz="1150">
                <a:solidFill>
                  <a:srgbClr val="475569"/>
                </a:solidFill>
                <a:latin typeface="Segoe UI"/>
              </a:defRPr>
            </a:pPr>
            <a:r>
              <a:t>Evaluating game mechanics, classroom dynamics, and ideal pedagogical applications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828800"/>
          <a:ext cx="10728655" cy="3474720"/>
        </p:xfrm>
        <a:graphic>
          <a:graphicData uri="http://schemas.openxmlformats.org/drawingml/2006/table">
            <a:tbl>
              <a:tblPr firstRow="1" bandRow="1">
                <a:tableStyleId>{5C22544A-7EE6-4342-B048-85BDC9FD1C3A}</a:tableStyleId>
              </a:tblPr>
              <a:tblGrid>
                <a:gridCol w="1645920"/>
                <a:gridCol w="2743200"/>
                <a:gridCol w="2560320"/>
                <a:gridCol w="2377440"/>
                <a:gridCol w="1401775"/>
              </a:tblGrid>
              <a:tr h="868680">
                <a:tc>
                  <a:txBody>
                    <a:bodyPr/>
                    <a:lstStyle/>
                    <a:p>
                      <a:pPr algn="l">
                        <a:defRPr b="1" sz="1050">
                          <a:solidFill>
                            <a:srgbClr val="FFFFFF"/>
                          </a:solidFill>
                          <a:latin typeface="Segoe UI"/>
                        </a:defRPr>
                      </a:pPr>
                      <a:r>
                        <a:t>Platform</a:t>
                      </a:r>
                    </a:p>
                  </a:txBody>
                  <a:tcPr marL="109728" marR="109728" marT="73152" marB="73152">
                    <a:solidFill>
                      <a:srgbClr val="7C3AED"/>
                    </a:solidFill>
                  </a:tcPr>
                </a:tc>
                <a:tc>
                  <a:txBody>
                    <a:bodyPr/>
                    <a:lstStyle/>
                    <a:p>
                      <a:pPr algn="l">
                        <a:defRPr b="1" sz="1050">
                          <a:solidFill>
                            <a:srgbClr val="FFFFFF"/>
                          </a:solidFill>
                          <a:latin typeface="Segoe UI"/>
                        </a:defRPr>
                      </a:pPr>
                      <a:r>
                        <a:t>Core Game Dynamics</a:t>
                      </a:r>
                    </a:p>
                  </a:txBody>
                  <a:tcPr marL="109728" marR="109728" marT="73152" marB="73152">
                    <a:solidFill>
                      <a:srgbClr val="7C3AED"/>
                    </a:solidFill>
                  </a:tcPr>
                </a:tc>
                <a:tc>
                  <a:txBody>
                    <a:bodyPr/>
                    <a:lstStyle/>
                    <a:p>
                      <a:pPr algn="l">
                        <a:defRPr b="1" sz="1050">
                          <a:solidFill>
                            <a:srgbClr val="FFFFFF"/>
                          </a:solidFill>
                          <a:latin typeface="Segoe UI"/>
                        </a:defRPr>
                      </a:pPr>
                      <a:r>
                        <a:t>Engagement Style</a:t>
                      </a:r>
                    </a:p>
                  </a:txBody>
                  <a:tcPr marL="109728" marR="109728" marT="73152" marB="73152">
                    <a:solidFill>
                      <a:srgbClr val="7C3AED"/>
                    </a:solidFill>
                  </a:tcPr>
                </a:tc>
                <a:tc>
                  <a:txBody>
                    <a:bodyPr/>
                    <a:lstStyle/>
                    <a:p>
                      <a:pPr algn="l">
                        <a:defRPr b="1" sz="1050">
                          <a:solidFill>
                            <a:srgbClr val="FFFFFF"/>
                          </a:solidFill>
                          <a:latin typeface="Segoe UI"/>
                        </a:defRPr>
                      </a:pPr>
                      <a:r>
                        <a:t>Best Classroom Application</a:t>
                      </a:r>
                    </a:p>
                  </a:txBody>
                  <a:tcPr marL="109728" marR="109728" marT="73152" marB="73152">
                    <a:solidFill>
                      <a:srgbClr val="7C3AED"/>
                    </a:solidFill>
                  </a:tcPr>
                </a:tc>
                <a:tc>
                  <a:txBody>
                    <a:bodyPr/>
                    <a:lstStyle/>
                    <a:p>
                      <a:pPr algn="l">
                        <a:defRPr b="1" sz="1050">
                          <a:solidFill>
                            <a:srgbClr val="FFFFFF"/>
                          </a:solidFill>
                          <a:latin typeface="Segoe UI"/>
                        </a:defRPr>
                      </a:pPr>
                      <a:r>
                        <a:t>Setup Overhead</a:t>
                      </a:r>
                    </a:p>
                  </a:txBody>
                  <a:tcPr marL="109728" marR="109728" marT="73152" marB="73152">
                    <a:solidFill>
                      <a:srgbClr val="7C3AED"/>
                    </a:solidFill>
                  </a:tcPr>
                </a:tc>
              </a:tr>
              <a:tr h="868680">
                <a:tc>
                  <a:txBody>
                    <a:bodyPr/>
                    <a:lstStyle/>
                    <a:p>
                      <a:pPr algn="l">
                        <a:defRPr sz="1000" b="1">
                          <a:solidFill>
                            <a:srgbClr val="0F172A"/>
                          </a:solidFill>
                          <a:latin typeface="Segoe UI"/>
                        </a:defRPr>
                      </a:pPr>
                      <a:r>
                        <a:t>Kahoot!</a:t>
                      </a:r>
                    </a:p>
                  </a:txBody>
                  <a:tcPr marL="109728" marR="109728" marT="73152" marB="73152">
                    <a:solidFill>
                      <a:srgbClr val="FFFFFF"/>
                    </a:solidFill>
                  </a:tcPr>
                </a:tc>
                <a:tc>
                  <a:txBody>
                    <a:bodyPr/>
                    <a:lstStyle/>
                    <a:p>
                      <a:pPr algn="l">
                        <a:defRPr sz="1000">
                          <a:solidFill>
                            <a:srgbClr val="1E293B"/>
                          </a:solidFill>
                          <a:latin typeface="Segoe UI"/>
                        </a:defRPr>
                      </a:pPr>
                      <a:r>
                        <a:t>Synchronous, fast-paced MCQ speed challenges with arcade music &amp; podium rankings</a:t>
                      </a:r>
                    </a:p>
                  </a:txBody>
                  <a:tcPr marL="109728" marR="109728" marT="73152" marB="73152">
                    <a:solidFill>
                      <a:srgbClr val="FFFFFF"/>
                    </a:solidFill>
                  </a:tcPr>
                </a:tc>
                <a:tc>
                  <a:txBody>
                    <a:bodyPr/>
                    <a:lstStyle/>
                    <a:p>
                      <a:pPr algn="l">
                        <a:defRPr sz="1000">
                          <a:solidFill>
                            <a:srgbClr val="1E293B"/>
                          </a:solidFill>
                          <a:latin typeface="Segoe UI"/>
                        </a:defRPr>
                      </a:pPr>
                      <a:r>
                        <a:t>High-energy, competitive, whole-class synchronized showdown</a:t>
                      </a:r>
                    </a:p>
                  </a:txBody>
                  <a:tcPr marL="109728" marR="109728" marT="73152" marB="73152">
                    <a:solidFill>
                      <a:srgbClr val="FFFFFF"/>
                    </a:solidFill>
                  </a:tcPr>
                </a:tc>
                <a:tc>
                  <a:txBody>
                    <a:bodyPr/>
                    <a:lstStyle/>
                    <a:p>
                      <a:pPr algn="l">
                        <a:defRPr sz="1000">
                          <a:solidFill>
                            <a:srgbClr val="1E293B"/>
                          </a:solidFill>
                          <a:latin typeface="Segoe UI"/>
                        </a:defRPr>
                      </a:pPr>
                      <a:r>
                        <a:t>Exam review sessions, icebreakers, diagnostic checks, and workshop recaps</a:t>
                      </a:r>
                    </a:p>
                  </a:txBody>
                  <a:tcPr marL="109728" marR="109728" marT="73152" marB="73152">
                    <a:solidFill>
                      <a:srgbClr val="FFFFFF"/>
                    </a:solidFill>
                  </a:tcPr>
                </a:tc>
                <a:tc>
                  <a:txBody>
                    <a:bodyPr/>
                    <a:lstStyle/>
                    <a:p>
                      <a:pPr algn="l">
                        <a:defRPr sz="1000">
                          <a:solidFill>
                            <a:srgbClr val="1E293B"/>
                          </a:solidFill>
                          <a:latin typeface="Segoe UI"/>
                        </a:defRPr>
                      </a:pPr>
                      <a:r>
                        <a:t>Low (Ready-made library of 100M+ community quizzes)</a:t>
                      </a:r>
                    </a:p>
                  </a:txBody>
                  <a:tcPr marL="109728" marR="109728" marT="73152" marB="73152">
                    <a:solidFill>
                      <a:srgbClr val="FFFFFF"/>
                    </a:solidFill>
                  </a:tcPr>
                </a:tc>
              </a:tr>
              <a:tr h="868680">
                <a:tc>
                  <a:txBody>
                    <a:bodyPr/>
                    <a:lstStyle/>
                    <a:p>
                      <a:pPr algn="l">
                        <a:defRPr sz="1000" b="1">
                          <a:solidFill>
                            <a:srgbClr val="0F172A"/>
                          </a:solidFill>
                          <a:latin typeface="Segoe UI"/>
                        </a:defRPr>
                      </a:pPr>
                      <a:r>
                        <a:t>Blooket</a:t>
                      </a:r>
                    </a:p>
                  </a:txBody>
                  <a:tcPr marL="109728" marR="109728" marT="73152" marB="73152">
                    <a:solidFill>
                      <a:srgbClr val="F1F5F9"/>
                    </a:solidFill>
                  </a:tcPr>
                </a:tc>
                <a:tc>
                  <a:txBody>
                    <a:bodyPr/>
                    <a:lstStyle/>
                    <a:p>
                      <a:pPr algn="l">
                        <a:defRPr sz="1000">
                          <a:solidFill>
                            <a:srgbClr val="1E293B"/>
                          </a:solidFill>
                          <a:latin typeface="Segoe UI"/>
                        </a:defRPr>
                      </a:pPr>
                      <a:r>
                        <a:t>Action-oriented game modes (Tower Defense, Gold Quest, Cafe, Battle Royale)</a:t>
                      </a:r>
                    </a:p>
                  </a:txBody>
                  <a:tcPr marL="109728" marR="109728" marT="73152" marB="73152">
                    <a:solidFill>
                      <a:srgbClr val="F1F5F9"/>
                    </a:solidFill>
                  </a:tcPr>
                </a:tc>
                <a:tc>
                  <a:txBody>
                    <a:bodyPr/>
                    <a:lstStyle/>
                    <a:p>
                      <a:pPr algn="l">
                        <a:defRPr sz="1000">
                          <a:solidFill>
                            <a:srgbClr val="1E293B"/>
                          </a:solidFill>
                          <a:latin typeface="Segoe UI"/>
                        </a:defRPr>
                      </a:pPr>
                      <a:r>
                        <a:t>Intensely addictive, self-paced or live competitive gaming</a:t>
                      </a:r>
                    </a:p>
                  </a:txBody>
                  <a:tcPr marL="109728" marR="109728" marT="73152" marB="73152">
                    <a:solidFill>
                      <a:srgbClr val="F1F5F9"/>
                    </a:solidFill>
                  </a:tcPr>
                </a:tc>
                <a:tc>
                  <a:txBody>
                    <a:bodyPr/>
                    <a:lstStyle/>
                    <a:p>
                      <a:pPr algn="l">
                        <a:defRPr sz="1000">
                          <a:solidFill>
                            <a:srgbClr val="1E293B"/>
                          </a:solidFill>
                          <a:latin typeface="Segoe UI"/>
                        </a:defRPr>
                      </a:pPr>
                      <a:r>
                        <a:t>Vocabulary acquisition, formula drill reinforcement, and lab homework</a:t>
                      </a:r>
                    </a:p>
                  </a:txBody>
                  <a:tcPr marL="109728" marR="109728" marT="73152" marB="73152">
                    <a:solidFill>
                      <a:srgbClr val="F1F5F9"/>
                    </a:solidFill>
                  </a:tcPr>
                </a:tc>
                <a:tc>
                  <a:txBody>
                    <a:bodyPr/>
                    <a:lstStyle/>
                    <a:p>
                      <a:pPr algn="l">
                        <a:defRPr sz="1000">
                          <a:solidFill>
                            <a:srgbClr val="1E293B"/>
                          </a:solidFill>
                          <a:latin typeface="Segoe UI"/>
                        </a:defRPr>
                      </a:pPr>
                      <a:r>
                        <a:t>Low to Medium (Import via Quizlet or spreadsheet)</a:t>
                      </a:r>
                    </a:p>
                  </a:txBody>
                  <a:tcPr marL="109728" marR="109728" marT="73152" marB="73152">
                    <a:solidFill>
                      <a:srgbClr val="F1F5F9"/>
                    </a:solidFill>
                  </a:tcPr>
                </a:tc>
              </a:tr>
              <a:tr h="868680">
                <a:tc>
                  <a:txBody>
                    <a:bodyPr/>
                    <a:lstStyle/>
                    <a:p>
                      <a:pPr algn="l">
                        <a:defRPr sz="1000" b="1">
                          <a:solidFill>
                            <a:srgbClr val="0F172A"/>
                          </a:solidFill>
                          <a:latin typeface="Segoe UI"/>
                        </a:defRPr>
                      </a:pPr>
                      <a:r>
                        <a:t>Flippity</a:t>
                      </a:r>
                    </a:p>
                  </a:txBody>
                  <a:tcPr marL="109728" marR="109728" marT="73152" marB="73152">
                    <a:solidFill>
                      <a:srgbClr val="FFFFFF"/>
                    </a:solidFill>
                  </a:tcPr>
                </a:tc>
                <a:tc>
                  <a:txBody>
                    <a:bodyPr/>
                    <a:lstStyle/>
                    <a:p>
                      <a:pPr algn="l">
                        <a:defRPr sz="1000">
                          <a:solidFill>
                            <a:srgbClr val="1E293B"/>
                          </a:solidFill>
                          <a:latin typeface="Segoe UI"/>
                        </a:defRPr>
                      </a:pPr>
                      <a:r>
                        <a:t>Converts Google Sheets into Flashcards, Jeopardy Boards, Timelines, &amp; Scavenger Hunts</a:t>
                      </a:r>
                    </a:p>
                  </a:txBody>
                  <a:tcPr marL="109728" marR="109728" marT="73152" marB="73152">
                    <a:solidFill>
                      <a:srgbClr val="FFFFFF"/>
                    </a:solidFill>
                  </a:tcPr>
                </a:tc>
                <a:tc>
                  <a:txBody>
                    <a:bodyPr/>
                    <a:lstStyle/>
                    <a:p>
                      <a:pPr algn="l">
                        <a:defRPr sz="1000">
                          <a:solidFill>
                            <a:srgbClr val="1E293B"/>
                          </a:solidFill>
                          <a:latin typeface="Segoe UI"/>
                        </a:defRPr>
                      </a:pPr>
                      <a:r>
                        <a:t>Flexible, highly customizable, individual or team game shows</a:t>
                      </a:r>
                    </a:p>
                  </a:txBody>
                  <a:tcPr marL="109728" marR="109728" marT="73152" marB="73152">
                    <a:solidFill>
                      <a:srgbClr val="FFFFFF"/>
                    </a:solidFill>
                  </a:tcPr>
                </a:tc>
                <a:tc>
                  <a:txBody>
                    <a:bodyPr/>
                    <a:lstStyle/>
                    <a:p>
                      <a:pPr algn="l">
                        <a:defRPr sz="1000">
                          <a:solidFill>
                            <a:srgbClr val="1E293B"/>
                          </a:solidFill>
                          <a:latin typeface="Segoe UI"/>
                        </a:defRPr>
                      </a:pPr>
                      <a:r>
                        <a:t>Case study competitions, complex terminology matching, and random picker</a:t>
                      </a:r>
                    </a:p>
                  </a:txBody>
                  <a:tcPr marL="109728" marR="109728" marT="73152" marB="73152">
                    <a:solidFill>
                      <a:srgbClr val="FFFFFF"/>
                    </a:solidFill>
                  </a:tcPr>
                </a:tc>
                <a:tc>
                  <a:txBody>
                    <a:bodyPr/>
                    <a:lstStyle/>
                    <a:p>
                      <a:pPr algn="l">
                        <a:defRPr sz="1000">
                          <a:solidFill>
                            <a:srgbClr val="1E293B"/>
                          </a:solidFill>
                          <a:latin typeface="Segoe UI"/>
                        </a:defRPr>
                      </a:pPr>
                      <a:r>
                        <a:t>Extremely Low (Direct Google Sheets template copy)</a:t>
                      </a:r>
                    </a:p>
                  </a:txBody>
                  <a:tcPr marL="109728" marR="109728" marT="73152" marB="73152">
                    <a:solidFill>
                      <a:srgbClr val="FFFFFF"/>
                    </a:solidFill>
                  </a:tcPr>
                </a:tc>
              </a:tr>
            </a:tbl>
          </a:graphicData>
        </a:graphic>
      </p:graphicFrame>
      <p:sp>
        <p:nvSpPr>
          <p:cNvPr id="7" name="Rounded Rectangle 6"/>
          <p:cNvSpPr/>
          <p:nvPr/>
        </p:nvSpPr>
        <p:spPr>
          <a:xfrm>
            <a:off x="731520" y="5486400"/>
            <a:ext cx="10728655" cy="77724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486400"/>
            <a:ext cx="109728"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559552"/>
            <a:ext cx="10408615" cy="630936"/>
          </a:xfrm>
          <a:prstGeom prst="rect">
            <a:avLst/>
          </a:prstGeom>
          <a:noFill/>
        </p:spPr>
        <p:txBody>
          <a:bodyPr wrap="square" lIns="0" rIns="0" tIns="0" bIns="0">
            <a:spAutoFit/>
          </a:bodyPr>
          <a:lstStyle/>
          <a:p>
            <a:r>
              <a:rPr b="1" sz="1000">
                <a:solidFill>
                  <a:srgbClr val="0F172A"/>
                </a:solidFill>
              </a:rPr>
              <a:t>Platform Selection Rubric: </a:t>
            </a:r>
            <a:r>
              <a:rPr b="0" sz="950">
                <a:solidFill>
                  <a:srgbClr val="1E293B"/>
                </a:solidFill>
              </a:rPr>
              <a:t>Match the platform to your pedagogical objective: Use Kahoot! for fast whole-class pulse checks; use Blooket for high-repetition formula mastery; use Flippity when you require custom spreadsheet-driven Jeopardy competitions.</a:t>
            </a: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Platform analysis based on educational technology standards (2025)</a:t>
            </a:r>
          </a:p>
        </p:txBody>
      </p:sp>
      <p:sp>
        <p:nvSpPr>
          <p:cNvPr id="11" name="TextBox 10"/>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28 of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SECTION 11: GAMIFICATION</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Gamification Strategies for Deeper Conceptual Mastery</a:t>
            </a:r>
          </a:p>
          <a:p>
            <a:pPr>
              <a:spcBef>
                <a:spcPts val="300"/>
              </a:spcBef>
              <a:defRPr sz="1150">
                <a:solidFill>
                  <a:srgbClr val="475569"/>
                </a:solidFill>
                <a:latin typeface="Segoe UI"/>
              </a:defRPr>
            </a:pPr>
            <a:r>
              <a:t>Leveraging game mechanics to motivate sustained academic effort while maintaining rigorous learning outcomes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38404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2926080" cy="2743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97706"/>
                </a:solidFill>
                <a:latin typeface="Segoe UI"/>
              </a:defRPr>
            </a:pPr>
            <a:r>
              <a:t>CORE GAMIFICATION MECHANICS</a:t>
            </a:r>
          </a:p>
        </p:txBody>
      </p:sp>
      <p:sp>
        <p:nvSpPr>
          <p:cNvPr id="8" name="TextBox 7"/>
          <p:cNvSpPr txBox="1"/>
          <p:nvPr/>
        </p:nvSpPr>
        <p:spPr>
          <a:xfrm>
            <a:off x="960120" y="2331720"/>
            <a:ext cx="4663440" cy="3200400"/>
          </a:xfrm>
          <a:prstGeom prst="rect">
            <a:avLst/>
          </a:prstGeom>
          <a:noFill/>
        </p:spPr>
        <p:txBody>
          <a:bodyPr wrap="none">
            <a:spAutoFit/>
          </a:bodyPr>
          <a:lstStyle/>
          <a:p>
            <a:pPr>
              <a:spcAft>
                <a:spcPts val="450"/>
              </a:spcAft>
            </a:pPr>
            <a:r>
              <a:rPr b="1" sz="950">
                <a:solidFill>
                  <a:srgbClr val="1E293B"/>
                </a:solidFill>
                <a:latin typeface="Segoe UI"/>
              </a:rPr>
              <a:t>•  Experience Points (XP): </a:t>
            </a:r>
            <a:r>
              <a:rPr b="0" sz="950">
                <a:solidFill>
                  <a:srgbClr val="1E293B"/>
                </a:solidFill>
                <a:latin typeface="Segoe UI"/>
              </a:rPr>
              <a:t>Rewarding incremental effort (e.g., attending recitations, submitting code reviews) rather than just final exam performance.</a:t>
            </a:r>
          </a:p>
          <a:p>
            <a:pPr>
              <a:spcAft>
                <a:spcPts val="450"/>
              </a:spcAft>
            </a:pPr>
            <a:r>
              <a:rPr b="1" sz="950">
                <a:solidFill>
                  <a:srgbClr val="1E293B"/>
                </a:solidFill>
                <a:latin typeface="Segoe UI"/>
              </a:rPr>
              <a:t>•  Milestone Badges: </a:t>
            </a:r>
            <a:r>
              <a:rPr b="0" sz="950">
                <a:solidFill>
                  <a:srgbClr val="1E293B"/>
                </a:solidFill>
                <a:latin typeface="Segoe UI"/>
              </a:rPr>
              <a:t>Recognizing specific competencies (e.g., 'Git Master', 'CUDA Optimizer', 'Literature Scout').</a:t>
            </a:r>
          </a:p>
          <a:p>
            <a:pPr>
              <a:spcAft>
                <a:spcPts val="450"/>
              </a:spcAft>
            </a:pPr>
            <a:r>
              <a:rPr b="1" sz="950">
                <a:solidFill>
                  <a:srgbClr val="1E293B"/>
                </a:solidFill>
                <a:latin typeface="Segoe UI"/>
              </a:rPr>
              <a:t>•  Progress Bars: </a:t>
            </a:r>
            <a:r>
              <a:rPr b="0" sz="950">
                <a:solidFill>
                  <a:srgbClr val="1E293B"/>
                </a:solidFill>
                <a:latin typeface="Segoe UI"/>
              </a:rPr>
              <a:t>Visual representations of semester completion, reducing anxiety by rendering academic goals tangible.</a:t>
            </a:r>
          </a:p>
          <a:p>
            <a:pPr>
              <a:spcAft>
                <a:spcPts val="450"/>
              </a:spcAft>
            </a:pPr>
            <a:r>
              <a:rPr b="1" sz="950">
                <a:solidFill>
                  <a:srgbClr val="1E293B"/>
                </a:solidFill>
                <a:latin typeface="Segoe UI"/>
              </a:rPr>
              <a:t>•  Scaffolded Boss Fights: </a:t>
            </a:r>
            <a:r>
              <a:rPr b="0" sz="950">
                <a:solidFill>
                  <a:srgbClr val="1E293B"/>
                </a:solidFill>
                <a:latin typeface="Segoe UI"/>
              </a:rPr>
              <a:t>Multi-stage, complex engineering design challenges requiring integration of 3+ disparate modules.</a:t>
            </a:r>
          </a:p>
          <a:p>
            <a:pPr>
              <a:spcAft>
                <a:spcPts val="450"/>
              </a:spcAft>
            </a:pPr>
            <a:r>
              <a:rPr b="1" sz="950">
                <a:solidFill>
                  <a:srgbClr val="1E293B"/>
                </a:solidFill>
                <a:latin typeface="Segoe UI"/>
              </a:rPr>
              <a:t>•  Peer Guilds / Teams: </a:t>
            </a:r>
            <a:r>
              <a:rPr b="0" sz="950">
                <a:solidFill>
                  <a:srgbClr val="1E293B"/>
                </a:solidFill>
                <a:latin typeface="Segoe UI"/>
              </a:rPr>
              <a:t>Collaborative competitions where team scores depend on mentoring struggling members.</a:t>
            </a:r>
          </a:p>
        </p:txBody>
      </p:sp>
      <p:sp>
        <p:nvSpPr>
          <p:cNvPr id="9" name="Rounded Rectangle 8"/>
          <p:cNvSpPr/>
          <p:nvPr/>
        </p:nvSpPr>
        <p:spPr>
          <a:xfrm>
            <a:off x="6309360" y="1828800"/>
            <a:ext cx="5120640" cy="38404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1965960"/>
            <a:ext cx="320040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THE 5-LEVEL MASTERY PROGRESSION</a:t>
            </a:r>
          </a:p>
        </p:txBody>
      </p:sp>
      <p:sp>
        <p:nvSpPr>
          <p:cNvPr id="11" name="Rounded Rectangle 10"/>
          <p:cNvSpPr/>
          <p:nvPr/>
        </p:nvSpPr>
        <p:spPr>
          <a:xfrm>
            <a:off x="6537960" y="2331720"/>
            <a:ext cx="4663440" cy="5943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386584"/>
            <a:ext cx="4480560" cy="502920"/>
          </a:xfrm>
          <a:prstGeom prst="rect">
            <a:avLst/>
          </a:prstGeom>
          <a:noFill/>
        </p:spPr>
        <p:txBody>
          <a:bodyPr wrap="square" lIns="0" rIns="0" tIns="0" bIns="0">
            <a:spAutoFit/>
          </a:bodyPr>
          <a:lstStyle/>
          <a:p>
            <a:pPr>
              <a:defRPr b="1" sz="950">
                <a:solidFill>
                  <a:srgbClr val="2563EB"/>
                </a:solidFill>
              </a:defRPr>
            </a:pPr>
            <a:r>
              <a:t>LEVEL 1: CONCEPTUAL DRILL</a:t>
            </a:r>
          </a:p>
          <a:p>
            <a:pPr>
              <a:defRPr sz="850">
                <a:solidFill>
                  <a:srgbClr val="1E293B"/>
                </a:solidFill>
              </a:defRPr>
            </a:pPr>
            <a:r>
              <a:t>Master definitions and core theorems via Flippity flashcards</a:t>
            </a:r>
          </a:p>
        </p:txBody>
      </p:sp>
      <p:sp>
        <p:nvSpPr>
          <p:cNvPr id="13" name="Rounded Rectangle 12"/>
          <p:cNvSpPr/>
          <p:nvPr/>
        </p:nvSpPr>
        <p:spPr>
          <a:xfrm>
            <a:off x="6537960" y="2990088"/>
            <a:ext cx="4663440" cy="59436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044952"/>
            <a:ext cx="4480560" cy="502920"/>
          </a:xfrm>
          <a:prstGeom prst="rect">
            <a:avLst/>
          </a:prstGeom>
          <a:noFill/>
        </p:spPr>
        <p:txBody>
          <a:bodyPr wrap="square" lIns="0" rIns="0" tIns="0" bIns="0">
            <a:spAutoFit/>
          </a:bodyPr>
          <a:lstStyle/>
          <a:p>
            <a:pPr>
              <a:defRPr b="1" sz="950">
                <a:solidFill>
                  <a:srgbClr val="0F172A"/>
                </a:solidFill>
              </a:defRPr>
            </a:pPr>
            <a:r>
              <a:t>LEVEL 2: FORMATIVE QUIZ</a:t>
            </a:r>
          </a:p>
          <a:p>
            <a:pPr>
              <a:defRPr sz="850">
                <a:solidFill>
                  <a:srgbClr val="1E293B"/>
                </a:solidFill>
              </a:defRPr>
            </a:pPr>
            <a:r>
              <a:t>Identify misconceptions through brisk Kahoot! / Google Forms pulse</a:t>
            </a:r>
          </a:p>
        </p:txBody>
      </p:sp>
      <p:sp>
        <p:nvSpPr>
          <p:cNvPr id="15" name="Rounded Rectangle 14"/>
          <p:cNvSpPr/>
          <p:nvPr/>
        </p:nvSpPr>
        <p:spPr>
          <a:xfrm>
            <a:off x="6537960" y="3648456"/>
            <a:ext cx="4663440" cy="5943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3703320"/>
            <a:ext cx="4480560" cy="502920"/>
          </a:xfrm>
          <a:prstGeom prst="rect">
            <a:avLst/>
          </a:prstGeom>
          <a:noFill/>
        </p:spPr>
        <p:txBody>
          <a:bodyPr wrap="square" lIns="0" rIns="0" tIns="0" bIns="0">
            <a:spAutoFit/>
          </a:bodyPr>
          <a:lstStyle/>
          <a:p>
            <a:pPr>
              <a:defRPr b="1" sz="950">
                <a:solidFill>
                  <a:srgbClr val="7C3AED"/>
                </a:solidFill>
              </a:defRPr>
            </a:pPr>
            <a:r>
              <a:t>LEVEL 3: APPLIED PROBLEM</a:t>
            </a:r>
          </a:p>
          <a:p>
            <a:pPr>
              <a:defRPr sz="850">
                <a:solidFill>
                  <a:srgbClr val="1E293B"/>
                </a:solidFill>
              </a:defRPr>
            </a:pPr>
            <a:r>
              <a:t>Solve realistic engineering calculations with immediate hint feedback</a:t>
            </a:r>
          </a:p>
        </p:txBody>
      </p:sp>
      <p:sp>
        <p:nvSpPr>
          <p:cNvPr id="17" name="Rounded Rectangle 16"/>
          <p:cNvSpPr/>
          <p:nvPr/>
        </p:nvSpPr>
        <p:spPr>
          <a:xfrm>
            <a:off x="6537960" y="4306824"/>
            <a:ext cx="46634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361688"/>
            <a:ext cx="4480560" cy="502920"/>
          </a:xfrm>
          <a:prstGeom prst="rect">
            <a:avLst/>
          </a:prstGeom>
          <a:noFill/>
        </p:spPr>
        <p:txBody>
          <a:bodyPr wrap="square" lIns="0" rIns="0" tIns="0" bIns="0">
            <a:spAutoFit/>
          </a:bodyPr>
          <a:lstStyle/>
          <a:p>
            <a:pPr>
              <a:defRPr b="1" sz="950">
                <a:solidFill>
                  <a:srgbClr val="0D9488"/>
                </a:solidFill>
              </a:defRPr>
            </a:pPr>
            <a:r>
              <a:t>LEVEL 4: SYSTEM DEBUGGING</a:t>
            </a:r>
          </a:p>
          <a:p>
            <a:pPr>
              <a:defRPr sz="850">
                <a:solidFill>
                  <a:srgbClr val="1E293B"/>
                </a:solidFill>
              </a:defRPr>
            </a:pPr>
            <a:r>
              <a:t>Debug intentionally broken Python code in Google Colab notebooks</a:t>
            </a:r>
          </a:p>
        </p:txBody>
      </p:sp>
      <p:sp>
        <p:nvSpPr>
          <p:cNvPr id="19" name="Rounded Rectangle 18"/>
          <p:cNvSpPr/>
          <p:nvPr/>
        </p:nvSpPr>
        <p:spPr>
          <a:xfrm>
            <a:off x="6537960" y="4965192"/>
            <a:ext cx="4663440" cy="5943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5020056"/>
            <a:ext cx="4480560" cy="502920"/>
          </a:xfrm>
          <a:prstGeom prst="rect">
            <a:avLst/>
          </a:prstGeom>
          <a:noFill/>
        </p:spPr>
        <p:txBody>
          <a:bodyPr wrap="square" lIns="0" rIns="0" tIns="0" bIns="0">
            <a:spAutoFit/>
          </a:bodyPr>
          <a:lstStyle/>
          <a:p>
            <a:pPr>
              <a:defRPr b="1" sz="950">
                <a:solidFill>
                  <a:srgbClr val="059669"/>
                </a:solidFill>
              </a:defRPr>
            </a:pPr>
            <a:r>
              <a:t>LEVEL 5: CAPSTONE PROJECT</a:t>
            </a:r>
          </a:p>
          <a:p>
            <a:pPr>
              <a:defRPr sz="850">
                <a:solidFill>
                  <a:srgbClr val="1E293B"/>
                </a:solidFill>
              </a:defRPr>
            </a:pPr>
            <a:r>
              <a:t>Design, build, validate, and present an original research solution</a:t>
            </a:r>
          </a:p>
        </p:txBody>
      </p:sp>
      <p:sp>
        <p:nvSpPr>
          <p:cNvPr id="21" name="Rounded Rectangle 20"/>
          <p:cNvSpPr/>
          <p:nvPr/>
        </p:nvSpPr>
        <p:spPr>
          <a:xfrm>
            <a:off x="731520" y="5806440"/>
            <a:ext cx="10728655" cy="5029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806440"/>
            <a:ext cx="109728" cy="502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Cardinal Pedagogical Rule: </a:t>
            </a:r>
            <a:r>
              <a:rPr b="0" sz="950">
                <a:solidFill>
                  <a:srgbClr val="1E293B"/>
                </a:solidFill>
              </a:rPr>
              <a:t>Gamification must serve learning outcomes. Points and leaderboards without rigorous underlying intellectual challenges create superficial excitement without educational depth.</a:t>
            </a:r>
          </a:p>
        </p:txBody>
      </p:sp>
      <p:sp>
        <p:nvSpPr>
          <p:cNvPr id="24" name="TextBox 23"/>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Educational Psychology: Self-Determination Theory in Higher Education</a:t>
            </a:r>
          </a:p>
        </p:txBody>
      </p:sp>
      <p:sp>
        <p:nvSpPr>
          <p:cNvPr id="25" name="TextBox 24"/>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29 of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D4ED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MASTER SYNTHESIS</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FFFFFF"/>
                </a:solidFill>
                <a:latin typeface="Segoe UI"/>
              </a:defRPr>
            </a:pPr>
            <a:r>
              <a:t>The Complete AI-Enabled Research &amp; Teaching Ecosystem</a:t>
            </a:r>
          </a:p>
          <a:p>
            <a:pPr>
              <a:spcBef>
                <a:spcPts val="300"/>
              </a:spcBef>
              <a:defRPr sz="1150">
                <a:solidFill>
                  <a:srgbClr val="94A3B8"/>
                </a:solidFill>
                <a:latin typeface="Segoe UI"/>
              </a:defRPr>
            </a:pPr>
            <a:r>
              <a:t>A unified architectural matrix connecting literature discovery, experimentation, writing, and active teaching</a:t>
            </a:r>
          </a:p>
        </p:txBody>
      </p:sp>
      <p:sp>
        <p:nvSpPr>
          <p:cNvPr id="5" name="Rectangle 4"/>
          <p:cNvSpPr/>
          <p:nvPr/>
        </p:nvSpPr>
        <p:spPr>
          <a:xfrm>
            <a:off x="731520" y="1627632"/>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542032" cy="178308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20240"/>
            <a:ext cx="2322576" cy="320040"/>
          </a:xfrm>
          <a:prstGeom prst="rect">
            <a:avLst/>
          </a:prstGeom>
          <a:noFill/>
        </p:spPr>
        <p:txBody>
          <a:bodyPr wrap="none">
            <a:spAutoFit/>
          </a:bodyPr>
          <a:lstStyle/>
          <a:p>
            <a:pPr>
              <a:defRPr b="1" sz="1000">
                <a:solidFill>
                  <a:srgbClr val="2563EB"/>
                </a:solidFill>
              </a:defRPr>
            </a:pPr>
            <a:r>
              <a:t>1. DISCOVER</a:t>
            </a:r>
          </a:p>
        </p:txBody>
      </p:sp>
      <p:sp>
        <p:nvSpPr>
          <p:cNvPr id="8" name="TextBox 7"/>
          <p:cNvSpPr txBox="1"/>
          <p:nvPr/>
        </p:nvSpPr>
        <p:spPr>
          <a:xfrm>
            <a:off x="841248" y="2240280"/>
            <a:ext cx="2322576" cy="1280160"/>
          </a:xfrm>
          <a:prstGeom prst="rect">
            <a:avLst/>
          </a:prstGeom>
          <a:noFill/>
        </p:spPr>
        <p:txBody>
          <a:bodyPr wrap="square">
            <a:spAutoFit/>
          </a:bodyPr>
          <a:lstStyle/>
          <a:p/>
          <a:p>
            <a:pPr>
              <a:spcAft>
                <a:spcPts val="200"/>
              </a:spcAft>
              <a:defRPr sz="950">
                <a:solidFill>
                  <a:srgbClr val="FFFFFF"/>
                </a:solidFill>
              </a:defRPr>
            </a:pPr>
            <a:r>
              <a:t>• ResearchRabbit</a:t>
            </a:r>
          </a:p>
          <a:p>
            <a:pPr>
              <a:spcAft>
                <a:spcPts val="200"/>
              </a:spcAft>
              <a:defRPr sz="950">
                <a:solidFill>
                  <a:srgbClr val="FFFFFF"/>
                </a:solidFill>
              </a:defRPr>
            </a:pPr>
            <a:r>
              <a:t>• Litmaps</a:t>
            </a:r>
          </a:p>
          <a:p>
            <a:pPr>
              <a:spcAft>
                <a:spcPts val="200"/>
              </a:spcAft>
              <a:defRPr sz="950">
                <a:solidFill>
                  <a:srgbClr val="FFFFFF"/>
                </a:solidFill>
              </a:defRPr>
            </a:pPr>
            <a:r>
              <a:t>• Elicit</a:t>
            </a:r>
          </a:p>
          <a:p>
            <a:pPr>
              <a:spcAft>
                <a:spcPts val="200"/>
              </a:spcAft>
              <a:defRPr sz="950">
                <a:solidFill>
                  <a:srgbClr val="FFFFFF"/>
                </a:solidFill>
              </a:defRPr>
            </a:pPr>
            <a:r>
              <a:t>• Consensus</a:t>
            </a:r>
          </a:p>
        </p:txBody>
      </p:sp>
      <p:sp>
        <p:nvSpPr>
          <p:cNvPr id="9" name="Rounded Rectangle 8"/>
          <p:cNvSpPr/>
          <p:nvPr/>
        </p:nvSpPr>
        <p:spPr>
          <a:xfrm>
            <a:off x="3456432" y="1828800"/>
            <a:ext cx="2542032" cy="1783080"/>
          </a:xfrm>
          <a:prstGeom prst="roundRect">
            <a:avLst/>
          </a:prstGeom>
          <a:solidFill>
            <a:srgbClr val="1E293B"/>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920240"/>
            <a:ext cx="2322576" cy="320040"/>
          </a:xfrm>
          <a:prstGeom prst="rect">
            <a:avLst/>
          </a:prstGeom>
          <a:noFill/>
        </p:spPr>
        <p:txBody>
          <a:bodyPr wrap="none">
            <a:spAutoFit/>
          </a:bodyPr>
          <a:lstStyle/>
          <a:p>
            <a:pPr>
              <a:defRPr b="1" sz="1000">
                <a:solidFill>
                  <a:srgbClr val="7C3AED"/>
                </a:solidFill>
              </a:defRPr>
            </a:pPr>
            <a:r>
              <a:t>2. READ &amp; ORGANIZE</a:t>
            </a:r>
          </a:p>
        </p:txBody>
      </p:sp>
      <p:sp>
        <p:nvSpPr>
          <p:cNvPr id="11" name="TextBox 10"/>
          <p:cNvSpPr txBox="1"/>
          <p:nvPr/>
        </p:nvSpPr>
        <p:spPr>
          <a:xfrm>
            <a:off x="3566160" y="2240280"/>
            <a:ext cx="2322576" cy="1280160"/>
          </a:xfrm>
          <a:prstGeom prst="rect">
            <a:avLst/>
          </a:prstGeom>
          <a:noFill/>
        </p:spPr>
        <p:txBody>
          <a:bodyPr wrap="square">
            <a:spAutoFit/>
          </a:bodyPr>
          <a:lstStyle/>
          <a:p/>
          <a:p>
            <a:pPr>
              <a:spcAft>
                <a:spcPts val="200"/>
              </a:spcAft>
              <a:defRPr sz="950">
                <a:solidFill>
                  <a:srgbClr val="FFFFFF"/>
                </a:solidFill>
              </a:defRPr>
            </a:pPr>
            <a:r>
              <a:t>• NotebookLM</a:t>
            </a:r>
          </a:p>
          <a:p>
            <a:pPr>
              <a:spcAft>
                <a:spcPts val="200"/>
              </a:spcAft>
              <a:defRPr sz="950">
                <a:solidFill>
                  <a:srgbClr val="FFFFFF"/>
                </a:solidFill>
              </a:defRPr>
            </a:pPr>
            <a:r>
              <a:t>• SciSpace</a:t>
            </a:r>
          </a:p>
          <a:p>
            <a:pPr>
              <a:spcAft>
                <a:spcPts val="200"/>
              </a:spcAft>
              <a:defRPr sz="950">
                <a:solidFill>
                  <a:srgbClr val="FFFFFF"/>
                </a:solidFill>
              </a:defRPr>
            </a:pPr>
            <a:r>
              <a:t>• Zotero</a:t>
            </a:r>
          </a:p>
          <a:p>
            <a:pPr>
              <a:spcAft>
                <a:spcPts val="200"/>
              </a:spcAft>
              <a:defRPr sz="950">
                <a:solidFill>
                  <a:srgbClr val="FFFFFF"/>
                </a:solidFill>
              </a:defRPr>
            </a:pPr>
            <a:r>
              <a:t>• Semantic Scholar</a:t>
            </a:r>
          </a:p>
        </p:txBody>
      </p:sp>
      <p:sp>
        <p:nvSpPr>
          <p:cNvPr id="12" name="Rounded Rectangle 11"/>
          <p:cNvSpPr/>
          <p:nvPr/>
        </p:nvSpPr>
        <p:spPr>
          <a:xfrm>
            <a:off x="6181344" y="1828800"/>
            <a:ext cx="2542032" cy="17830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920240"/>
            <a:ext cx="2322576" cy="320040"/>
          </a:xfrm>
          <a:prstGeom prst="rect">
            <a:avLst/>
          </a:prstGeom>
          <a:noFill/>
        </p:spPr>
        <p:txBody>
          <a:bodyPr wrap="none">
            <a:spAutoFit/>
          </a:bodyPr>
          <a:lstStyle/>
          <a:p>
            <a:pPr>
              <a:defRPr b="1" sz="1000">
                <a:solidFill>
                  <a:srgbClr val="0D9488"/>
                </a:solidFill>
              </a:defRPr>
            </a:pPr>
            <a:r>
              <a:t>3. EXPERIMENT</a:t>
            </a:r>
          </a:p>
        </p:txBody>
      </p:sp>
      <p:sp>
        <p:nvSpPr>
          <p:cNvPr id="14" name="TextBox 13"/>
          <p:cNvSpPr txBox="1"/>
          <p:nvPr/>
        </p:nvSpPr>
        <p:spPr>
          <a:xfrm>
            <a:off x="6291072" y="2240280"/>
            <a:ext cx="2322576" cy="1280160"/>
          </a:xfrm>
          <a:prstGeom prst="rect">
            <a:avLst/>
          </a:prstGeom>
          <a:noFill/>
        </p:spPr>
        <p:txBody>
          <a:bodyPr wrap="square">
            <a:spAutoFit/>
          </a:bodyPr>
          <a:lstStyle/>
          <a:p/>
          <a:p>
            <a:pPr>
              <a:spcAft>
                <a:spcPts val="200"/>
              </a:spcAft>
              <a:defRPr sz="950">
                <a:solidFill>
                  <a:srgbClr val="FFFFFF"/>
                </a:solidFill>
              </a:defRPr>
            </a:pPr>
            <a:r>
              <a:t>• Google Colab</a:t>
            </a:r>
          </a:p>
          <a:p>
            <a:pPr>
              <a:spcAft>
                <a:spcPts val="200"/>
              </a:spcAft>
              <a:defRPr sz="950">
                <a:solidFill>
                  <a:srgbClr val="FFFFFF"/>
                </a:solidFill>
              </a:defRPr>
            </a:pPr>
            <a:r>
              <a:t>• Kaggle</a:t>
            </a:r>
          </a:p>
          <a:p>
            <a:pPr>
              <a:spcAft>
                <a:spcPts val="200"/>
              </a:spcAft>
              <a:defRPr sz="950">
                <a:solidFill>
                  <a:srgbClr val="FFFFFF"/>
                </a:solidFill>
              </a:defRPr>
            </a:pPr>
            <a:r>
              <a:t>• Jupyter</a:t>
            </a:r>
          </a:p>
          <a:p>
            <a:pPr>
              <a:spcAft>
                <a:spcPts val="200"/>
              </a:spcAft>
              <a:defRPr sz="950">
                <a:solidFill>
                  <a:srgbClr val="FFFFFF"/>
                </a:solidFill>
              </a:defRPr>
            </a:pPr>
            <a:r>
              <a:t>• GitHub Copilot</a:t>
            </a:r>
          </a:p>
        </p:txBody>
      </p:sp>
      <p:sp>
        <p:nvSpPr>
          <p:cNvPr id="15" name="Rounded Rectangle 14"/>
          <p:cNvSpPr/>
          <p:nvPr/>
        </p:nvSpPr>
        <p:spPr>
          <a:xfrm>
            <a:off x="8906256" y="1828800"/>
            <a:ext cx="2542032" cy="17830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5984" y="1920240"/>
            <a:ext cx="2322576" cy="320040"/>
          </a:xfrm>
          <a:prstGeom prst="rect">
            <a:avLst/>
          </a:prstGeom>
          <a:noFill/>
        </p:spPr>
        <p:txBody>
          <a:bodyPr wrap="none">
            <a:spAutoFit/>
          </a:bodyPr>
          <a:lstStyle/>
          <a:p>
            <a:pPr>
              <a:defRPr b="1" sz="1000">
                <a:solidFill>
                  <a:srgbClr val="38BDF8"/>
                </a:solidFill>
              </a:defRPr>
            </a:pPr>
            <a:r>
              <a:t>4. GENERATE &amp; REASON</a:t>
            </a:r>
          </a:p>
        </p:txBody>
      </p:sp>
      <p:sp>
        <p:nvSpPr>
          <p:cNvPr id="17" name="TextBox 16"/>
          <p:cNvSpPr txBox="1"/>
          <p:nvPr/>
        </p:nvSpPr>
        <p:spPr>
          <a:xfrm>
            <a:off x="9015984" y="2240280"/>
            <a:ext cx="2322576" cy="1280160"/>
          </a:xfrm>
          <a:prstGeom prst="rect">
            <a:avLst/>
          </a:prstGeom>
          <a:noFill/>
        </p:spPr>
        <p:txBody>
          <a:bodyPr wrap="square">
            <a:spAutoFit/>
          </a:bodyPr>
          <a:lstStyle/>
          <a:p/>
          <a:p>
            <a:pPr>
              <a:spcAft>
                <a:spcPts val="200"/>
              </a:spcAft>
              <a:defRPr sz="950">
                <a:solidFill>
                  <a:srgbClr val="FFFFFF"/>
                </a:solidFill>
              </a:defRPr>
            </a:pPr>
            <a:r>
              <a:t>• Google Gemini</a:t>
            </a:r>
          </a:p>
          <a:p>
            <a:pPr>
              <a:spcAft>
                <a:spcPts val="200"/>
              </a:spcAft>
              <a:defRPr sz="950">
                <a:solidFill>
                  <a:srgbClr val="FFFFFF"/>
                </a:solidFill>
              </a:defRPr>
            </a:pPr>
            <a:r>
              <a:t>• ChatGPT (GPT-4o)</a:t>
            </a:r>
          </a:p>
          <a:p>
            <a:pPr>
              <a:spcAft>
                <a:spcPts val="200"/>
              </a:spcAft>
              <a:defRPr sz="950">
                <a:solidFill>
                  <a:srgbClr val="FFFFFF"/>
                </a:solidFill>
              </a:defRPr>
            </a:pPr>
            <a:r>
              <a:t>• Claude (Sonnet)</a:t>
            </a:r>
          </a:p>
          <a:p>
            <a:pPr>
              <a:spcAft>
                <a:spcPts val="200"/>
              </a:spcAft>
              <a:defRPr sz="950">
                <a:solidFill>
                  <a:srgbClr val="FFFFFF"/>
                </a:solidFill>
              </a:defRPr>
            </a:pPr>
            <a:r>
              <a:t>• Cursor IDE</a:t>
            </a:r>
          </a:p>
        </p:txBody>
      </p:sp>
      <p:sp>
        <p:nvSpPr>
          <p:cNvPr id="18" name="Rounded Rectangle 17"/>
          <p:cNvSpPr/>
          <p:nvPr/>
        </p:nvSpPr>
        <p:spPr>
          <a:xfrm>
            <a:off x="731520" y="3794760"/>
            <a:ext cx="2542032" cy="1783080"/>
          </a:xfrm>
          <a:prstGeom prst="roundRect">
            <a:avLst/>
          </a:prstGeom>
          <a:solidFill>
            <a:srgbClr val="1E293B"/>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886200"/>
            <a:ext cx="2322576" cy="320040"/>
          </a:xfrm>
          <a:prstGeom prst="rect">
            <a:avLst/>
          </a:prstGeom>
          <a:noFill/>
        </p:spPr>
        <p:txBody>
          <a:bodyPr wrap="none">
            <a:spAutoFit/>
          </a:bodyPr>
          <a:lstStyle/>
          <a:p>
            <a:pPr>
              <a:defRPr b="1" sz="1000">
                <a:solidFill>
                  <a:srgbClr val="EA580C"/>
                </a:solidFill>
              </a:defRPr>
            </a:pPr>
            <a:r>
              <a:t>5. WRITE &amp; POLISH</a:t>
            </a:r>
          </a:p>
        </p:txBody>
      </p:sp>
      <p:sp>
        <p:nvSpPr>
          <p:cNvPr id="20" name="TextBox 19"/>
          <p:cNvSpPr txBox="1"/>
          <p:nvPr/>
        </p:nvSpPr>
        <p:spPr>
          <a:xfrm>
            <a:off x="841248" y="4206240"/>
            <a:ext cx="2322576" cy="1280160"/>
          </a:xfrm>
          <a:prstGeom prst="rect">
            <a:avLst/>
          </a:prstGeom>
          <a:noFill/>
        </p:spPr>
        <p:txBody>
          <a:bodyPr wrap="square">
            <a:spAutoFit/>
          </a:bodyPr>
          <a:lstStyle/>
          <a:p/>
          <a:p>
            <a:pPr>
              <a:spcAft>
                <a:spcPts val="200"/>
              </a:spcAft>
              <a:defRPr sz="950">
                <a:solidFill>
                  <a:srgbClr val="FFFFFF"/>
                </a:solidFill>
              </a:defRPr>
            </a:pPr>
            <a:r>
              <a:t>• Paperpal</a:t>
            </a:r>
          </a:p>
          <a:p>
            <a:pPr>
              <a:spcAft>
                <a:spcPts val="200"/>
              </a:spcAft>
              <a:defRPr sz="950">
                <a:solidFill>
                  <a:srgbClr val="FFFFFF"/>
                </a:solidFill>
              </a:defRPr>
            </a:pPr>
            <a:r>
              <a:t>• Writefull</a:t>
            </a:r>
          </a:p>
          <a:p>
            <a:pPr>
              <a:spcAft>
                <a:spcPts val="200"/>
              </a:spcAft>
              <a:defRPr sz="950">
                <a:solidFill>
                  <a:srgbClr val="FFFFFF"/>
                </a:solidFill>
              </a:defRPr>
            </a:pPr>
            <a:r>
              <a:t>• Overleaf LaTeX</a:t>
            </a:r>
          </a:p>
          <a:p>
            <a:pPr>
              <a:spcAft>
                <a:spcPts val="200"/>
              </a:spcAft>
              <a:defRPr sz="950">
                <a:solidFill>
                  <a:srgbClr val="FFFFFF"/>
                </a:solidFill>
              </a:defRPr>
            </a:pPr>
            <a:r>
              <a:t>• Grammarly</a:t>
            </a:r>
          </a:p>
        </p:txBody>
      </p:sp>
      <p:sp>
        <p:nvSpPr>
          <p:cNvPr id="21" name="Rounded Rectangle 20"/>
          <p:cNvSpPr/>
          <p:nvPr/>
        </p:nvSpPr>
        <p:spPr>
          <a:xfrm>
            <a:off x="3456432" y="3794760"/>
            <a:ext cx="2542032" cy="178308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3886200"/>
            <a:ext cx="2322576" cy="320040"/>
          </a:xfrm>
          <a:prstGeom prst="rect">
            <a:avLst/>
          </a:prstGeom>
          <a:noFill/>
        </p:spPr>
        <p:txBody>
          <a:bodyPr wrap="none">
            <a:spAutoFit/>
          </a:bodyPr>
          <a:lstStyle/>
          <a:p>
            <a:pPr>
              <a:defRPr b="1" sz="1000">
                <a:solidFill>
                  <a:srgbClr val="A855F7"/>
                </a:solidFill>
              </a:defRPr>
            </a:pPr>
            <a:r>
              <a:t>6. PROPOSAL &amp; PLAN</a:t>
            </a:r>
          </a:p>
        </p:txBody>
      </p:sp>
      <p:sp>
        <p:nvSpPr>
          <p:cNvPr id="23" name="TextBox 22"/>
          <p:cNvSpPr txBox="1"/>
          <p:nvPr/>
        </p:nvSpPr>
        <p:spPr>
          <a:xfrm>
            <a:off x="3566160" y="4206240"/>
            <a:ext cx="2322576" cy="1280160"/>
          </a:xfrm>
          <a:prstGeom prst="rect">
            <a:avLst/>
          </a:prstGeom>
          <a:noFill/>
        </p:spPr>
        <p:txBody>
          <a:bodyPr wrap="square">
            <a:spAutoFit/>
          </a:bodyPr>
          <a:lstStyle/>
          <a:p/>
          <a:p>
            <a:pPr>
              <a:spcAft>
                <a:spcPts val="200"/>
              </a:spcAft>
              <a:defRPr sz="950">
                <a:solidFill>
                  <a:srgbClr val="FFFFFF"/>
                </a:solidFill>
              </a:defRPr>
            </a:pPr>
            <a:r>
              <a:t>• Proposal Templates</a:t>
            </a:r>
          </a:p>
          <a:p>
            <a:pPr>
              <a:spcAft>
                <a:spcPts val="200"/>
              </a:spcAft>
              <a:defRPr sz="950">
                <a:solidFill>
                  <a:srgbClr val="FFFFFF"/>
                </a:solidFill>
              </a:defRPr>
            </a:pPr>
            <a:r>
              <a:t>• Deep Research</a:t>
            </a:r>
          </a:p>
          <a:p>
            <a:pPr>
              <a:spcAft>
                <a:spcPts val="200"/>
              </a:spcAft>
              <a:defRPr sz="950">
                <a:solidFill>
                  <a:srgbClr val="FFFFFF"/>
                </a:solidFill>
              </a:defRPr>
            </a:pPr>
            <a:r>
              <a:t>• Notion Workspace</a:t>
            </a:r>
          </a:p>
          <a:p>
            <a:pPr>
              <a:spcAft>
                <a:spcPts val="200"/>
              </a:spcAft>
              <a:defRPr sz="950">
                <a:solidFill>
                  <a:srgbClr val="FFFFFF"/>
                </a:solidFill>
              </a:defRPr>
            </a:pPr>
            <a:r>
              <a:t>• Gantt Planners</a:t>
            </a:r>
          </a:p>
        </p:txBody>
      </p:sp>
      <p:sp>
        <p:nvSpPr>
          <p:cNvPr id="24" name="Rounded Rectangle 23"/>
          <p:cNvSpPr/>
          <p:nvPr/>
        </p:nvSpPr>
        <p:spPr>
          <a:xfrm>
            <a:off x="6181344" y="3794760"/>
            <a:ext cx="2542032" cy="178308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3886200"/>
            <a:ext cx="2322576" cy="320040"/>
          </a:xfrm>
          <a:prstGeom prst="rect">
            <a:avLst/>
          </a:prstGeom>
          <a:noFill/>
        </p:spPr>
        <p:txBody>
          <a:bodyPr wrap="none">
            <a:spAutoFit/>
          </a:bodyPr>
          <a:lstStyle/>
          <a:p>
            <a:pPr>
              <a:defRPr b="1" sz="1000">
                <a:solidFill>
                  <a:srgbClr val="0EA5E9"/>
                </a:solidFill>
              </a:defRPr>
            </a:pPr>
            <a:r>
              <a:t>7. COLLABORATE</a:t>
            </a:r>
          </a:p>
        </p:txBody>
      </p:sp>
      <p:sp>
        <p:nvSpPr>
          <p:cNvPr id="26" name="TextBox 25"/>
          <p:cNvSpPr txBox="1"/>
          <p:nvPr/>
        </p:nvSpPr>
        <p:spPr>
          <a:xfrm>
            <a:off x="6291072" y="4206240"/>
            <a:ext cx="2322576" cy="1280160"/>
          </a:xfrm>
          <a:prstGeom prst="rect">
            <a:avLst/>
          </a:prstGeom>
          <a:noFill/>
        </p:spPr>
        <p:txBody>
          <a:bodyPr wrap="square">
            <a:spAutoFit/>
          </a:bodyPr>
          <a:lstStyle/>
          <a:p/>
          <a:p>
            <a:pPr>
              <a:spcAft>
                <a:spcPts val="200"/>
              </a:spcAft>
              <a:defRPr sz="950">
                <a:solidFill>
                  <a:srgbClr val="FFFFFF"/>
                </a:solidFill>
              </a:defRPr>
            </a:pPr>
            <a:r>
              <a:t>• GitHub Repositories</a:t>
            </a:r>
          </a:p>
          <a:p>
            <a:pPr>
              <a:spcAft>
                <a:spcPts val="200"/>
              </a:spcAft>
              <a:defRPr sz="950">
                <a:solidFill>
                  <a:srgbClr val="FFFFFF"/>
                </a:solidFill>
              </a:defRPr>
            </a:pPr>
            <a:r>
              <a:t>• Google Drive / Docs</a:t>
            </a:r>
          </a:p>
          <a:p>
            <a:pPr>
              <a:spcAft>
                <a:spcPts val="200"/>
              </a:spcAft>
              <a:defRPr sz="950">
                <a:solidFill>
                  <a:srgbClr val="FFFFFF"/>
                </a:solidFill>
              </a:defRPr>
            </a:pPr>
            <a:r>
              <a:t>• Overleaf Shared</a:t>
            </a:r>
          </a:p>
          <a:p>
            <a:pPr>
              <a:spcAft>
                <a:spcPts val="200"/>
              </a:spcAft>
              <a:defRPr sz="950">
                <a:solidFill>
                  <a:srgbClr val="FFFFFF"/>
                </a:solidFill>
              </a:defRPr>
            </a:pPr>
            <a:r>
              <a:t>• Teams / Slack</a:t>
            </a:r>
          </a:p>
        </p:txBody>
      </p:sp>
      <p:sp>
        <p:nvSpPr>
          <p:cNvPr id="27" name="Rounded Rectangle 26"/>
          <p:cNvSpPr/>
          <p:nvPr/>
        </p:nvSpPr>
        <p:spPr>
          <a:xfrm>
            <a:off x="8906256" y="3794760"/>
            <a:ext cx="2542032" cy="1783080"/>
          </a:xfrm>
          <a:prstGeom prst="roundRect">
            <a:avLst/>
          </a:prstGeom>
          <a:solidFill>
            <a:srgbClr val="1E293B"/>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15984" y="3886200"/>
            <a:ext cx="2322576" cy="320040"/>
          </a:xfrm>
          <a:prstGeom prst="rect">
            <a:avLst/>
          </a:prstGeom>
          <a:noFill/>
        </p:spPr>
        <p:txBody>
          <a:bodyPr wrap="none">
            <a:spAutoFit/>
          </a:bodyPr>
          <a:lstStyle/>
          <a:p>
            <a:pPr>
              <a:defRPr b="1" sz="1000">
                <a:solidFill>
                  <a:srgbClr val="059669"/>
                </a:solidFill>
              </a:defRPr>
            </a:pPr>
            <a:r>
              <a:t>8. TEACH &amp; ENGAGE</a:t>
            </a:r>
          </a:p>
        </p:txBody>
      </p:sp>
      <p:sp>
        <p:nvSpPr>
          <p:cNvPr id="29" name="TextBox 28"/>
          <p:cNvSpPr txBox="1"/>
          <p:nvPr/>
        </p:nvSpPr>
        <p:spPr>
          <a:xfrm>
            <a:off x="9015984" y="4206240"/>
            <a:ext cx="2322576" cy="1280160"/>
          </a:xfrm>
          <a:prstGeom prst="rect">
            <a:avLst/>
          </a:prstGeom>
          <a:noFill/>
        </p:spPr>
        <p:txBody>
          <a:bodyPr wrap="square">
            <a:spAutoFit/>
          </a:bodyPr>
          <a:lstStyle/>
          <a:p/>
          <a:p>
            <a:pPr>
              <a:spcAft>
                <a:spcPts val="200"/>
              </a:spcAft>
              <a:defRPr sz="950">
                <a:solidFill>
                  <a:srgbClr val="FFFFFF"/>
                </a:solidFill>
              </a:defRPr>
            </a:pPr>
            <a:r>
              <a:t>• Google Forms</a:t>
            </a:r>
          </a:p>
          <a:p>
            <a:pPr>
              <a:spcAft>
                <a:spcPts val="200"/>
              </a:spcAft>
              <a:defRPr sz="950">
                <a:solidFill>
                  <a:srgbClr val="FFFFFF"/>
                </a:solidFill>
              </a:defRPr>
            </a:pPr>
            <a:r>
              <a:t>• Kahoot!</a:t>
            </a:r>
          </a:p>
          <a:p>
            <a:pPr>
              <a:spcAft>
                <a:spcPts val="200"/>
              </a:spcAft>
              <a:defRPr sz="950">
                <a:solidFill>
                  <a:srgbClr val="FFFFFF"/>
                </a:solidFill>
              </a:defRPr>
            </a:pPr>
            <a:r>
              <a:t>• Blooket &amp; Flippity</a:t>
            </a:r>
          </a:p>
          <a:p>
            <a:pPr>
              <a:spcAft>
                <a:spcPts val="200"/>
              </a:spcAft>
              <a:defRPr sz="950">
                <a:solidFill>
                  <a:srgbClr val="FFFFFF"/>
                </a:solidFill>
              </a:defRPr>
            </a:pPr>
            <a:r>
              <a:t>• Khan Academy</a:t>
            </a:r>
          </a:p>
        </p:txBody>
      </p:sp>
      <p:sp>
        <p:nvSpPr>
          <p:cNvPr id="30" name="Rounded Rectangle 29"/>
          <p:cNvSpPr/>
          <p:nvPr/>
        </p:nvSpPr>
        <p:spPr>
          <a:xfrm>
            <a:off x="731520" y="5806440"/>
            <a:ext cx="10728655"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806440"/>
            <a:ext cx="109728"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Ecosystem Synthesis: </a:t>
            </a:r>
            <a:r>
              <a:rPr b="0" sz="950">
                <a:solidFill>
                  <a:srgbClr val="1E293B"/>
                </a:solidFill>
              </a:rPr>
              <a:t>No single tool solves the entire research lifecycle. Excellence lies in fluidly chaining specialized tools into a seamless, human-verified academic pipeline.</a:t>
            </a:r>
          </a:p>
        </p:txBody>
      </p:sp>
      <p:sp>
        <p:nvSpPr>
          <p:cNvPr id="33" name="TextBox 32"/>
          <p:cNvSpPr txBox="1"/>
          <p:nvPr/>
        </p:nvSpPr>
        <p:spPr>
          <a:xfrm>
            <a:off x="731520" y="6446520"/>
            <a:ext cx="10728655" cy="320040"/>
          </a:xfrm>
          <a:prstGeom prst="rect">
            <a:avLst/>
          </a:prstGeom>
          <a:noFill/>
        </p:spPr>
        <p:txBody>
          <a:bodyPr wrap="none" lIns="0" rIns="0" tIns="0" bIns="0">
            <a:spAutoFit/>
          </a:bodyPr>
          <a:lstStyle/>
          <a:p>
            <a:pPr>
              <a:defRPr sz="900">
                <a:solidFill>
                  <a:srgbClr val="64748B"/>
                </a:solidFill>
                <a:latin typeface="Segoe UI"/>
              </a:defRPr>
            </a:pPr>
            <a:r>
              <a:t>AI-Powered Research, Learning &amp; Teaching Toolkit | Ref: The Complete Modern Academic Technology Toolkit</a:t>
            </a:r>
          </a:p>
        </p:txBody>
      </p:sp>
      <p:sp>
        <p:nvSpPr>
          <p:cNvPr id="34" name="TextBox 33"/>
          <p:cNvSpPr txBox="1"/>
          <p:nvPr/>
        </p:nvSpPr>
        <p:spPr>
          <a:xfrm>
            <a:off x="9601200" y="6446520"/>
            <a:ext cx="1858975" cy="320040"/>
          </a:xfrm>
          <a:prstGeom prst="rect">
            <a:avLst/>
          </a:prstGeom>
          <a:noFill/>
        </p:spPr>
        <p:txBody>
          <a:bodyPr wrap="none" lIns="0" rIns="0" tIns="0" bIns="0">
            <a:spAutoFit/>
          </a:bodyPr>
          <a:lstStyle/>
          <a:p>
            <a:pPr algn="r">
              <a:defRPr sz="900">
                <a:solidFill>
                  <a:srgbClr val="64748B"/>
                </a:solidFill>
                <a:latin typeface="Segoe UI"/>
              </a:defRPr>
            </a:pPr>
            <a:r>
              <a:t>Slide 30 of 33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ETHICS &amp; INTEGRITY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Responsible AI: 10 Golden Ethical Directives</a:t>
            </a:r>
          </a:p>
          <a:p>
            <a:pPr>
              <a:spcBef>
                <a:spcPts val="300"/>
              </a:spcBef>
              <a:defRPr sz="1150">
                <a:solidFill>
                  <a:srgbClr val="475569"/>
                </a:solidFill>
                <a:latin typeface="Segoe UI"/>
              </a:defRPr>
            </a:pPr>
            <a:r>
              <a:t>Ensuring scientific rigor, intellectual honesty, data privacy, and compliance with institutional standards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212080" cy="384048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65960"/>
            <a:ext cx="320040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C2626"/>
                </a:solidFill>
                <a:latin typeface="Segoe UI"/>
              </a:defRPr>
            </a:pPr>
            <a:r>
              <a:t>DATA INTEGRITY &amp; ATTRIBUTION (1–5)</a:t>
            </a:r>
          </a:p>
        </p:txBody>
      </p:sp>
      <p:sp>
        <p:nvSpPr>
          <p:cNvPr id="8" name="TextBox 7"/>
          <p:cNvSpPr txBox="1"/>
          <p:nvPr/>
        </p:nvSpPr>
        <p:spPr>
          <a:xfrm>
            <a:off x="960120" y="2331720"/>
            <a:ext cx="4754880" cy="3200400"/>
          </a:xfrm>
          <a:prstGeom prst="rect">
            <a:avLst/>
          </a:prstGeom>
          <a:noFill/>
        </p:spPr>
        <p:txBody>
          <a:bodyPr wrap="none">
            <a:spAutoFit/>
          </a:bodyPr>
          <a:lstStyle/>
          <a:p>
            <a:pPr>
              <a:spcAft>
                <a:spcPts val="450"/>
              </a:spcAft>
            </a:pPr>
            <a:r>
              <a:rPr b="1" sz="950">
                <a:solidFill>
                  <a:srgbClr val="1E293B"/>
                </a:solidFill>
                <a:latin typeface="Segoe UI"/>
              </a:rPr>
              <a:t>•  1. Verify Every Factual Claim: </a:t>
            </a:r>
            <a:r>
              <a:rPr b="0" sz="950">
                <a:solidFill>
                  <a:srgbClr val="1E293B"/>
                </a:solidFill>
                <a:latin typeface="Segoe UI"/>
              </a:rPr>
              <a:t>Audit all AI-extracted numbers, theorems, and quotes against original peer-reviewed source PDFs.</a:t>
            </a:r>
          </a:p>
          <a:p>
            <a:pPr>
              <a:spcAft>
                <a:spcPts val="450"/>
              </a:spcAft>
            </a:pPr>
            <a:r>
              <a:rPr b="1" sz="950">
                <a:solidFill>
                  <a:srgbClr val="1E293B"/>
                </a:solidFill>
                <a:latin typeface="Segoe UI"/>
              </a:rPr>
              <a:t>•  2. Zero Tolerance for Fake Citations: </a:t>
            </a:r>
            <a:r>
              <a:rPr b="0" sz="950">
                <a:solidFill>
                  <a:srgbClr val="1E293B"/>
                </a:solidFill>
                <a:latin typeface="Segoe UI"/>
              </a:rPr>
              <a:t>Never cite an AI-generated paper without verifying its active DOI and indexing in Scopus/PubMed.</a:t>
            </a:r>
          </a:p>
          <a:p>
            <a:pPr>
              <a:spcAft>
                <a:spcPts val="450"/>
              </a:spcAft>
            </a:pPr>
            <a:r>
              <a:rPr b="1" sz="950">
                <a:solidFill>
                  <a:srgbClr val="1E293B"/>
                </a:solidFill>
                <a:latin typeface="Segoe UI"/>
              </a:rPr>
              <a:t>•  3. Preserve Empirical Reality: </a:t>
            </a:r>
            <a:r>
              <a:rPr b="0" sz="950">
                <a:solidFill>
                  <a:srgbClr val="1E293B"/>
                </a:solidFill>
                <a:latin typeface="Segoe UI"/>
              </a:rPr>
              <a:t>Never fabricate, augment, or synthesize experimental results, sensor readings, or clinical data.</a:t>
            </a:r>
          </a:p>
          <a:p>
            <a:pPr>
              <a:spcAft>
                <a:spcPts val="450"/>
              </a:spcAft>
            </a:pPr>
            <a:r>
              <a:rPr b="1" sz="950">
                <a:solidFill>
                  <a:srgbClr val="1E293B"/>
                </a:solidFill>
                <a:latin typeface="Segoe UI"/>
              </a:rPr>
              <a:t>•  4. Intellectual Property &amp; Copyright: </a:t>
            </a:r>
            <a:r>
              <a:rPr b="0" sz="950">
                <a:solidFill>
                  <a:srgbClr val="1E293B"/>
                </a:solidFill>
                <a:latin typeface="Segoe UI"/>
              </a:rPr>
              <a:t>Respect publisher rights; never paste copyrighted paywalled books into commercial AI prompts.</a:t>
            </a:r>
          </a:p>
          <a:p>
            <a:pPr>
              <a:spcAft>
                <a:spcPts val="450"/>
              </a:spcAft>
            </a:pPr>
            <a:r>
              <a:rPr b="1" sz="950">
                <a:solidFill>
                  <a:srgbClr val="1E293B"/>
                </a:solidFill>
                <a:latin typeface="Segoe UI"/>
              </a:rPr>
              <a:t>•  5. Guard Confidentiality &amp; IP: </a:t>
            </a:r>
            <a:r>
              <a:rPr b="0" sz="950">
                <a:solidFill>
                  <a:srgbClr val="1E293B"/>
                </a:solidFill>
                <a:latin typeface="Segoe UI"/>
              </a:rPr>
              <a:t>Never upload unpatented engineering designs, student PII, or unpublished lab code to public AI models.</a:t>
            </a:r>
          </a:p>
        </p:txBody>
      </p:sp>
      <p:sp>
        <p:nvSpPr>
          <p:cNvPr id="9" name="Rounded Rectangle 8"/>
          <p:cNvSpPr/>
          <p:nvPr/>
        </p:nvSpPr>
        <p:spPr>
          <a:xfrm>
            <a:off x="6217920" y="1828800"/>
            <a:ext cx="5212080" cy="38404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965960"/>
            <a:ext cx="3200400" cy="2743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D97706"/>
                </a:solidFill>
                <a:latin typeface="Segoe UI"/>
              </a:defRPr>
            </a:pPr>
            <a:r>
              <a:t>GOVERNANCE &amp; ACCOUNTABILITY (6–10)</a:t>
            </a:r>
          </a:p>
        </p:txBody>
      </p:sp>
      <p:sp>
        <p:nvSpPr>
          <p:cNvPr id="11" name="TextBox 10"/>
          <p:cNvSpPr txBox="1"/>
          <p:nvPr/>
        </p:nvSpPr>
        <p:spPr>
          <a:xfrm>
            <a:off x="6446520" y="2331720"/>
            <a:ext cx="4754880" cy="3200400"/>
          </a:xfrm>
          <a:prstGeom prst="rect">
            <a:avLst/>
          </a:prstGeom>
          <a:noFill/>
        </p:spPr>
        <p:txBody>
          <a:bodyPr wrap="none">
            <a:spAutoFit/>
          </a:bodyPr>
          <a:lstStyle/>
          <a:p>
            <a:pPr>
              <a:spcAft>
                <a:spcPts val="450"/>
              </a:spcAft>
            </a:pPr>
            <a:r>
              <a:rPr b="1" sz="950">
                <a:solidFill>
                  <a:srgbClr val="1E293B"/>
                </a:solidFill>
                <a:latin typeface="Segoe UI"/>
              </a:rPr>
              <a:t>•  6. Prohibit AI Ghostwriting: </a:t>
            </a:r>
            <a:r>
              <a:rPr b="0" sz="950">
                <a:solidFill>
                  <a:srgbClr val="1E293B"/>
                </a:solidFill>
                <a:latin typeface="Segoe UI"/>
              </a:rPr>
              <a:t>Use AI as a language polisher, not an intellectual author; original ideas and logic must be human.</a:t>
            </a:r>
          </a:p>
          <a:p>
            <a:pPr>
              <a:spcAft>
                <a:spcPts val="450"/>
              </a:spcAft>
            </a:pPr>
            <a:r>
              <a:rPr b="1" sz="950">
                <a:solidFill>
                  <a:srgbClr val="1E293B"/>
                </a:solidFill>
                <a:latin typeface="Segoe UI"/>
              </a:rPr>
              <a:t>•  7. Mandatory AI Transparency: </a:t>
            </a:r>
            <a:r>
              <a:rPr b="0" sz="950">
                <a:solidFill>
                  <a:srgbClr val="1E293B"/>
                </a:solidFill>
                <a:latin typeface="Segoe UI"/>
              </a:rPr>
              <a:t>Explicitly disclose AI tool usage in paper methodology or acknowledgments as mandated by IEEE/ACM.</a:t>
            </a:r>
          </a:p>
          <a:p>
            <a:pPr>
              <a:spcAft>
                <a:spcPts val="450"/>
              </a:spcAft>
            </a:pPr>
            <a:r>
              <a:rPr b="1" sz="950">
                <a:solidFill>
                  <a:srgbClr val="1E293B"/>
                </a:solidFill>
                <a:latin typeface="Segoe UI"/>
              </a:rPr>
              <a:t>•  8. Adhere to Publisher Guidelines: </a:t>
            </a:r>
            <a:r>
              <a:rPr b="0" sz="950">
                <a:solidFill>
                  <a:srgbClr val="1E293B"/>
                </a:solidFill>
                <a:latin typeface="Segoe UI"/>
              </a:rPr>
              <a:t>Comply with COPE, Elsevier, Springer, and Nature rules strictly barring AI tools from co-authorship.</a:t>
            </a:r>
          </a:p>
          <a:p>
            <a:pPr>
              <a:spcAft>
                <a:spcPts val="450"/>
              </a:spcAft>
            </a:pPr>
            <a:r>
              <a:rPr b="1" sz="950">
                <a:solidFill>
                  <a:srgbClr val="1E293B"/>
                </a:solidFill>
                <a:latin typeface="Segoe UI"/>
              </a:rPr>
              <a:t>•  9. Check Algorithmic Bias: </a:t>
            </a:r>
            <a:r>
              <a:rPr b="0" sz="950">
                <a:solidFill>
                  <a:srgbClr val="1E293B"/>
                </a:solidFill>
                <a:latin typeface="Segoe UI"/>
              </a:rPr>
              <a:t>Scrutinize AI summaries for linguistic or geographic citation bias that overlooks non-Western research.</a:t>
            </a:r>
          </a:p>
          <a:p>
            <a:pPr>
              <a:spcAft>
                <a:spcPts val="450"/>
              </a:spcAft>
            </a:pPr>
            <a:r>
              <a:rPr b="1" sz="950">
                <a:solidFill>
                  <a:srgbClr val="1E293B"/>
                </a:solidFill>
                <a:latin typeface="Segoe UI"/>
              </a:rPr>
              <a:t>•  10. Ultimate Researcher Accountability: </a:t>
            </a:r>
            <a:r>
              <a:rPr b="0" sz="950">
                <a:solidFill>
                  <a:srgbClr val="1E293B"/>
                </a:solidFill>
                <a:latin typeface="Segoe UI"/>
              </a:rPr>
              <a:t>You alone are legally, ethically, and academically responsible for every word in your final manuscript.</a:t>
            </a:r>
          </a:p>
        </p:txBody>
      </p:sp>
      <p:sp>
        <p:nvSpPr>
          <p:cNvPr id="12" name="Rounded Rectangle 11"/>
          <p:cNvSpPr/>
          <p:nvPr/>
        </p:nvSpPr>
        <p:spPr>
          <a:xfrm>
            <a:off x="731520" y="5806440"/>
            <a:ext cx="10728655" cy="5029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806440"/>
            <a:ext cx="109728"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879592"/>
            <a:ext cx="10408615" cy="356616"/>
          </a:xfrm>
          <a:prstGeom prst="rect">
            <a:avLst/>
          </a:prstGeom>
          <a:noFill/>
        </p:spPr>
        <p:txBody>
          <a:bodyPr wrap="square" lIns="0" rIns="0" tIns="0" bIns="0">
            <a:spAutoFit/>
          </a:bodyPr>
          <a:lstStyle/>
          <a:p>
            <a:r>
              <a:rPr b="1" sz="1000">
                <a:solidFill>
                  <a:srgbClr val="0F172A"/>
                </a:solidFill>
              </a:rPr>
              <a:t>Golden Ethical Principle: </a:t>
            </a:r>
            <a:r>
              <a:rPr b="0" sz="950">
                <a:solidFill>
                  <a:srgbClr val="1E293B"/>
                </a:solidFill>
              </a:rPr>
              <a:t>"AI can accelerate research, but researchers remain 100% responsible for the final work." — Institutional Ethics Board Directive</a:t>
            </a: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Guidelines: IEEE Ethics in AI &amp; Computing / COPE Authorship Standards</a:t>
            </a:r>
          </a:p>
        </p:txBody>
      </p:sp>
      <p:sp>
        <p:nvSpPr>
          <p:cNvPr id="16" name="TextBox 15"/>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31 of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D4ED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EXECUTIVE CONCLUSION</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FFFFFF"/>
                </a:solidFill>
                <a:latin typeface="Segoe UI"/>
              </a:defRPr>
            </a:pPr>
            <a:r>
              <a:t>From AI Tools to an Integrated Research Workflow</a:t>
            </a:r>
          </a:p>
          <a:p>
            <a:pPr>
              <a:spcBef>
                <a:spcPts val="300"/>
              </a:spcBef>
              <a:defRPr sz="1150">
                <a:solidFill>
                  <a:srgbClr val="94A3B8"/>
                </a:solidFill>
                <a:latin typeface="Segoe UI"/>
              </a:defRPr>
            </a:pPr>
            <a:r>
              <a:t>Strategic principles for modern engineering scholars, project teams, and visionary educators</a:t>
            </a:r>
          </a:p>
        </p:txBody>
      </p:sp>
      <p:sp>
        <p:nvSpPr>
          <p:cNvPr id="5" name="Rectangle 4"/>
          <p:cNvSpPr/>
          <p:nvPr/>
        </p:nvSpPr>
        <p:spPr>
          <a:xfrm>
            <a:off x="731520" y="1627632"/>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38528"/>
            <a:ext cx="1243584" cy="365760"/>
          </a:xfrm>
          <a:prstGeom prst="rect">
            <a:avLst/>
          </a:prstGeom>
          <a:noFill/>
        </p:spPr>
        <p:txBody>
          <a:bodyPr wrap="none">
            <a:spAutoFit/>
          </a:bodyPr>
          <a:lstStyle/>
          <a:p>
            <a:pPr algn="ctr">
              <a:defRPr b="1" sz="950">
                <a:solidFill>
                  <a:srgbClr val="FFFFFF"/>
                </a:solidFill>
              </a:defRPr>
            </a:pPr>
            <a:r>
              <a:t>DISCOVER</a:t>
            </a:r>
          </a:p>
        </p:txBody>
      </p:sp>
      <p:sp>
        <p:nvSpPr>
          <p:cNvPr id="8" name="Rounded Rectangle 7"/>
          <p:cNvSpPr/>
          <p:nvPr/>
        </p:nvSpPr>
        <p:spPr>
          <a:xfrm>
            <a:off x="2084832"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84832" y="1938528"/>
            <a:ext cx="1243584" cy="365760"/>
          </a:xfrm>
          <a:prstGeom prst="rect">
            <a:avLst/>
          </a:prstGeom>
          <a:noFill/>
        </p:spPr>
        <p:txBody>
          <a:bodyPr wrap="none">
            <a:spAutoFit/>
          </a:bodyPr>
          <a:lstStyle/>
          <a:p>
            <a:pPr algn="ctr">
              <a:defRPr b="1" sz="950">
                <a:solidFill>
                  <a:srgbClr val="FFFFFF"/>
                </a:solidFill>
              </a:defRPr>
            </a:pPr>
            <a:r>
              <a:t>READ</a:t>
            </a:r>
          </a:p>
        </p:txBody>
      </p:sp>
      <p:sp>
        <p:nvSpPr>
          <p:cNvPr id="10" name="Rounded Rectangle 9"/>
          <p:cNvSpPr/>
          <p:nvPr/>
        </p:nvSpPr>
        <p:spPr>
          <a:xfrm>
            <a:off x="3438144"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8144" y="1938528"/>
            <a:ext cx="1243584" cy="365760"/>
          </a:xfrm>
          <a:prstGeom prst="rect">
            <a:avLst/>
          </a:prstGeom>
          <a:noFill/>
        </p:spPr>
        <p:txBody>
          <a:bodyPr wrap="none">
            <a:spAutoFit/>
          </a:bodyPr>
          <a:lstStyle/>
          <a:p>
            <a:pPr algn="ctr">
              <a:defRPr b="1" sz="950">
                <a:solidFill>
                  <a:srgbClr val="FFFFFF"/>
                </a:solidFill>
              </a:defRPr>
            </a:pPr>
            <a:r>
              <a:t>ANALYZE</a:t>
            </a:r>
          </a:p>
        </p:txBody>
      </p:sp>
      <p:sp>
        <p:nvSpPr>
          <p:cNvPr id="12" name="Rounded Rectangle 11"/>
          <p:cNvSpPr/>
          <p:nvPr/>
        </p:nvSpPr>
        <p:spPr>
          <a:xfrm>
            <a:off x="4791456"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1938528"/>
            <a:ext cx="1243584" cy="365760"/>
          </a:xfrm>
          <a:prstGeom prst="rect">
            <a:avLst/>
          </a:prstGeom>
          <a:noFill/>
        </p:spPr>
        <p:txBody>
          <a:bodyPr wrap="none">
            <a:spAutoFit/>
          </a:bodyPr>
          <a:lstStyle/>
          <a:p>
            <a:pPr algn="ctr">
              <a:defRPr b="1" sz="950">
                <a:solidFill>
                  <a:srgbClr val="FFFFFF"/>
                </a:solidFill>
              </a:defRPr>
            </a:pPr>
            <a:r>
              <a:t>EXPERIMENT</a:t>
            </a:r>
          </a:p>
        </p:txBody>
      </p:sp>
      <p:sp>
        <p:nvSpPr>
          <p:cNvPr id="14" name="Rounded Rectangle 13"/>
          <p:cNvSpPr/>
          <p:nvPr/>
        </p:nvSpPr>
        <p:spPr>
          <a:xfrm>
            <a:off x="6144768"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8" y="1938528"/>
            <a:ext cx="1243584" cy="365760"/>
          </a:xfrm>
          <a:prstGeom prst="rect">
            <a:avLst/>
          </a:prstGeom>
          <a:noFill/>
        </p:spPr>
        <p:txBody>
          <a:bodyPr wrap="none">
            <a:spAutoFit/>
          </a:bodyPr>
          <a:lstStyle/>
          <a:p>
            <a:pPr algn="ctr">
              <a:defRPr b="1" sz="950">
                <a:solidFill>
                  <a:srgbClr val="FFFFFF"/>
                </a:solidFill>
              </a:defRPr>
            </a:pPr>
            <a:r>
              <a:t>WRITE</a:t>
            </a:r>
          </a:p>
        </p:txBody>
      </p:sp>
      <p:sp>
        <p:nvSpPr>
          <p:cNvPr id="16" name="Rounded Rectangle 15"/>
          <p:cNvSpPr/>
          <p:nvPr/>
        </p:nvSpPr>
        <p:spPr>
          <a:xfrm>
            <a:off x="7498080"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1938528"/>
            <a:ext cx="1243584" cy="365760"/>
          </a:xfrm>
          <a:prstGeom prst="rect">
            <a:avLst/>
          </a:prstGeom>
          <a:noFill/>
        </p:spPr>
        <p:txBody>
          <a:bodyPr wrap="none">
            <a:spAutoFit/>
          </a:bodyPr>
          <a:lstStyle/>
          <a:p>
            <a:pPr algn="ctr">
              <a:defRPr b="1" sz="950">
                <a:solidFill>
                  <a:srgbClr val="FFFFFF"/>
                </a:solidFill>
              </a:defRPr>
            </a:pPr>
            <a:r>
              <a:t>PROPOSE</a:t>
            </a:r>
          </a:p>
        </p:txBody>
      </p:sp>
      <p:sp>
        <p:nvSpPr>
          <p:cNvPr id="18" name="Rounded Rectangle 17"/>
          <p:cNvSpPr/>
          <p:nvPr/>
        </p:nvSpPr>
        <p:spPr>
          <a:xfrm>
            <a:off x="8851392"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51392" y="1938528"/>
            <a:ext cx="1243584" cy="365760"/>
          </a:xfrm>
          <a:prstGeom prst="rect">
            <a:avLst/>
          </a:prstGeom>
          <a:noFill/>
        </p:spPr>
        <p:txBody>
          <a:bodyPr wrap="none">
            <a:spAutoFit/>
          </a:bodyPr>
          <a:lstStyle/>
          <a:p>
            <a:pPr algn="ctr">
              <a:defRPr b="1" sz="950">
                <a:solidFill>
                  <a:srgbClr val="FFFFFF"/>
                </a:solidFill>
              </a:defRPr>
            </a:pPr>
            <a:r>
              <a:t>COLLABORATE</a:t>
            </a:r>
          </a:p>
        </p:txBody>
      </p:sp>
      <p:sp>
        <p:nvSpPr>
          <p:cNvPr id="20" name="Rounded Rectangle 19"/>
          <p:cNvSpPr/>
          <p:nvPr/>
        </p:nvSpPr>
        <p:spPr>
          <a:xfrm>
            <a:off x="10204704" y="1828800"/>
            <a:ext cx="1243584" cy="594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1938528"/>
            <a:ext cx="1243584" cy="365760"/>
          </a:xfrm>
          <a:prstGeom prst="rect">
            <a:avLst/>
          </a:prstGeom>
          <a:noFill/>
        </p:spPr>
        <p:txBody>
          <a:bodyPr wrap="none">
            <a:spAutoFit/>
          </a:bodyPr>
          <a:lstStyle/>
          <a:p>
            <a:pPr algn="ctr">
              <a:defRPr b="1" sz="950">
                <a:solidFill>
                  <a:srgbClr val="FFFFFF"/>
                </a:solidFill>
              </a:defRPr>
            </a:pPr>
            <a:r>
              <a:t>TEACH</a:t>
            </a:r>
          </a:p>
        </p:txBody>
      </p:sp>
      <p:sp>
        <p:nvSpPr>
          <p:cNvPr id="22" name="Rounded Rectangle 21"/>
          <p:cNvSpPr/>
          <p:nvPr/>
        </p:nvSpPr>
        <p:spPr>
          <a:xfrm>
            <a:off x="731520" y="265176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2743200"/>
            <a:ext cx="3209544" cy="1051560"/>
          </a:xfrm>
          <a:prstGeom prst="rect">
            <a:avLst/>
          </a:prstGeom>
          <a:noFill/>
        </p:spPr>
        <p:txBody>
          <a:bodyPr wrap="square">
            <a:spAutoFit/>
          </a:bodyPr>
          <a:lstStyle/>
          <a:p>
            <a:pPr>
              <a:defRPr b="1" sz="1000">
                <a:solidFill>
                  <a:srgbClr val="38BDF8"/>
                </a:solidFill>
              </a:defRPr>
            </a:pPr>
            <a:r>
              <a:t>1. Specialize Purposefully</a:t>
            </a:r>
          </a:p>
          <a:p>
            <a:pPr>
              <a:spcBef>
                <a:spcPts val="300"/>
              </a:spcBef>
              <a:defRPr sz="850">
                <a:solidFill>
                  <a:srgbClr val="CBD5E1"/>
                </a:solidFill>
              </a:defRPr>
            </a:pPr>
            <a:r>
              <a:t>Use dedicated tools for specialized tasks (ResearchRabbit for maps, Colab for compute, Paperpal for prose).</a:t>
            </a:r>
          </a:p>
        </p:txBody>
      </p:sp>
      <p:sp>
        <p:nvSpPr>
          <p:cNvPr id="24" name="Rounded Rectangle 23"/>
          <p:cNvSpPr/>
          <p:nvPr/>
        </p:nvSpPr>
        <p:spPr>
          <a:xfrm>
            <a:off x="4379976" y="265176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9704" y="2743200"/>
            <a:ext cx="3209544" cy="1051560"/>
          </a:xfrm>
          <a:prstGeom prst="rect">
            <a:avLst/>
          </a:prstGeom>
          <a:noFill/>
        </p:spPr>
        <p:txBody>
          <a:bodyPr wrap="square">
            <a:spAutoFit/>
          </a:bodyPr>
          <a:lstStyle/>
          <a:p>
            <a:pPr>
              <a:defRPr b="1" sz="1000">
                <a:solidFill>
                  <a:srgbClr val="38BDF8"/>
                </a:solidFill>
              </a:defRPr>
            </a:pPr>
            <a:r>
              <a:t>2. Chain into Pipelines</a:t>
            </a:r>
          </a:p>
          <a:p>
            <a:pPr>
              <a:spcBef>
                <a:spcPts val="300"/>
              </a:spcBef>
              <a:defRPr sz="850">
                <a:solidFill>
                  <a:srgbClr val="CBD5E1"/>
                </a:solidFill>
              </a:defRPr>
            </a:pPr>
            <a:r>
              <a:t>Combine multiple tools rather than expecting a single generalist chatbot to handle the entire lifecycle.</a:t>
            </a:r>
          </a:p>
        </p:txBody>
      </p:sp>
      <p:sp>
        <p:nvSpPr>
          <p:cNvPr id="26" name="Rounded Rectangle 25"/>
          <p:cNvSpPr/>
          <p:nvPr/>
        </p:nvSpPr>
        <p:spPr>
          <a:xfrm>
            <a:off x="8028432" y="265176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743200"/>
            <a:ext cx="3209544" cy="1051560"/>
          </a:xfrm>
          <a:prstGeom prst="rect">
            <a:avLst/>
          </a:prstGeom>
          <a:noFill/>
        </p:spPr>
        <p:txBody>
          <a:bodyPr wrap="square">
            <a:spAutoFit/>
          </a:bodyPr>
          <a:lstStyle/>
          <a:p>
            <a:pPr>
              <a:defRPr b="1" sz="1000">
                <a:solidFill>
                  <a:srgbClr val="38BDF8"/>
                </a:solidFill>
              </a:defRPr>
            </a:pPr>
            <a:r>
              <a:t>3. Source-Grounded Rigor</a:t>
            </a:r>
          </a:p>
          <a:p>
            <a:pPr>
              <a:spcBef>
                <a:spcPts val="300"/>
              </a:spcBef>
              <a:defRPr sz="850">
                <a:solidFill>
                  <a:srgbClr val="CBD5E1"/>
                </a:solidFill>
              </a:defRPr>
            </a:pPr>
            <a:r>
              <a:t>Anchor research reading in verified PDFs with page-level citations (NotebookLM) to eliminate hallucinations.</a:t>
            </a:r>
          </a:p>
        </p:txBody>
      </p:sp>
      <p:sp>
        <p:nvSpPr>
          <p:cNvPr id="28" name="Rounded Rectangle 27"/>
          <p:cNvSpPr/>
          <p:nvPr/>
        </p:nvSpPr>
        <p:spPr>
          <a:xfrm>
            <a:off x="731520" y="406908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4160520"/>
            <a:ext cx="3209544" cy="1051560"/>
          </a:xfrm>
          <a:prstGeom prst="rect">
            <a:avLst/>
          </a:prstGeom>
          <a:noFill/>
        </p:spPr>
        <p:txBody>
          <a:bodyPr wrap="square">
            <a:spAutoFit/>
          </a:bodyPr>
          <a:lstStyle/>
          <a:p>
            <a:pPr>
              <a:defRPr b="1" sz="1000">
                <a:solidFill>
                  <a:srgbClr val="38BDF8"/>
                </a:solidFill>
              </a:defRPr>
            </a:pPr>
            <a:r>
              <a:t>4. Validate Uncompromisingly</a:t>
            </a:r>
          </a:p>
          <a:p>
            <a:pPr>
              <a:spcBef>
                <a:spcPts val="300"/>
              </a:spcBef>
              <a:defRPr sz="850">
                <a:solidFill>
                  <a:srgbClr val="CBD5E1"/>
                </a:solidFill>
              </a:defRPr>
            </a:pPr>
            <a:r>
              <a:t>Treat all AI output as an unverified draft that requires expert domain scrutiny and reproducible testing.</a:t>
            </a:r>
          </a:p>
        </p:txBody>
      </p:sp>
      <p:sp>
        <p:nvSpPr>
          <p:cNvPr id="30" name="Rounded Rectangle 29"/>
          <p:cNvSpPr/>
          <p:nvPr/>
        </p:nvSpPr>
        <p:spPr>
          <a:xfrm>
            <a:off x="4379976" y="406908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9704" y="4160520"/>
            <a:ext cx="3209544" cy="1051560"/>
          </a:xfrm>
          <a:prstGeom prst="rect">
            <a:avLst/>
          </a:prstGeom>
          <a:noFill/>
        </p:spPr>
        <p:txBody>
          <a:bodyPr wrap="square">
            <a:spAutoFit/>
          </a:bodyPr>
          <a:lstStyle/>
          <a:p>
            <a:pPr>
              <a:defRPr b="1" sz="1000">
                <a:solidFill>
                  <a:srgbClr val="38BDF8"/>
                </a:solidFill>
              </a:defRPr>
            </a:pPr>
            <a:r>
              <a:t>5. Maintain Human Agency</a:t>
            </a:r>
          </a:p>
          <a:p>
            <a:pPr>
              <a:spcBef>
                <a:spcPts val="300"/>
              </a:spcBef>
              <a:defRPr sz="850">
                <a:solidFill>
                  <a:srgbClr val="CBD5E1"/>
                </a:solidFill>
              </a:defRPr>
            </a:pPr>
            <a:r>
              <a:t>Keep human intuition, scientific ethics, and original creative judgment firmly at the center of your work.</a:t>
            </a:r>
          </a:p>
        </p:txBody>
      </p:sp>
      <p:sp>
        <p:nvSpPr>
          <p:cNvPr id="32" name="Rounded Rectangle 31"/>
          <p:cNvSpPr/>
          <p:nvPr/>
        </p:nvSpPr>
        <p:spPr>
          <a:xfrm>
            <a:off x="8028432" y="4069080"/>
            <a:ext cx="3429000" cy="1234440"/>
          </a:xfrm>
          <a:prstGeom prst="roundRect">
            <a:avLst/>
          </a:prstGeom>
          <a:solidFill>
            <a:srgbClr val="1821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4160520"/>
            <a:ext cx="3209544" cy="1051560"/>
          </a:xfrm>
          <a:prstGeom prst="rect">
            <a:avLst/>
          </a:prstGeom>
          <a:noFill/>
        </p:spPr>
        <p:txBody>
          <a:bodyPr wrap="square">
            <a:spAutoFit/>
          </a:bodyPr>
          <a:lstStyle/>
          <a:p>
            <a:pPr>
              <a:defRPr b="1" sz="1000">
                <a:solidFill>
                  <a:srgbClr val="38BDF8"/>
                </a:solidFill>
              </a:defRPr>
            </a:pPr>
            <a:r>
              <a:t>6. Empower Active Pedagogy</a:t>
            </a:r>
          </a:p>
          <a:p>
            <a:pPr>
              <a:spcBef>
                <a:spcPts val="300"/>
              </a:spcBef>
              <a:defRPr sz="850">
                <a:solidFill>
                  <a:srgbClr val="CBD5E1"/>
                </a:solidFill>
              </a:defRPr>
            </a:pPr>
            <a:r>
              <a:t>Use technology to turn passive classrooms into active, data-driven, and gamified problem-solving workshops.</a:t>
            </a:r>
          </a:p>
        </p:txBody>
      </p:sp>
      <p:sp>
        <p:nvSpPr>
          <p:cNvPr id="34" name="Rounded Rectangle 33"/>
          <p:cNvSpPr/>
          <p:nvPr/>
        </p:nvSpPr>
        <p:spPr>
          <a:xfrm>
            <a:off x="731520" y="5532120"/>
            <a:ext cx="10728655" cy="777240"/>
          </a:xfrm>
          <a:prstGeom prst="roundRect">
            <a:avLst/>
          </a:prstGeom>
          <a:solidFill>
            <a:srgbClr val="2563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596128"/>
            <a:ext cx="10362895" cy="640080"/>
          </a:xfrm>
          <a:prstGeom prst="rect">
            <a:avLst/>
          </a:prstGeom>
          <a:noFill/>
        </p:spPr>
        <p:txBody>
          <a:bodyPr wrap="none">
            <a:spAutoFit/>
          </a:bodyPr>
          <a:lstStyle/>
          <a:p>
            <a:pPr algn="ctr">
              <a:defRPr b="1" sz="1300">
                <a:solidFill>
                  <a:srgbClr val="FFFFFF"/>
                </a:solidFill>
              </a:defRPr>
            </a:pPr>
            <a:r>
              <a:t>"Use AI to accelerate the work. Use human judgment to make it trustworthy."</a:t>
            </a:r>
          </a:p>
          <a:p>
            <a:pPr algn="ctr">
              <a:spcBef>
                <a:spcPts val="200"/>
              </a:spcBef>
              <a:defRPr sz="950">
                <a:solidFill>
                  <a:srgbClr val="E0F2FE"/>
                </a:solidFill>
              </a:defRPr>
            </a:pPr>
            <a:r>
              <a:t>AI-Powered Research, Learning &amp; Teaching Toolkit | Modern Academic Blueprint</a:t>
            </a:r>
          </a:p>
        </p:txBody>
      </p:sp>
      <p:sp>
        <p:nvSpPr>
          <p:cNvPr id="36" name="TextBox 35"/>
          <p:cNvSpPr txBox="1"/>
          <p:nvPr/>
        </p:nvSpPr>
        <p:spPr>
          <a:xfrm>
            <a:off x="731520" y="6446520"/>
            <a:ext cx="10728655" cy="320040"/>
          </a:xfrm>
          <a:prstGeom prst="rect">
            <a:avLst/>
          </a:prstGeom>
          <a:noFill/>
        </p:spPr>
        <p:txBody>
          <a:bodyPr wrap="none" lIns="0" rIns="0" tIns="0" bIns="0">
            <a:spAutoFit/>
          </a:bodyPr>
          <a:lstStyle/>
          <a:p>
            <a:pPr>
              <a:defRPr sz="900">
                <a:solidFill>
                  <a:srgbClr val="64748B"/>
                </a:solidFill>
                <a:latin typeface="Segoe UI"/>
              </a:defRPr>
            </a:pPr>
            <a:r>
              <a:t>AI-Powered Research, Learning &amp; Teaching Toolkit | Ref: Academic Technology &amp; Engineering Research Workshop 2026</a:t>
            </a:r>
          </a:p>
        </p:txBody>
      </p:sp>
      <p:sp>
        <p:nvSpPr>
          <p:cNvPr id="37" name="TextBox 36"/>
          <p:cNvSpPr txBox="1"/>
          <p:nvPr/>
        </p:nvSpPr>
        <p:spPr>
          <a:xfrm>
            <a:off x="9601200" y="6446520"/>
            <a:ext cx="1858975" cy="320040"/>
          </a:xfrm>
          <a:prstGeom prst="rect">
            <a:avLst/>
          </a:prstGeom>
          <a:noFill/>
        </p:spPr>
        <p:txBody>
          <a:bodyPr wrap="none" lIns="0" rIns="0" tIns="0" bIns="0">
            <a:spAutoFit/>
          </a:bodyPr>
          <a:lstStyle/>
          <a:p>
            <a:pPr algn="r">
              <a:defRPr sz="900">
                <a:solidFill>
                  <a:srgbClr val="64748B"/>
                </a:solidFill>
                <a:latin typeface="Segoe UI"/>
              </a:defRPr>
            </a:pPr>
            <a:r>
              <a:t>Slide 32 of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2563EB"/>
                </a:solidFill>
                <a:latin typeface="Segoe UI"/>
              </a:defRPr>
            </a:pPr>
            <a:r>
              <a:t>REFERENCES &amp; REGISTRY</a:t>
            </a:r>
          </a:p>
        </p:txBody>
      </p:sp>
      <p:sp>
        <p:nvSpPr>
          <p:cNvPr id="4" name="TextBox 3"/>
          <p:cNvSpPr txBox="1"/>
          <p:nvPr/>
        </p:nvSpPr>
        <p:spPr>
          <a:xfrm>
            <a:off x="731520" y="713232"/>
            <a:ext cx="10728655" cy="868680"/>
          </a:xfrm>
          <a:prstGeom prst="rect">
            <a:avLst/>
          </a:prstGeom>
          <a:noFill/>
        </p:spPr>
        <p:txBody>
          <a:bodyPr wrap="square" lIns="0" rIns="0" tIns="0" bIns="0">
            <a:spAutoFit/>
          </a:bodyPr>
          <a:lstStyle/>
          <a:p>
            <a:pPr>
              <a:defRPr sz="2100" b="1">
                <a:solidFill>
                  <a:srgbClr val="0F172A"/>
                </a:solidFill>
                <a:latin typeface="Segoe UI"/>
              </a:defRPr>
            </a:pPr>
            <a:r>
              <a:t>Official Scholarly References &amp; Platform Registry</a:t>
            </a:r>
          </a:p>
          <a:p>
            <a:pPr>
              <a:spcBef>
                <a:spcPts val="300"/>
              </a:spcBef>
              <a:defRPr sz="1150">
                <a:solidFill>
                  <a:srgbClr val="475569"/>
                </a:solidFill>
                <a:latin typeface="Segoe UI"/>
              </a:defRPr>
            </a:pPr>
            <a:r>
              <a:t>Authoritative, verified digital repositories, platform documentations, and academic ethics charters</a:t>
            </a:r>
          </a:p>
        </p:txBody>
      </p:sp>
      <p:sp>
        <p:nvSpPr>
          <p:cNvPr id="5" name="Rectangle 4"/>
          <p:cNvSpPr/>
          <p:nvPr/>
        </p:nvSpPr>
        <p:spPr>
          <a:xfrm>
            <a:off x="731520" y="162763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828800"/>
          <a:ext cx="10728655" cy="4114800"/>
        </p:xfrm>
        <a:graphic>
          <a:graphicData uri="http://schemas.openxmlformats.org/drawingml/2006/table">
            <a:tbl>
              <a:tblPr firstRow="1" bandRow="1">
                <a:tableStyleId>{5C22544A-7EE6-4342-B048-85BDC9FD1C3A}</a:tableStyleId>
              </a:tblPr>
              <a:tblGrid>
                <a:gridCol w="1737360"/>
                <a:gridCol w="2103120"/>
                <a:gridCol w="3017520"/>
                <a:gridCol w="3870655"/>
              </a:tblGrid>
              <a:tr h="293914">
                <a:tc>
                  <a:txBody>
                    <a:bodyPr/>
                    <a:lstStyle/>
                    <a:p>
                      <a:pPr algn="l">
                        <a:defRPr b="1" sz="1050">
                          <a:solidFill>
                            <a:srgbClr val="FFFFFF"/>
                          </a:solidFill>
                          <a:latin typeface="Segoe UI"/>
                        </a:defRPr>
                      </a:pPr>
                      <a:r>
                        <a:t>Category</a:t>
                      </a:r>
                    </a:p>
                  </a:txBody>
                  <a:tcPr marL="109728" marR="109728" marT="73152" marB="73152">
                    <a:solidFill>
                      <a:srgbClr val="0F172A"/>
                    </a:solidFill>
                  </a:tcPr>
                </a:tc>
                <a:tc>
                  <a:txBody>
                    <a:bodyPr/>
                    <a:lstStyle/>
                    <a:p>
                      <a:pPr algn="l">
                        <a:defRPr b="1" sz="1050">
                          <a:solidFill>
                            <a:srgbClr val="FFFFFF"/>
                          </a:solidFill>
                          <a:latin typeface="Segoe UI"/>
                        </a:defRPr>
                      </a:pPr>
                      <a:r>
                        <a:t>Platform / Organization</a:t>
                      </a:r>
                    </a:p>
                  </a:txBody>
                  <a:tcPr marL="109728" marR="109728" marT="73152" marB="73152">
                    <a:solidFill>
                      <a:srgbClr val="0F172A"/>
                    </a:solidFill>
                  </a:tcPr>
                </a:tc>
                <a:tc>
                  <a:txBody>
                    <a:bodyPr/>
                    <a:lstStyle/>
                    <a:p>
                      <a:pPr algn="l">
                        <a:defRPr b="1" sz="1050">
                          <a:solidFill>
                            <a:srgbClr val="FFFFFF"/>
                          </a:solidFill>
                          <a:latin typeface="Segoe UI"/>
                        </a:defRPr>
                      </a:pPr>
                      <a:r>
                        <a:t>Official Verified URL</a:t>
                      </a:r>
                    </a:p>
                  </a:txBody>
                  <a:tcPr marL="109728" marR="109728" marT="73152" marB="73152">
                    <a:solidFill>
                      <a:srgbClr val="0F172A"/>
                    </a:solidFill>
                  </a:tcPr>
                </a:tc>
                <a:tc>
                  <a:txBody>
                    <a:bodyPr/>
                    <a:lstStyle/>
                    <a:p>
                      <a:pPr algn="l">
                        <a:defRPr b="1" sz="1050">
                          <a:solidFill>
                            <a:srgbClr val="FFFFFF"/>
                          </a:solidFill>
                          <a:latin typeface="Segoe UI"/>
                        </a:defRPr>
                      </a:pPr>
                      <a:r>
                        <a:t>Primary Documentation Focus</a:t>
                      </a:r>
                    </a:p>
                  </a:txBody>
                  <a:tcPr marL="109728" marR="109728" marT="73152" marB="73152">
                    <a:solidFill>
                      <a:srgbClr val="0F172A"/>
                    </a:solidFill>
                  </a:tcPr>
                </a:tc>
              </a:tr>
              <a:tr h="293914">
                <a:tc>
                  <a:txBody>
                    <a:bodyPr/>
                    <a:lstStyle/>
                    <a:p>
                      <a:pPr algn="l">
                        <a:defRPr sz="1000" b="1">
                          <a:solidFill>
                            <a:srgbClr val="0F172A"/>
                          </a:solidFill>
                          <a:latin typeface="Segoe UI"/>
                        </a:defRPr>
                      </a:pPr>
                      <a:r>
                        <a:t>Literature Discovery</a:t>
                      </a:r>
                    </a:p>
                  </a:txBody>
                  <a:tcPr marL="109728" marR="109728" marT="73152" marB="73152">
                    <a:solidFill>
                      <a:srgbClr val="FFFFFF"/>
                    </a:solidFill>
                  </a:tcPr>
                </a:tc>
                <a:tc>
                  <a:txBody>
                    <a:bodyPr/>
                    <a:lstStyle/>
                    <a:p>
                      <a:pPr algn="l">
                        <a:defRPr sz="1000">
                          <a:solidFill>
                            <a:srgbClr val="1E293B"/>
                          </a:solidFill>
                          <a:latin typeface="Segoe UI"/>
                        </a:defRPr>
                      </a:pPr>
                      <a:r>
                        <a:t>ResearchRabbit</a:t>
                      </a:r>
                    </a:p>
                  </a:txBody>
                  <a:tcPr marL="109728" marR="109728" marT="73152" marB="73152">
                    <a:solidFill>
                      <a:srgbClr val="FFFFFF"/>
                    </a:solidFill>
                  </a:tcPr>
                </a:tc>
                <a:tc>
                  <a:txBody>
                    <a:bodyPr/>
                    <a:lstStyle/>
                    <a:p>
                      <a:pPr algn="l">
                        <a:defRPr sz="1000">
                          <a:solidFill>
                            <a:srgbClr val="1E293B"/>
                          </a:solidFill>
                          <a:latin typeface="Segoe UI"/>
                        </a:defRPr>
                      </a:pPr>
                      <a:r>
                        <a:t>https://www.researchrabbitapp.com</a:t>
                      </a:r>
                    </a:p>
                  </a:txBody>
                  <a:tcPr marL="109728" marR="109728" marT="73152" marB="73152">
                    <a:solidFill>
                      <a:srgbClr val="FFFFFF"/>
                    </a:solidFill>
                  </a:tcPr>
                </a:tc>
                <a:tc>
                  <a:txBody>
                    <a:bodyPr/>
                    <a:lstStyle/>
                    <a:p>
                      <a:pPr algn="l">
                        <a:defRPr sz="1000">
                          <a:solidFill>
                            <a:srgbClr val="1E293B"/>
                          </a:solidFill>
                          <a:latin typeface="Segoe UI"/>
                        </a:defRPr>
                      </a:pPr>
                      <a:r>
                        <a:t>Citation network mapping, collection export, author graph algorithms</a:t>
                      </a:r>
                    </a:p>
                  </a:txBody>
                  <a:tcPr marL="109728" marR="109728" marT="73152" marB="73152">
                    <a:solidFill>
                      <a:srgbClr val="FFFFFF"/>
                    </a:solidFill>
                  </a:tcPr>
                </a:tc>
              </a:tr>
              <a:tr h="293914">
                <a:tc>
                  <a:txBody>
                    <a:bodyPr/>
                    <a:lstStyle/>
                    <a:p>
                      <a:pPr algn="l">
                        <a:defRPr sz="1000" b="1">
                          <a:solidFill>
                            <a:srgbClr val="0F172A"/>
                          </a:solidFill>
                          <a:latin typeface="Segoe UI"/>
                        </a:defRPr>
                      </a:pPr>
                      <a:r>
                        <a:t>Literature Discovery</a:t>
                      </a:r>
                    </a:p>
                  </a:txBody>
                  <a:tcPr marL="109728" marR="109728" marT="73152" marB="73152">
                    <a:solidFill>
                      <a:srgbClr val="F1F5F9"/>
                    </a:solidFill>
                  </a:tcPr>
                </a:tc>
                <a:tc>
                  <a:txBody>
                    <a:bodyPr/>
                    <a:lstStyle/>
                    <a:p>
                      <a:pPr algn="l">
                        <a:defRPr sz="1000">
                          <a:solidFill>
                            <a:srgbClr val="1E293B"/>
                          </a:solidFill>
                          <a:latin typeface="Segoe UI"/>
                        </a:defRPr>
                      </a:pPr>
                      <a:r>
                        <a:t>Litmaps</a:t>
                      </a:r>
                    </a:p>
                  </a:txBody>
                  <a:tcPr marL="109728" marR="109728" marT="73152" marB="73152">
                    <a:solidFill>
                      <a:srgbClr val="F1F5F9"/>
                    </a:solidFill>
                  </a:tcPr>
                </a:tc>
                <a:tc>
                  <a:txBody>
                    <a:bodyPr/>
                    <a:lstStyle/>
                    <a:p>
                      <a:pPr algn="l">
                        <a:defRPr sz="1000">
                          <a:solidFill>
                            <a:srgbClr val="1E293B"/>
                          </a:solidFill>
                          <a:latin typeface="Segoe UI"/>
                        </a:defRPr>
                      </a:pPr>
                      <a:r>
                        <a:t>https://www.litmaps.com</a:t>
                      </a:r>
                    </a:p>
                  </a:txBody>
                  <a:tcPr marL="109728" marR="109728" marT="73152" marB="73152">
                    <a:solidFill>
                      <a:srgbClr val="F1F5F9"/>
                    </a:solidFill>
                  </a:tcPr>
                </a:tc>
                <a:tc>
                  <a:txBody>
                    <a:bodyPr/>
                    <a:lstStyle/>
                    <a:p>
                      <a:pPr algn="l">
                        <a:defRPr sz="1000">
                          <a:solidFill>
                            <a:srgbClr val="1E293B"/>
                          </a:solidFill>
                          <a:latin typeface="Segoe UI"/>
                        </a:defRPr>
                      </a:pPr>
                      <a:r>
                        <a:t>Chronological citation visualizations, discoverability maps, literature tracking</a:t>
                      </a:r>
                    </a:p>
                  </a:txBody>
                  <a:tcPr marL="109728" marR="109728" marT="73152" marB="73152">
                    <a:solidFill>
                      <a:srgbClr val="F1F5F9"/>
                    </a:solidFill>
                  </a:tcPr>
                </a:tc>
              </a:tr>
              <a:tr h="293914">
                <a:tc>
                  <a:txBody>
                    <a:bodyPr/>
                    <a:lstStyle/>
                    <a:p>
                      <a:pPr algn="l">
                        <a:defRPr sz="1000" b="1">
                          <a:solidFill>
                            <a:srgbClr val="0F172A"/>
                          </a:solidFill>
                          <a:latin typeface="Segoe UI"/>
                        </a:defRPr>
                      </a:pPr>
                      <a:r>
                        <a:t>Literature Discovery</a:t>
                      </a:r>
                    </a:p>
                  </a:txBody>
                  <a:tcPr marL="109728" marR="109728" marT="73152" marB="73152">
                    <a:solidFill>
                      <a:srgbClr val="FFFFFF"/>
                    </a:solidFill>
                  </a:tcPr>
                </a:tc>
                <a:tc>
                  <a:txBody>
                    <a:bodyPr/>
                    <a:lstStyle/>
                    <a:p>
                      <a:pPr algn="l">
                        <a:defRPr sz="1000">
                          <a:solidFill>
                            <a:srgbClr val="1E293B"/>
                          </a:solidFill>
                          <a:latin typeface="Segoe UI"/>
                        </a:defRPr>
                      </a:pPr>
                      <a:r>
                        <a:t>Elicit</a:t>
                      </a:r>
                    </a:p>
                  </a:txBody>
                  <a:tcPr marL="109728" marR="109728" marT="73152" marB="73152">
                    <a:solidFill>
                      <a:srgbClr val="FFFFFF"/>
                    </a:solidFill>
                  </a:tcPr>
                </a:tc>
                <a:tc>
                  <a:txBody>
                    <a:bodyPr/>
                    <a:lstStyle/>
                    <a:p>
                      <a:pPr algn="l">
                        <a:defRPr sz="1000">
                          <a:solidFill>
                            <a:srgbClr val="1E293B"/>
                          </a:solidFill>
                          <a:latin typeface="Segoe UI"/>
                        </a:defRPr>
                      </a:pPr>
                      <a:r>
                        <a:t>https://elicit.com</a:t>
                      </a:r>
                    </a:p>
                  </a:txBody>
                  <a:tcPr marL="109728" marR="109728" marT="73152" marB="73152">
                    <a:solidFill>
                      <a:srgbClr val="FFFFFF"/>
                    </a:solidFill>
                  </a:tcPr>
                </a:tc>
                <a:tc>
                  <a:txBody>
                    <a:bodyPr/>
                    <a:lstStyle/>
                    <a:p>
                      <a:pPr algn="l">
                        <a:defRPr sz="1000">
                          <a:solidFill>
                            <a:srgbClr val="1E293B"/>
                          </a:solidFill>
                          <a:latin typeface="Segoe UI"/>
                        </a:defRPr>
                      </a:pPr>
                      <a:r>
                        <a:t>Systematic review matrices, semantic synthesis, automated research extraction</a:t>
                      </a:r>
                    </a:p>
                  </a:txBody>
                  <a:tcPr marL="109728" marR="109728" marT="73152" marB="73152">
                    <a:solidFill>
                      <a:srgbClr val="FFFFFF"/>
                    </a:solidFill>
                  </a:tcPr>
                </a:tc>
              </a:tr>
              <a:tr h="293914">
                <a:tc>
                  <a:txBody>
                    <a:bodyPr/>
                    <a:lstStyle/>
                    <a:p>
                      <a:pPr algn="l">
                        <a:defRPr sz="1000" b="1">
                          <a:solidFill>
                            <a:srgbClr val="0F172A"/>
                          </a:solidFill>
                          <a:latin typeface="Segoe UI"/>
                        </a:defRPr>
                      </a:pPr>
                      <a:r>
                        <a:t>Literature Discovery</a:t>
                      </a:r>
                    </a:p>
                  </a:txBody>
                  <a:tcPr marL="109728" marR="109728" marT="73152" marB="73152">
                    <a:solidFill>
                      <a:srgbClr val="F1F5F9"/>
                    </a:solidFill>
                  </a:tcPr>
                </a:tc>
                <a:tc>
                  <a:txBody>
                    <a:bodyPr/>
                    <a:lstStyle/>
                    <a:p>
                      <a:pPr algn="l">
                        <a:defRPr sz="1000">
                          <a:solidFill>
                            <a:srgbClr val="1E293B"/>
                          </a:solidFill>
                          <a:latin typeface="Segoe UI"/>
                        </a:defRPr>
                      </a:pPr>
                      <a:r>
                        <a:t>Consensus</a:t>
                      </a:r>
                    </a:p>
                  </a:txBody>
                  <a:tcPr marL="109728" marR="109728" marT="73152" marB="73152">
                    <a:solidFill>
                      <a:srgbClr val="F1F5F9"/>
                    </a:solidFill>
                  </a:tcPr>
                </a:tc>
                <a:tc>
                  <a:txBody>
                    <a:bodyPr/>
                    <a:lstStyle/>
                    <a:p>
                      <a:pPr algn="l">
                        <a:defRPr sz="1000">
                          <a:solidFill>
                            <a:srgbClr val="1E293B"/>
                          </a:solidFill>
                          <a:latin typeface="Segoe UI"/>
                        </a:defRPr>
                      </a:pPr>
                      <a:r>
                        <a:t>https://consensus.app</a:t>
                      </a:r>
                    </a:p>
                  </a:txBody>
                  <a:tcPr marL="109728" marR="109728" marT="73152" marB="73152">
                    <a:solidFill>
                      <a:srgbClr val="F1F5F9"/>
                    </a:solidFill>
                  </a:tcPr>
                </a:tc>
                <a:tc>
                  <a:txBody>
                    <a:bodyPr/>
                    <a:lstStyle/>
                    <a:p>
                      <a:pPr algn="l">
                        <a:defRPr sz="1000">
                          <a:solidFill>
                            <a:srgbClr val="1E293B"/>
                          </a:solidFill>
                          <a:latin typeface="Segoe UI"/>
                        </a:defRPr>
                      </a:pPr>
                      <a:r>
                        <a:t>Evidence-based scientific search engine, consensus meter, peer-reviewed index</a:t>
                      </a:r>
                    </a:p>
                  </a:txBody>
                  <a:tcPr marL="109728" marR="109728" marT="73152" marB="73152">
                    <a:solidFill>
                      <a:srgbClr val="F1F5F9"/>
                    </a:solidFill>
                  </a:tcPr>
                </a:tc>
              </a:tr>
              <a:tr h="293914">
                <a:tc>
                  <a:txBody>
                    <a:bodyPr/>
                    <a:lstStyle/>
                    <a:p>
                      <a:pPr algn="l">
                        <a:defRPr sz="1000" b="1">
                          <a:solidFill>
                            <a:srgbClr val="0F172A"/>
                          </a:solidFill>
                          <a:latin typeface="Segoe UI"/>
                        </a:defRPr>
                      </a:pPr>
                      <a:r>
                        <a:t>Paper Reading / RAG</a:t>
                      </a:r>
                    </a:p>
                  </a:txBody>
                  <a:tcPr marL="109728" marR="109728" marT="73152" marB="73152">
                    <a:solidFill>
                      <a:srgbClr val="FFFFFF"/>
                    </a:solidFill>
                  </a:tcPr>
                </a:tc>
                <a:tc>
                  <a:txBody>
                    <a:bodyPr/>
                    <a:lstStyle/>
                    <a:p>
                      <a:pPr algn="l">
                        <a:defRPr sz="1000">
                          <a:solidFill>
                            <a:srgbClr val="1E293B"/>
                          </a:solidFill>
                          <a:latin typeface="Segoe UI"/>
                        </a:defRPr>
                      </a:pPr>
                      <a:r>
                        <a:t>Google NotebookLM</a:t>
                      </a:r>
                    </a:p>
                  </a:txBody>
                  <a:tcPr marL="109728" marR="109728" marT="73152" marB="73152">
                    <a:solidFill>
                      <a:srgbClr val="FFFFFF"/>
                    </a:solidFill>
                  </a:tcPr>
                </a:tc>
                <a:tc>
                  <a:txBody>
                    <a:bodyPr/>
                    <a:lstStyle/>
                    <a:p>
                      <a:pPr algn="l">
                        <a:defRPr sz="1000">
                          <a:solidFill>
                            <a:srgbClr val="1E293B"/>
                          </a:solidFill>
                          <a:latin typeface="Segoe UI"/>
                        </a:defRPr>
                      </a:pPr>
                      <a:r>
                        <a:t>https://notebooklm.google.com</a:t>
                      </a:r>
                    </a:p>
                  </a:txBody>
                  <a:tcPr marL="109728" marR="109728" marT="73152" marB="73152">
                    <a:solidFill>
                      <a:srgbClr val="FFFFFF"/>
                    </a:solidFill>
                  </a:tcPr>
                </a:tc>
                <a:tc>
                  <a:txBody>
                    <a:bodyPr/>
                    <a:lstStyle/>
                    <a:p>
                      <a:pPr algn="l">
                        <a:defRPr sz="1000">
                          <a:solidFill>
                            <a:srgbClr val="1E293B"/>
                          </a:solidFill>
                          <a:latin typeface="Segoe UI"/>
                        </a:defRPr>
                      </a:pPr>
                      <a:r>
                        <a:t>Source-grounded RAG, multi-document synthesis, inline page citations</a:t>
                      </a:r>
                    </a:p>
                  </a:txBody>
                  <a:tcPr marL="109728" marR="109728" marT="73152" marB="73152">
                    <a:solidFill>
                      <a:srgbClr val="FFFFFF"/>
                    </a:solidFill>
                  </a:tcPr>
                </a:tc>
              </a:tr>
              <a:tr h="293914">
                <a:tc>
                  <a:txBody>
                    <a:bodyPr/>
                    <a:lstStyle/>
                    <a:p>
                      <a:pPr algn="l">
                        <a:defRPr sz="1000" b="1">
                          <a:solidFill>
                            <a:srgbClr val="0F172A"/>
                          </a:solidFill>
                          <a:latin typeface="Segoe UI"/>
                        </a:defRPr>
                      </a:pPr>
                      <a:r>
                        <a:t>Paper Reading / RAG</a:t>
                      </a:r>
                    </a:p>
                  </a:txBody>
                  <a:tcPr marL="109728" marR="109728" marT="73152" marB="73152">
                    <a:solidFill>
                      <a:srgbClr val="F1F5F9"/>
                    </a:solidFill>
                  </a:tcPr>
                </a:tc>
                <a:tc>
                  <a:txBody>
                    <a:bodyPr/>
                    <a:lstStyle/>
                    <a:p>
                      <a:pPr algn="l">
                        <a:defRPr sz="1000">
                          <a:solidFill>
                            <a:srgbClr val="1E293B"/>
                          </a:solidFill>
                          <a:latin typeface="Segoe UI"/>
                        </a:defRPr>
                      </a:pPr>
                      <a:r>
                        <a:t>SciSpace</a:t>
                      </a:r>
                    </a:p>
                  </a:txBody>
                  <a:tcPr marL="109728" marR="109728" marT="73152" marB="73152">
                    <a:solidFill>
                      <a:srgbClr val="F1F5F9"/>
                    </a:solidFill>
                  </a:tcPr>
                </a:tc>
                <a:tc>
                  <a:txBody>
                    <a:bodyPr/>
                    <a:lstStyle/>
                    <a:p>
                      <a:pPr algn="l">
                        <a:defRPr sz="1000">
                          <a:solidFill>
                            <a:srgbClr val="1E293B"/>
                          </a:solidFill>
                          <a:latin typeface="Segoe UI"/>
                        </a:defRPr>
                      </a:pPr>
                      <a:r>
                        <a:t>https://typeset.io</a:t>
                      </a:r>
                    </a:p>
                  </a:txBody>
                  <a:tcPr marL="109728" marR="109728" marT="73152" marB="73152">
                    <a:solidFill>
                      <a:srgbClr val="F1F5F9"/>
                    </a:solidFill>
                  </a:tcPr>
                </a:tc>
                <a:tc>
                  <a:txBody>
                    <a:bodyPr/>
                    <a:lstStyle/>
                    <a:p>
                      <a:pPr algn="l">
                        <a:defRPr sz="1000">
                          <a:solidFill>
                            <a:srgbClr val="1E293B"/>
                          </a:solidFill>
                          <a:latin typeface="Segoe UI"/>
                        </a:defRPr>
                      </a:pPr>
                      <a:r>
                        <a:t>Interactive PDF reading, multi-paper query co-pilot, citation extraction</a:t>
                      </a:r>
                    </a:p>
                  </a:txBody>
                  <a:tcPr marL="109728" marR="109728" marT="73152" marB="73152">
                    <a:solidFill>
                      <a:srgbClr val="F1F5F9"/>
                    </a:solidFill>
                  </a:tcPr>
                </a:tc>
              </a:tr>
              <a:tr h="293914">
                <a:tc>
                  <a:txBody>
                    <a:bodyPr/>
                    <a:lstStyle/>
                    <a:p>
                      <a:pPr algn="l">
                        <a:defRPr sz="1000" b="1">
                          <a:solidFill>
                            <a:srgbClr val="0F172A"/>
                          </a:solidFill>
                          <a:latin typeface="Segoe UI"/>
                        </a:defRPr>
                      </a:pPr>
                      <a:r>
                        <a:t>Coding &amp; Computing</a:t>
                      </a:r>
                    </a:p>
                  </a:txBody>
                  <a:tcPr marL="109728" marR="109728" marT="73152" marB="73152">
                    <a:solidFill>
                      <a:srgbClr val="FFFFFF"/>
                    </a:solidFill>
                  </a:tcPr>
                </a:tc>
                <a:tc>
                  <a:txBody>
                    <a:bodyPr/>
                    <a:lstStyle/>
                    <a:p>
                      <a:pPr algn="l">
                        <a:defRPr sz="1000">
                          <a:solidFill>
                            <a:srgbClr val="1E293B"/>
                          </a:solidFill>
                          <a:latin typeface="Segoe UI"/>
                        </a:defRPr>
                      </a:pPr>
                      <a:r>
                        <a:t>Google Colaboratory</a:t>
                      </a:r>
                    </a:p>
                  </a:txBody>
                  <a:tcPr marL="109728" marR="109728" marT="73152" marB="73152">
                    <a:solidFill>
                      <a:srgbClr val="FFFFFF"/>
                    </a:solidFill>
                  </a:tcPr>
                </a:tc>
                <a:tc>
                  <a:txBody>
                    <a:bodyPr/>
                    <a:lstStyle/>
                    <a:p>
                      <a:pPr algn="l">
                        <a:defRPr sz="1000">
                          <a:solidFill>
                            <a:srgbClr val="1E293B"/>
                          </a:solidFill>
                          <a:latin typeface="Segoe UI"/>
                        </a:defRPr>
                      </a:pPr>
                      <a:r>
                        <a:t>https://colab.research.google.com</a:t>
                      </a:r>
                    </a:p>
                  </a:txBody>
                  <a:tcPr marL="109728" marR="109728" marT="73152" marB="73152">
                    <a:solidFill>
                      <a:srgbClr val="FFFFFF"/>
                    </a:solidFill>
                  </a:tcPr>
                </a:tc>
                <a:tc>
                  <a:txBody>
                    <a:bodyPr/>
                    <a:lstStyle/>
                    <a:p>
                      <a:pPr algn="l">
                        <a:defRPr sz="1000">
                          <a:solidFill>
                            <a:srgbClr val="1E293B"/>
                          </a:solidFill>
                          <a:latin typeface="Segoe UI"/>
                        </a:defRPr>
                      </a:pPr>
                      <a:r>
                        <a:t>Cloud Python notebooks, GPU/TPU runtimes, Gemini code integration</a:t>
                      </a:r>
                    </a:p>
                  </a:txBody>
                  <a:tcPr marL="109728" marR="109728" marT="73152" marB="73152">
                    <a:solidFill>
                      <a:srgbClr val="FFFFFF"/>
                    </a:solidFill>
                  </a:tcPr>
                </a:tc>
              </a:tr>
              <a:tr h="293914">
                <a:tc>
                  <a:txBody>
                    <a:bodyPr/>
                    <a:lstStyle/>
                    <a:p>
                      <a:pPr algn="l">
                        <a:defRPr sz="1000" b="1">
                          <a:solidFill>
                            <a:srgbClr val="0F172A"/>
                          </a:solidFill>
                          <a:latin typeface="Segoe UI"/>
                        </a:defRPr>
                      </a:pPr>
                      <a:r>
                        <a:t>Academic Writing</a:t>
                      </a:r>
                    </a:p>
                  </a:txBody>
                  <a:tcPr marL="109728" marR="109728" marT="73152" marB="73152">
                    <a:solidFill>
                      <a:srgbClr val="F1F5F9"/>
                    </a:solidFill>
                  </a:tcPr>
                </a:tc>
                <a:tc>
                  <a:txBody>
                    <a:bodyPr/>
                    <a:lstStyle/>
                    <a:p>
                      <a:pPr algn="l">
                        <a:defRPr sz="1000">
                          <a:solidFill>
                            <a:srgbClr val="1E293B"/>
                          </a:solidFill>
                          <a:latin typeface="Segoe UI"/>
                        </a:defRPr>
                      </a:pPr>
                      <a:r>
                        <a:t>Paperpal</a:t>
                      </a:r>
                    </a:p>
                  </a:txBody>
                  <a:tcPr marL="109728" marR="109728" marT="73152" marB="73152">
                    <a:solidFill>
                      <a:srgbClr val="F1F5F9"/>
                    </a:solidFill>
                  </a:tcPr>
                </a:tc>
                <a:tc>
                  <a:txBody>
                    <a:bodyPr/>
                    <a:lstStyle/>
                    <a:p>
                      <a:pPr algn="l">
                        <a:defRPr sz="1000">
                          <a:solidFill>
                            <a:srgbClr val="1E293B"/>
                          </a:solidFill>
                          <a:latin typeface="Segoe UI"/>
                        </a:defRPr>
                      </a:pPr>
                      <a:r>
                        <a:t>https://paperpal.com</a:t>
                      </a:r>
                    </a:p>
                  </a:txBody>
                  <a:tcPr marL="109728" marR="109728" marT="73152" marB="73152">
                    <a:solidFill>
                      <a:srgbClr val="F1F5F9"/>
                    </a:solidFill>
                  </a:tcPr>
                </a:tc>
                <a:tc>
                  <a:txBody>
                    <a:bodyPr/>
                    <a:lstStyle/>
                    <a:p>
                      <a:pPr algn="l">
                        <a:defRPr sz="1000">
                          <a:solidFill>
                            <a:srgbClr val="1E293B"/>
                          </a:solidFill>
                          <a:latin typeface="Segoe UI"/>
                        </a:defRPr>
                      </a:pPr>
                      <a:r>
                        <a:t>Academic English syntax, word reduction, journal readiness screening</a:t>
                      </a:r>
                    </a:p>
                  </a:txBody>
                  <a:tcPr marL="109728" marR="109728" marT="73152" marB="73152">
                    <a:solidFill>
                      <a:srgbClr val="F1F5F9"/>
                    </a:solidFill>
                  </a:tcPr>
                </a:tc>
              </a:tr>
              <a:tr h="293914">
                <a:tc>
                  <a:txBody>
                    <a:bodyPr/>
                    <a:lstStyle/>
                    <a:p>
                      <a:pPr algn="l">
                        <a:defRPr sz="1000" b="1">
                          <a:solidFill>
                            <a:srgbClr val="0F172A"/>
                          </a:solidFill>
                          <a:latin typeface="Segoe UI"/>
                        </a:defRPr>
                      </a:pPr>
                      <a:r>
                        <a:t>Collaborative Platforms</a:t>
                      </a:r>
                    </a:p>
                  </a:txBody>
                  <a:tcPr marL="109728" marR="109728" marT="73152" marB="73152">
                    <a:solidFill>
                      <a:srgbClr val="FFFFFF"/>
                    </a:solidFill>
                  </a:tcPr>
                </a:tc>
                <a:tc>
                  <a:txBody>
                    <a:bodyPr/>
                    <a:lstStyle/>
                    <a:p>
                      <a:pPr algn="l">
                        <a:defRPr sz="1000">
                          <a:solidFill>
                            <a:srgbClr val="1E293B"/>
                          </a:solidFill>
                          <a:latin typeface="Segoe UI"/>
                        </a:defRPr>
                      </a:pPr>
                      <a:r>
                        <a:t>Overleaf / GitHub</a:t>
                      </a:r>
                    </a:p>
                  </a:txBody>
                  <a:tcPr marL="109728" marR="109728" marT="73152" marB="73152">
                    <a:solidFill>
                      <a:srgbClr val="FFFFFF"/>
                    </a:solidFill>
                  </a:tcPr>
                </a:tc>
                <a:tc>
                  <a:txBody>
                    <a:bodyPr/>
                    <a:lstStyle/>
                    <a:p>
                      <a:pPr algn="l">
                        <a:defRPr sz="1000">
                          <a:solidFill>
                            <a:srgbClr val="1E293B"/>
                          </a:solidFill>
                          <a:latin typeface="Segoe UI"/>
                        </a:defRPr>
                      </a:pPr>
                      <a:r>
                        <a:t>https://overleaf.com | https://github.com</a:t>
                      </a:r>
                    </a:p>
                  </a:txBody>
                  <a:tcPr marL="109728" marR="109728" marT="73152" marB="73152">
                    <a:solidFill>
                      <a:srgbClr val="FFFFFF"/>
                    </a:solidFill>
                  </a:tcPr>
                </a:tc>
                <a:tc>
                  <a:txBody>
                    <a:bodyPr/>
                    <a:lstStyle/>
                    <a:p>
                      <a:pPr algn="l">
                        <a:defRPr sz="1000">
                          <a:solidFill>
                            <a:srgbClr val="1E293B"/>
                          </a:solidFill>
                          <a:latin typeface="Segoe UI"/>
                        </a:defRPr>
                      </a:pPr>
                      <a:r>
                        <a:t>Real-time collaborative LaTeX authoring, git version control for code</a:t>
                      </a:r>
                    </a:p>
                  </a:txBody>
                  <a:tcPr marL="109728" marR="109728" marT="73152" marB="73152">
                    <a:solidFill>
                      <a:srgbClr val="FFFFFF"/>
                    </a:solidFill>
                  </a:tcPr>
                </a:tc>
              </a:tr>
              <a:tr h="293914">
                <a:tc>
                  <a:txBody>
                    <a:bodyPr/>
                    <a:lstStyle/>
                    <a:p>
                      <a:pPr algn="l">
                        <a:defRPr sz="1000" b="1">
                          <a:solidFill>
                            <a:srgbClr val="0F172A"/>
                          </a:solidFill>
                          <a:latin typeface="Segoe UI"/>
                        </a:defRPr>
                      </a:pPr>
                      <a:r>
                        <a:t>Active Teaching</a:t>
                      </a:r>
                    </a:p>
                  </a:txBody>
                  <a:tcPr marL="109728" marR="109728" marT="73152" marB="73152">
                    <a:solidFill>
                      <a:srgbClr val="F1F5F9"/>
                    </a:solidFill>
                  </a:tcPr>
                </a:tc>
                <a:tc>
                  <a:txBody>
                    <a:bodyPr/>
                    <a:lstStyle/>
                    <a:p>
                      <a:pPr algn="l">
                        <a:defRPr sz="1000">
                          <a:solidFill>
                            <a:srgbClr val="1E293B"/>
                          </a:solidFill>
                          <a:latin typeface="Segoe UI"/>
                        </a:defRPr>
                      </a:pPr>
                      <a:r>
                        <a:t>Google Forms</a:t>
                      </a:r>
                    </a:p>
                  </a:txBody>
                  <a:tcPr marL="109728" marR="109728" marT="73152" marB="73152">
                    <a:solidFill>
                      <a:srgbClr val="F1F5F9"/>
                    </a:solidFill>
                  </a:tcPr>
                </a:tc>
                <a:tc>
                  <a:txBody>
                    <a:bodyPr/>
                    <a:lstStyle/>
                    <a:p>
                      <a:pPr algn="l">
                        <a:defRPr sz="1000">
                          <a:solidFill>
                            <a:srgbClr val="1E293B"/>
                          </a:solidFill>
                          <a:latin typeface="Segoe UI"/>
                        </a:defRPr>
                      </a:pPr>
                      <a:r>
                        <a:t>https://forms.google.com</a:t>
                      </a:r>
                    </a:p>
                  </a:txBody>
                  <a:tcPr marL="109728" marR="109728" marT="73152" marB="73152">
                    <a:solidFill>
                      <a:srgbClr val="F1F5F9"/>
                    </a:solidFill>
                  </a:tcPr>
                </a:tc>
                <a:tc>
                  <a:txBody>
                    <a:bodyPr/>
                    <a:lstStyle/>
                    <a:p>
                      <a:pPr algn="l">
                        <a:defRPr sz="1000">
                          <a:solidFill>
                            <a:srgbClr val="1E293B"/>
                          </a:solidFill>
                          <a:latin typeface="Segoe UI"/>
                        </a:defRPr>
                      </a:pPr>
                      <a:r>
                        <a:t>Rapid diagnostic quizzes, automated response aggregation, exit tickets</a:t>
                      </a:r>
                    </a:p>
                  </a:txBody>
                  <a:tcPr marL="109728" marR="109728" marT="73152" marB="73152">
                    <a:solidFill>
                      <a:srgbClr val="F1F5F9"/>
                    </a:solidFill>
                  </a:tcPr>
                </a:tc>
              </a:tr>
              <a:tr h="293914">
                <a:tc>
                  <a:txBody>
                    <a:bodyPr/>
                    <a:lstStyle/>
                    <a:p>
                      <a:pPr algn="l">
                        <a:defRPr sz="1000" b="1">
                          <a:solidFill>
                            <a:srgbClr val="0F172A"/>
                          </a:solidFill>
                          <a:latin typeface="Segoe UI"/>
                        </a:defRPr>
                      </a:pPr>
                      <a:r>
                        <a:t>Personalized Mastery</a:t>
                      </a:r>
                    </a:p>
                  </a:txBody>
                  <a:tcPr marL="109728" marR="109728" marT="73152" marB="73152">
                    <a:solidFill>
                      <a:srgbClr val="FFFFFF"/>
                    </a:solidFill>
                  </a:tcPr>
                </a:tc>
                <a:tc>
                  <a:txBody>
                    <a:bodyPr/>
                    <a:lstStyle/>
                    <a:p>
                      <a:pPr algn="l">
                        <a:defRPr sz="1000">
                          <a:solidFill>
                            <a:srgbClr val="1E293B"/>
                          </a:solidFill>
                          <a:latin typeface="Segoe UI"/>
                        </a:defRPr>
                      </a:pPr>
                      <a:r>
                        <a:t>Khan Academy</a:t>
                      </a:r>
                    </a:p>
                  </a:txBody>
                  <a:tcPr marL="109728" marR="109728" marT="73152" marB="73152">
                    <a:solidFill>
                      <a:srgbClr val="FFFFFF"/>
                    </a:solidFill>
                  </a:tcPr>
                </a:tc>
                <a:tc>
                  <a:txBody>
                    <a:bodyPr/>
                    <a:lstStyle/>
                    <a:p>
                      <a:pPr algn="l">
                        <a:defRPr sz="1000">
                          <a:solidFill>
                            <a:srgbClr val="1E293B"/>
                          </a:solidFill>
                          <a:latin typeface="Segoe UI"/>
                        </a:defRPr>
                      </a:pPr>
                      <a:r>
                        <a:t>https://www.khanacademy.org</a:t>
                      </a:r>
                    </a:p>
                  </a:txBody>
                  <a:tcPr marL="109728" marR="109728" marT="73152" marB="73152">
                    <a:solidFill>
                      <a:srgbClr val="FFFFFF"/>
                    </a:solidFill>
                  </a:tcPr>
                </a:tc>
                <a:tc>
                  <a:txBody>
                    <a:bodyPr/>
                    <a:lstStyle/>
                    <a:p>
                      <a:pPr algn="l">
                        <a:defRPr sz="1000">
                          <a:solidFill>
                            <a:srgbClr val="1E293B"/>
                          </a:solidFill>
                          <a:latin typeface="Segoe UI"/>
                        </a:defRPr>
                      </a:pPr>
                      <a:r>
                        <a:t>Scaffolded self-paced modules, flipped classroom mastery models</a:t>
                      </a:r>
                    </a:p>
                  </a:txBody>
                  <a:tcPr marL="109728" marR="109728" marT="73152" marB="73152">
                    <a:solidFill>
                      <a:srgbClr val="FFFFFF"/>
                    </a:solidFill>
                  </a:tcPr>
                </a:tc>
              </a:tr>
              <a:tr h="293914">
                <a:tc>
                  <a:txBody>
                    <a:bodyPr/>
                    <a:lstStyle/>
                    <a:p>
                      <a:pPr algn="l">
                        <a:defRPr sz="1000" b="1">
                          <a:solidFill>
                            <a:srgbClr val="0F172A"/>
                          </a:solidFill>
                          <a:latin typeface="Segoe UI"/>
                        </a:defRPr>
                      </a:pPr>
                      <a:r>
                        <a:t>Gamified Learning</a:t>
                      </a:r>
                    </a:p>
                  </a:txBody>
                  <a:tcPr marL="109728" marR="109728" marT="73152" marB="73152">
                    <a:solidFill>
                      <a:srgbClr val="F1F5F9"/>
                    </a:solidFill>
                  </a:tcPr>
                </a:tc>
                <a:tc>
                  <a:txBody>
                    <a:bodyPr/>
                    <a:lstStyle/>
                    <a:p>
                      <a:pPr algn="l">
                        <a:defRPr sz="1000">
                          <a:solidFill>
                            <a:srgbClr val="1E293B"/>
                          </a:solidFill>
                          <a:latin typeface="Segoe UI"/>
                        </a:defRPr>
                      </a:pPr>
                      <a:r>
                        <a:t>Kahoot! / Blooket / Flippity</a:t>
                      </a:r>
                    </a:p>
                  </a:txBody>
                  <a:tcPr marL="109728" marR="109728" marT="73152" marB="73152">
                    <a:solidFill>
                      <a:srgbClr val="F1F5F9"/>
                    </a:solidFill>
                  </a:tcPr>
                </a:tc>
                <a:tc>
                  <a:txBody>
                    <a:bodyPr/>
                    <a:lstStyle/>
                    <a:p>
                      <a:pPr algn="l">
                        <a:defRPr sz="1000">
                          <a:solidFill>
                            <a:srgbClr val="1E293B"/>
                          </a:solidFill>
                          <a:latin typeface="Segoe UI"/>
                        </a:defRPr>
                      </a:pPr>
                      <a:r>
                        <a:t>https://kahoot.com | blooket.com | flippity.net</a:t>
                      </a:r>
                    </a:p>
                  </a:txBody>
                  <a:tcPr marL="109728" marR="109728" marT="73152" marB="73152">
                    <a:solidFill>
                      <a:srgbClr val="F1F5F9"/>
                    </a:solidFill>
                  </a:tcPr>
                </a:tc>
                <a:tc>
                  <a:txBody>
                    <a:bodyPr/>
                    <a:lstStyle/>
                    <a:p>
                      <a:pPr algn="l">
                        <a:defRPr sz="1000">
                          <a:solidFill>
                            <a:srgbClr val="1E293B"/>
                          </a:solidFill>
                          <a:latin typeface="Segoe UI"/>
                        </a:defRPr>
                      </a:pPr>
                      <a:r>
                        <a:t>Competitive classroom quizzes, game-based learning, spreadsheet tools</a:t>
                      </a:r>
                    </a:p>
                  </a:txBody>
                  <a:tcPr marL="109728" marR="109728" marT="73152" marB="73152">
                    <a:solidFill>
                      <a:srgbClr val="F1F5F9"/>
                    </a:solidFill>
                  </a:tcPr>
                </a:tc>
              </a:tr>
              <a:tr h="293918">
                <a:tc>
                  <a:txBody>
                    <a:bodyPr/>
                    <a:lstStyle/>
                    <a:p>
                      <a:pPr algn="l">
                        <a:defRPr sz="1000" b="1">
                          <a:solidFill>
                            <a:srgbClr val="0F172A"/>
                          </a:solidFill>
                          <a:latin typeface="Segoe UI"/>
                        </a:defRPr>
                      </a:pPr>
                      <a:r>
                        <a:t>Ethics &amp; Governance</a:t>
                      </a:r>
                    </a:p>
                  </a:txBody>
                  <a:tcPr marL="109728" marR="109728" marT="73152" marB="73152">
                    <a:solidFill>
                      <a:srgbClr val="FFFFFF"/>
                    </a:solidFill>
                  </a:tcPr>
                </a:tc>
                <a:tc>
                  <a:txBody>
                    <a:bodyPr/>
                    <a:lstStyle/>
                    <a:p>
                      <a:pPr algn="l">
                        <a:defRPr sz="1000">
                          <a:solidFill>
                            <a:srgbClr val="1E293B"/>
                          </a:solidFill>
                          <a:latin typeface="Segoe UI"/>
                        </a:defRPr>
                      </a:pPr>
                      <a:r>
                        <a:t>COPE &amp; IEEE Ethics</a:t>
                      </a:r>
                    </a:p>
                  </a:txBody>
                  <a:tcPr marL="109728" marR="109728" marT="73152" marB="73152">
                    <a:solidFill>
                      <a:srgbClr val="FFFFFF"/>
                    </a:solidFill>
                  </a:tcPr>
                </a:tc>
                <a:tc>
                  <a:txBody>
                    <a:bodyPr/>
                    <a:lstStyle/>
                    <a:p>
                      <a:pPr algn="l">
                        <a:defRPr sz="1000">
                          <a:solidFill>
                            <a:srgbClr val="1E293B"/>
                          </a:solidFill>
                          <a:latin typeface="Segoe UI"/>
                        </a:defRPr>
                      </a:pPr>
                      <a:r>
                        <a:t>https://publicationethics.org | https://ieee.org</a:t>
                      </a:r>
                    </a:p>
                  </a:txBody>
                  <a:tcPr marL="109728" marR="109728" marT="73152" marB="73152">
                    <a:solidFill>
                      <a:srgbClr val="FFFFFF"/>
                    </a:solidFill>
                  </a:tcPr>
                </a:tc>
                <a:tc>
                  <a:txBody>
                    <a:bodyPr/>
                    <a:lstStyle/>
                    <a:p>
                      <a:pPr algn="l">
                        <a:defRPr sz="1000">
                          <a:solidFill>
                            <a:srgbClr val="1E293B"/>
                          </a:solidFill>
                          <a:latin typeface="Segoe UI"/>
                        </a:defRPr>
                      </a:pPr>
                      <a:r>
                        <a:t>Author accountability standards, generative AI disclosure guidelines</a:t>
                      </a:r>
                    </a:p>
                  </a:txBody>
                  <a:tcPr marL="109728" marR="109728" marT="73152" marB="73152">
                    <a:solidFill>
                      <a:srgbClr val="FFFFFF"/>
                    </a:solidFill>
                  </a:tcPr>
                </a:tc>
              </a:tr>
            </a:tbl>
          </a:graphicData>
        </a:graphic>
      </p:graphicFrame>
      <p:sp>
        <p:nvSpPr>
          <p:cNvPr id="7" name="Rounded Rectangle 6"/>
          <p:cNvSpPr/>
          <p:nvPr/>
        </p:nvSpPr>
        <p:spPr>
          <a:xfrm>
            <a:off x="731520" y="6080760"/>
            <a:ext cx="10728655" cy="384048"/>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6080760"/>
            <a:ext cx="109728"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6153912"/>
            <a:ext cx="10408615" cy="237744"/>
          </a:xfrm>
          <a:prstGeom prst="rect">
            <a:avLst/>
          </a:prstGeom>
          <a:noFill/>
        </p:spPr>
        <p:txBody>
          <a:bodyPr wrap="square" lIns="0" rIns="0" tIns="0" bIns="0">
            <a:spAutoFit/>
          </a:bodyPr>
          <a:lstStyle/>
          <a:p>
            <a:r>
              <a:rPr b="1" sz="1000">
                <a:solidFill>
                  <a:srgbClr val="0F172A"/>
                </a:solidFill>
              </a:rPr>
              <a:t>URL Verification Guarantee: </a:t>
            </a:r>
            <a:r>
              <a:rPr b="0" sz="950">
                <a:solidFill>
                  <a:srgbClr val="1E293B"/>
                </a:solidFill>
              </a:rPr>
              <a:t>All URLs listed above represent official, verified institutional and platform domains. No synthetic or hallucinated web addresses are included.</a:t>
            </a: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475569"/>
                </a:solidFill>
                <a:latin typeface="Segoe UI"/>
              </a:defRPr>
            </a:pPr>
            <a:r>
              <a:t>AI-Powered Research, Learning &amp; Teaching Toolkit | Ref: Curated Academic Technology Registry 2026</a:t>
            </a:r>
          </a:p>
        </p:txBody>
      </p:sp>
      <p:sp>
        <p:nvSpPr>
          <p:cNvPr id="11" name="TextBox 10"/>
          <p:cNvSpPr txBox="1"/>
          <p:nvPr/>
        </p:nvSpPr>
        <p:spPr>
          <a:xfrm>
            <a:off x="9601200" y="6446520"/>
            <a:ext cx="1858975" cy="320040"/>
          </a:xfrm>
          <a:prstGeom prst="rect">
            <a:avLst/>
          </a:prstGeom>
          <a:noFill/>
        </p:spPr>
        <p:txBody>
          <a:bodyPr wrap="none" lIns="0" rIns="0" tIns="0" bIns="0">
            <a:spAutoFit/>
          </a:bodyPr>
          <a:lstStyle/>
          <a:p>
            <a:pPr algn="r">
              <a:defRPr sz="900">
                <a:solidFill>
                  <a:srgbClr val="475569"/>
                </a:solidFill>
                <a:latin typeface="Segoe UI"/>
              </a:defRPr>
            </a:pPr>
            <a:r>
              <a:t>Slide 33 of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