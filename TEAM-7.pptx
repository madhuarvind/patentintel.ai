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5" r:id="rId4"/>
    <p:sldId id="281" r:id="rId5"/>
    <p:sldId id="287" r:id="rId6"/>
    <p:sldId id="282" r:id="rId7"/>
    <p:sldId id="288" r:id="rId8"/>
    <p:sldId id="283" r:id="rId9"/>
    <p:sldId id="284" r:id="rId10"/>
    <p:sldId id="262" r:id="rId11"/>
    <p:sldId id="286" r:id="rId12"/>
    <p:sldId id="272" r:id="rId13"/>
    <p:sldId id="289" r:id="rId14"/>
    <p:sldId id="290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007AC-B737-4462-BE13-38B9DC786C0E}" v="53" dt="2026-08-30T04:05:50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2D57-16DE-4FE2-9BA5-B3FDABDEBF5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97956-3FE1-417F-8738-A3CF504B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8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97956-3FE1-417F-8738-A3CF504B01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4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97956-3FE1-417F-8738-A3CF504B01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6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CD02-16E2-9E75-221E-40F3111F2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0B4AD-1B02-5739-17B0-C220CC6F5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AD473-CA0C-4DBA-6C15-978C7E6A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93A68-A401-5AB4-5814-F1CBDADE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3AA5D-0396-806F-BC66-7CCCEC79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3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7102-C33A-C43B-6250-2A5FC951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47DD7-0455-6CC4-B816-C9108B759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160EF-6491-2B05-53E6-469AA99D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A09B-390C-DBD1-2502-DAB512C1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55F31-6C1C-C1F0-49DC-BCC25A13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2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259-9F9F-AC9C-EBC2-DD68487F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B2FC9-9CB0-01D6-1C76-958A3C911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E9F84-6A9C-1A2D-3CAD-BB065A3E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12F63-BE18-9BEA-852F-61AC748A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77-D269-D9CE-F832-FA242DDE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5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E6BE-3E81-2142-597D-AB169FB9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4364-0E14-511D-2FAB-5745EB82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1F13E-BEEB-095B-B5BC-64A8C4F11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2FCAB-681E-600C-8642-217721D4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2DB07-CA56-4B97-55E4-E83BF938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82984-026C-3BA2-3A3C-46802172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3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03AD-3C83-0D00-9A73-67C0632D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B2BD0-1113-F168-E142-09CF3893B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3AF2A-F336-5E85-2E59-2B94BB2F2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CC38B-814F-3252-F32F-6F93634E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B8877-93FA-7486-58A4-52FD99528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E4AB8-B99D-0154-9A6B-2B1A1EE9A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A0F71D-67AF-54DE-5F30-F962281B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9D913-E5BA-1CB6-E760-67DE2675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DEE4-5D04-5A4D-DA66-6018F2C4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8D9AD-2847-386F-6A6E-5F8F69B9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5E762-BE80-EEE5-BC7E-43EE78CF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1EC91-5972-1FD7-395B-931624DC9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6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7065E-B7F0-06F1-61CD-A79E0D693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EB174-4D38-A080-DFA3-19346595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3F017-5ABD-9235-512F-00434739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6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E1D4-BA04-1424-D1E5-40619CC4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24C1-A6F8-6EB8-CDB8-F7A0454AA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C1A2F-991F-7542-9A8E-0F8C91639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A8D8E-74A2-CE81-00AF-5A45BEEE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07EF7-2FA2-86AF-EB98-64B909E2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8269A-ADB5-ADB4-E42B-3B6BDB74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4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2E2B-44C4-AF30-9854-99D4F5BD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E472F-E141-DFCE-250C-3FBA3FEC3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F4E2D-AD2A-37EE-20FE-A4EEAF9AB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FA96-4D8D-9DD4-58F0-7CC93335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174C0-CF33-0ABD-B613-B083AD83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0612C-86C0-9964-3C4C-6E866B46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761F-8B46-53D3-BCC4-CC947D12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5C08D-06BE-A55F-7C05-1ACBC68C5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624FE-6366-3062-E590-263DC398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8D57-12D2-3E88-FC7E-AC2C39A3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05EBF-8B48-4ABD-2048-BF9FD2F0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4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911A2-E40B-8BB4-9D2A-2256773E9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2038E-41D9-5E9A-7416-4AF16C76B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9A022-7EC5-D29C-2BBE-6906D8B7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4AB72-0D24-154E-1AAC-B8F4B435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298E1-D1ED-61C3-9FFC-B4CD48DF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2FE2F1-1E57-0B02-B0AE-F76A1B62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C1351-1075-2D27-5DCC-FA6341A77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2F33F-B5F4-A8D6-E36F-F800BD193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25106-C5FF-4A99-BAE0-5BF3F03CAA7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2891B-6089-A57F-DE01-465FF2214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5C830-D088-5EE3-B77F-7EEF2D8FC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C3C9B-D670-4BD6-B32B-9F4BC2D1A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5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8" descr="MKCE Logo">
            <a:extLst>
              <a:ext uri="{FF2B5EF4-FFF2-40B4-BE49-F238E27FC236}">
                <a16:creationId xmlns:a16="http://schemas.microsoft.com/office/drawing/2014/main" id="{D41CB322-6811-7991-09C4-B78C83657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0" descr="M.Kumarasamy College of Engineering">
            <a:extLst>
              <a:ext uri="{FF2B5EF4-FFF2-40B4-BE49-F238E27FC236}">
                <a16:creationId xmlns:a16="http://schemas.microsoft.com/office/drawing/2014/main" id="{D9097890-F852-1673-9F06-7D6B85568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C521E1-CDAA-875E-796A-087811C5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A9A3FBB-048F-7A09-1D5B-06CB13E40A67}"/>
              </a:ext>
            </a:extLst>
          </p:cNvPr>
          <p:cNvSpPr txBox="1"/>
          <p:nvPr/>
        </p:nvSpPr>
        <p:spPr>
          <a:xfrm>
            <a:off x="-138018" y="5359543"/>
            <a:ext cx="4579389" cy="2390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buNone/>
            </a:pPr>
            <a:r>
              <a:rPr lang="en-US" sz="25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>
              <a:lnSpc>
                <a:spcPct val="10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Mrs.R.Elankeerthana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>
              <a:lnSpc>
                <a:spcPct val="150000"/>
              </a:lnSpc>
              <a:buNone/>
            </a:pP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A1C79E-9E7A-BDA8-64DB-855D6C8F851C}"/>
              </a:ext>
            </a:extLst>
          </p:cNvPr>
          <p:cNvSpPr txBox="1"/>
          <p:nvPr/>
        </p:nvSpPr>
        <p:spPr>
          <a:xfrm>
            <a:off x="-39836" y="1295309"/>
            <a:ext cx="4383024" cy="60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buNone/>
            </a:pPr>
            <a:r>
              <a:rPr lang="en-US" sz="2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: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3D549-04B5-AB96-3A49-7FD52FA1117E}"/>
              </a:ext>
            </a:extLst>
          </p:cNvPr>
          <p:cNvSpPr txBox="1"/>
          <p:nvPr/>
        </p:nvSpPr>
        <p:spPr>
          <a:xfrm>
            <a:off x="449507" y="3613197"/>
            <a:ext cx="4304212" cy="1819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M  (927623BAM021)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MADHUARAVIND P  (927623BAM032)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MOUNEESH R  (927623BAM035)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E058C-F9EE-4534-FA55-EB2C567BE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371" y="1215851"/>
            <a:ext cx="7181390" cy="51648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E1B082-90F0-C1DA-7D0E-C066E972001A}"/>
              </a:ext>
            </a:extLst>
          </p:cNvPr>
          <p:cNvSpPr txBox="1"/>
          <p:nvPr/>
        </p:nvSpPr>
        <p:spPr>
          <a:xfrm>
            <a:off x="342105" y="3028950"/>
            <a:ext cx="3555229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31 - Aug - 2026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9BBBF-B85B-800A-03C8-4FE9EE7C854D}"/>
              </a:ext>
            </a:extLst>
          </p:cNvPr>
          <p:cNvSpPr txBox="1"/>
          <p:nvPr/>
        </p:nvSpPr>
        <p:spPr>
          <a:xfrm>
            <a:off x="-1026604" y="2128761"/>
            <a:ext cx="62926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AMI1411 </a:t>
            </a:r>
          </a:p>
          <a:p>
            <a:pPr algn="ctr" rtl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I</a:t>
            </a:r>
          </a:p>
        </p:txBody>
      </p:sp>
    </p:spTree>
    <p:extLst>
      <p:ext uri="{BB962C8B-B14F-4D97-AF65-F5344CB8AC3E}">
        <p14:creationId xmlns:p14="http://schemas.microsoft.com/office/powerpoint/2010/main" val="139246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49A0-0768-6004-EC5B-5D8B9985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293" y="1519888"/>
            <a:ext cx="10515600" cy="765897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MOTIVATION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2832C-FA25-687C-F0D6-C66972A87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728" y="2229250"/>
            <a:ext cx="9896543" cy="445730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searching is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complex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when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patent collections.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search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fail when different terminology is used to describe similar inventions.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similarity systems often provide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without explaining which technical features or claim elements are similar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comparing patent claims, prior-art documents, and technical differences requires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expert effort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AI-assisted, explainable approach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understand the semantic meaning of patent claims.</a:t>
            </a: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11878799-E44D-2A07-7FCE-DF7E64F53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0B102-AF8B-BF7B-0561-9B59CD11F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9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D875-1556-1913-4CEF-304D06AD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CE9C-C565-77A6-A280-425894DB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949" y="924791"/>
            <a:ext cx="7486140" cy="765897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135A-9BF0-80A5-CA4A-9133486E7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36" y="1600200"/>
            <a:ext cx="6424529" cy="414697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semantically similar patents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understanding the technical meaning beyond keyword matching.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patent claims into technical elements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map corresponding elements across similar patents.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semantic embeddings with keyword-based retrieval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accuracy and relevance of patent search.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prior-art relationships and potential claim overlaps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AI-assisted comparison and chronological evidence.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explainable, evidence-grounded reports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highlighting similarities, differences, supporting evidence, and potential intellectual-property risks.</a:t>
            </a:r>
          </a:p>
          <a:p>
            <a:pPr lvl="0"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C3C4CF70-C032-66C7-D9C9-8112B37EA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3709A-D387-E2BB-F7DE-7DA116112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2F2B9A-77CA-CD03-DDB6-BDF04EB9C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696" y="1690688"/>
            <a:ext cx="4550840" cy="461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9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C302-B93A-F829-6F6C-28017F2D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D422-F502-C6EE-9F32-693C9D95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171" y="658324"/>
            <a:ext cx="7486140" cy="765897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FDF3AFDF-F6E4-1624-AD0B-AE3D82C11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326898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FC2BA2-0801-72C8-3C45-713A1E66B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368" y="427239"/>
            <a:ext cx="1377805" cy="103149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9FBAFA-9451-1F98-E112-73D36A26A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717296"/>
              </p:ext>
            </p:extLst>
          </p:nvPr>
        </p:nvGraphicFramePr>
        <p:xfrm>
          <a:off x="765665" y="1640027"/>
          <a:ext cx="11104988" cy="512699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426527">
                  <a:extLst>
                    <a:ext uri="{9D8B030D-6E8A-4147-A177-3AD203B41FA5}">
                      <a16:colId xmlns:a16="http://schemas.microsoft.com/office/drawing/2014/main" val="3767161875"/>
                    </a:ext>
                  </a:extLst>
                </a:gridCol>
                <a:gridCol w="2349661">
                  <a:extLst>
                    <a:ext uri="{9D8B030D-6E8A-4147-A177-3AD203B41FA5}">
                      <a16:colId xmlns:a16="http://schemas.microsoft.com/office/drawing/2014/main" val="2976673483"/>
                    </a:ext>
                  </a:extLst>
                </a:gridCol>
                <a:gridCol w="2106592">
                  <a:extLst>
                    <a:ext uri="{9D8B030D-6E8A-4147-A177-3AD203B41FA5}">
                      <a16:colId xmlns:a16="http://schemas.microsoft.com/office/drawing/2014/main" val="1587093689"/>
                    </a:ext>
                  </a:extLst>
                </a:gridCol>
                <a:gridCol w="2002421">
                  <a:extLst>
                    <a:ext uri="{9D8B030D-6E8A-4147-A177-3AD203B41FA5}">
                      <a16:colId xmlns:a16="http://schemas.microsoft.com/office/drawing/2014/main" val="2763209504"/>
                    </a:ext>
                  </a:extLst>
                </a:gridCol>
                <a:gridCol w="2363555">
                  <a:extLst>
                    <a:ext uri="{9D8B030D-6E8A-4147-A177-3AD203B41FA5}">
                      <a16:colId xmlns:a16="http://schemas.microsoft.com/office/drawing/2014/main" val="270833397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3690802"/>
                    </a:ext>
                  </a:extLst>
                </a:gridCol>
              </a:tblGrid>
              <a:tr h="425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in Proposed System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375324"/>
                  </a:ext>
                </a:extLst>
              </a:tr>
              <a:tr h="1506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Semantic Query Expansion-Based Patent Retrieval Approach (2013)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Feng Wang, Lanfen Lin, Shuai Yang, Xiaowei Zhu.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patent retrieval using domain-specific semantic query expansion.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query expansion; does not provide detailed claim-level comparison.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retrieval + terminology understanding to identify patents beyond exact keyword matches.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44229"/>
                  </a:ext>
                </a:extLst>
              </a:tr>
              <a:tr h="1506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and Analysis of Embedding Methods for Patent Documents (2021)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Arousha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Haghighian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Roudsari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Jafar Afshar, Suan Lee, Wookey Lee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different embedding techniques.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focuses mainly on representation/classification; does not provide an integrated patent comparison system.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Patent-specific semantic embeddings + similarity retrieval for finding technically related patents.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1433"/>
                  </a:ext>
                </a:extLst>
              </a:tr>
              <a:tr h="1506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Patent Citation Network Simplification and Similarity Evaluation Based on Technological Inheritance (2023)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Zhipeng Qiu, Zheng Wang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patent claims, TF-IDF vectors and citation relationships to evaluate technological similarity and inheritance.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traditional vector representation and citation networks; limited semantic/LLM-based explanation.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 similarity + citation/relationship analysis + prior-art timeline in one workflow.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957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6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0EA0-F8BC-AEE1-3D7D-2175D91F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0ABC-9538-175D-AC96-9134A419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229" y="1080239"/>
            <a:ext cx="7486140" cy="765897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C9414680-E7ED-0A6C-FF12-251863E5E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326898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AD98A2-3CD9-DAA0-137B-479C5A0F3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368" y="427239"/>
            <a:ext cx="1377805" cy="103149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C157B1-FD61-6DE3-1D1D-3111F55A7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03740"/>
              </p:ext>
            </p:extLst>
          </p:nvPr>
        </p:nvGraphicFramePr>
        <p:xfrm>
          <a:off x="777240" y="1846136"/>
          <a:ext cx="11104988" cy="420516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424796">
                  <a:extLst>
                    <a:ext uri="{9D8B030D-6E8A-4147-A177-3AD203B41FA5}">
                      <a16:colId xmlns:a16="http://schemas.microsoft.com/office/drawing/2014/main" val="3767161875"/>
                    </a:ext>
                  </a:extLst>
                </a:gridCol>
                <a:gridCol w="2501863">
                  <a:extLst>
                    <a:ext uri="{9D8B030D-6E8A-4147-A177-3AD203B41FA5}">
                      <a16:colId xmlns:a16="http://schemas.microsoft.com/office/drawing/2014/main" val="2976673483"/>
                    </a:ext>
                  </a:extLst>
                </a:gridCol>
                <a:gridCol w="2083443">
                  <a:extLst>
                    <a:ext uri="{9D8B030D-6E8A-4147-A177-3AD203B41FA5}">
                      <a16:colId xmlns:a16="http://schemas.microsoft.com/office/drawing/2014/main" val="1587093689"/>
                    </a:ext>
                  </a:extLst>
                </a:gridCol>
                <a:gridCol w="2382422">
                  <a:extLst>
                    <a:ext uri="{9D8B030D-6E8A-4147-A177-3AD203B41FA5}">
                      <a16:colId xmlns:a16="http://schemas.microsoft.com/office/drawing/2014/main" val="27632095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70833397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3690802"/>
                    </a:ext>
                  </a:extLst>
                </a:gridCol>
              </a:tblGrid>
              <a:tr h="329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in Proposed System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4" marR="59204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375324"/>
                  </a:ext>
                </a:extLst>
              </a:tr>
              <a:tr h="6935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Augmented Intelligence for State-of-the-Art Patent Search (2022)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 Hafner, Nadja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Damij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Dolores Modic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Demonstrates the potential of AI and semantic search for improving patent prior-art searching compared with Boolean keyword search.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Focuses on supporting search rather than detailed claim-element mapping and evidence-grounded reasoning.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Hybrid keyword + semantic retrieval followed by claim-level analysis.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44229"/>
                  </a:ext>
                </a:extLst>
              </a:tr>
              <a:tr h="7945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Artificial Intelligence Reducing the Intricacies of Patent Prior Art Search (2023)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Poonam Rawat, Kapil Joshi, Kanishka Vaish, Rajesh Singh, Samta Kathuria, Aditya Verma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Shows how AI can assist keyword suggestion, document retrieval, ranking and visualization to reduce manual prior-art search effort.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Discusses AI-assisted prior-art search but does not provide a complete claim-mapping and explainable LLM platform.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Automated prior-art analysis + evidence-based LLM explanation for faster patent review.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31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59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0FA6-24AA-CC1C-25DE-B2622F27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DF16-412C-2B64-2EEB-EAD9039C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949" y="924791"/>
            <a:ext cx="7486140" cy="76589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0E17E-BD2C-EDC7-6DA5-6D2D57AD1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4570" y="1778372"/>
            <a:ext cx="7059172" cy="410758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patent search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miss semantically similar inventions described using different technical terminology.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Document-level similarity 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provide a similarity score without showing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claim elements actually overlap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semantic retrieval approaches generally focus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similar patents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provide limited support for detailed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claim-to-claim comparison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analysis tools do not always combine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similarity, prior-art chronology, technical differences, and supporting evidence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workflow.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analysis can produce unsupported conclusions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generated explanation is not grounded in the original patent evidence.</a:t>
            </a:r>
          </a:p>
          <a:p>
            <a:pPr lvl="0"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B2F9667C-42F0-74B7-F3AF-D7308D01A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55254F-36D3-9F53-29E0-A4C67A649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38920-881B-F252-A313-96FF95AF5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43" y="1778372"/>
            <a:ext cx="3895817" cy="450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2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3325-6FE3-0F5D-BFEA-AAB984F4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C765-B2E0-C542-924A-FC9C92BB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949" y="924791"/>
            <a:ext cx="7486140" cy="765897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7386-F12A-313F-E946-DBDA068D4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262" y="1600200"/>
            <a:ext cx="5399228" cy="4558904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equivalents can still be difficult to identify comprehensively.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results may not clearly show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claim elements correspond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manually compare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features and differences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prior-art timeline and claim analysis are not necessarily presented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integrated workflow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explanations require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grounding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unsupported conclusions.</a:t>
            </a: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0F55D99F-D54D-0CD6-A7B1-F3301D48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28788-F8C9-15C2-944F-691FD7CC5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2D520-5E2B-E984-E31B-14C5ED0428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1" t="13485" r="1636" b="1362"/>
          <a:stretch>
            <a:fillRect/>
          </a:stretch>
        </p:blipFill>
        <p:spPr>
          <a:xfrm>
            <a:off x="6373552" y="1606421"/>
            <a:ext cx="5200341" cy="455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0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AD92-9E3D-F2DE-4839-2454F1A7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0F16-0A96-EEE4-18C5-2FD5B87D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949" y="924791"/>
            <a:ext cx="7486140" cy="765897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0909AC3F-0AFC-6C7F-6FCB-D3EE61395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77A12-2F66-F0EA-9F91-276EFD19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5EE52E-7F49-A1DC-B94B-D116DFD52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2" y="1690688"/>
            <a:ext cx="6312018" cy="459088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patent analysis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understands the semantic meaning of patent documents beyond exact keywords.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extracts and decomposes patent claims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meaningful technical elements for detailed comparison.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hybrid retrieval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keyword-based search with semantic embeddings to identify highly relevant patents.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corresponding claim elements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patents and identifies similarities, differences, and technical relationships.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LLM-based reasoning with supporting patent evidence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an explainable analysis report containing similarity, prior-art evidence, and potential claim-overlap indicators.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EA631-6992-6704-C6FF-7756F2E7F1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799" t="18575" r="1254" b="21210"/>
          <a:stretch>
            <a:fillRect/>
          </a:stretch>
        </p:blipFill>
        <p:spPr>
          <a:xfrm>
            <a:off x="354253" y="1779639"/>
            <a:ext cx="5053489" cy="472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2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B89F-168B-044B-3B82-E40964F9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E458-27E7-8B20-389B-6EDB9282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426" y="1188538"/>
            <a:ext cx="7845413" cy="219194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072D95FE-13E6-D5B6-5BB5-B48817380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7CFD2-FE3E-BFD0-323E-F37BE9CC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763CBE-3568-18FF-5786-3707CCB5C9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14"/>
          <a:stretch>
            <a:fillRect/>
          </a:stretch>
        </p:blipFill>
        <p:spPr>
          <a:xfrm>
            <a:off x="589273" y="1514607"/>
            <a:ext cx="11013453" cy="507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7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FDDD-EC8C-6CF7-0272-F70BE5B5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627" y="1109262"/>
            <a:ext cx="7217546" cy="6467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82845470-A6EE-D8BD-A8C1-EF1DA81C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3F5F30-F941-7066-468D-90AA14EF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8920DF-1C09-757A-4F64-114C92A8D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310" y="3429000"/>
            <a:ext cx="390580" cy="5144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8796E2-9597-440D-97E1-9B222DFB8096}"/>
              </a:ext>
            </a:extLst>
          </p:cNvPr>
          <p:cNvSpPr txBox="1"/>
          <p:nvPr/>
        </p:nvSpPr>
        <p:spPr>
          <a:xfrm>
            <a:off x="1118586" y="2382175"/>
            <a:ext cx="8922059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Document Ingestion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Preprocessing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 Extraction &amp; Decomposition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Patent Retrieval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Analysis &amp; Reasoning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&amp; Risk Analysis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Report Generation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99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B744-259F-4B48-D09A-EBB66157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C2B-E1A9-6DB0-312C-1FF03430A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554" y="1419559"/>
            <a:ext cx="9304436" cy="76589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&amp; TECHNOLOGIES    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770F84D1-67F9-A667-C173-A1F871B8C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305B8-1FF6-E5CD-6782-CCC433921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71791"/>
            <a:ext cx="1377805" cy="1031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748CE5-0F7A-7B2F-3E8D-2C4ACE49E8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8" t="7599" r="2305" b="2500"/>
          <a:stretch>
            <a:fillRect/>
          </a:stretch>
        </p:blipFill>
        <p:spPr>
          <a:xfrm>
            <a:off x="1209368" y="2185456"/>
            <a:ext cx="9792929" cy="440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309F6E-2C5F-CEFA-3CC5-41CB8654B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088" y="261400"/>
            <a:ext cx="1377805" cy="1031492"/>
          </a:xfrm>
          <a:prstGeom prst="rect">
            <a:avLst/>
          </a:prstGeom>
        </p:spPr>
      </p:pic>
      <p:pic>
        <p:nvPicPr>
          <p:cNvPr id="3" name="Picture 10" descr="M.Kumarasamy College of Engineering">
            <a:extLst>
              <a:ext uri="{FF2B5EF4-FFF2-40B4-BE49-F238E27FC236}">
                <a16:creationId xmlns:a16="http://schemas.microsoft.com/office/drawing/2014/main" id="{D295671E-3228-C470-210B-72C47151B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B3381DC-60F6-5176-F66D-7D3B0117B7E7}"/>
              </a:ext>
            </a:extLst>
          </p:cNvPr>
          <p:cNvSpPr txBox="1">
            <a:spLocks/>
          </p:cNvSpPr>
          <p:nvPr/>
        </p:nvSpPr>
        <p:spPr>
          <a:xfrm>
            <a:off x="1911927" y="1010405"/>
            <a:ext cx="9248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DESIGN &amp; PROGRESS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4A6D1-E5F2-9962-4574-7A0A3F724870}"/>
              </a:ext>
            </a:extLst>
          </p:cNvPr>
          <p:cNvSpPr txBox="1"/>
          <p:nvPr/>
        </p:nvSpPr>
        <p:spPr>
          <a:xfrm>
            <a:off x="1455175" y="2131847"/>
            <a:ext cx="10043144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Upload Interface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patent documents in PDF/text format for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Processing Pipeline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workflow for text extraction, cleaning, metadata extraction and claim identification.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 Analysis 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claim decomposition into individual technical elements.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Retrieval 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hybrid retrieval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BM25 + semantic embeddings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relevant patents.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Analysis Dashboard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output for claim mapping, similarity scores, prior-art evidence and technical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103500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5F2C-7F07-7034-1E21-10472988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A49601-E9DF-DC8A-4F1B-5D796C4ED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61400"/>
            <a:ext cx="1377805" cy="1031492"/>
          </a:xfrm>
          <a:prstGeom prst="rect">
            <a:avLst/>
          </a:prstGeom>
        </p:spPr>
      </p:pic>
      <p:pic>
        <p:nvPicPr>
          <p:cNvPr id="3" name="Picture 10" descr="M.Kumarasamy College of Engineering">
            <a:extLst>
              <a:ext uri="{FF2B5EF4-FFF2-40B4-BE49-F238E27FC236}">
                <a16:creationId xmlns:a16="http://schemas.microsoft.com/office/drawing/2014/main" id="{297780DA-9FCE-92EA-1464-47CAB27E2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B441C87-6702-E9B3-4A5C-46255356480F}"/>
              </a:ext>
            </a:extLst>
          </p:cNvPr>
          <p:cNvSpPr txBox="1">
            <a:spLocks/>
          </p:cNvSpPr>
          <p:nvPr/>
        </p:nvSpPr>
        <p:spPr>
          <a:xfrm>
            <a:off x="1708727" y="885825"/>
            <a:ext cx="9248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CA0D7B-B26E-ACC8-02D3-A15B675503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7" t="10793" r="2117" b="1591"/>
          <a:stretch>
            <a:fillRect/>
          </a:stretch>
        </p:blipFill>
        <p:spPr>
          <a:xfrm>
            <a:off x="1448729" y="1822989"/>
            <a:ext cx="9768432" cy="477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10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A7BA-D6D2-96E2-DB8C-79B57864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C76D08-8722-4BBB-09EF-5A641E0C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088" y="261400"/>
            <a:ext cx="1377805" cy="1031492"/>
          </a:xfrm>
          <a:prstGeom prst="rect">
            <a:avLst/>
          </a:prstGeom>
        </p:spPr>
      </p:pic>
      <p:pic>
        <p:nvPicPr>
          <p:cNvPr id="3" name="Picture 10" descr="M.Kumarasamy College of Engineering">
            <a:extLst>
              <a:ext uri="{FF2B5EF4-FFF2-40B4-BE49-F238E27FC236}">
                <a16:creationId xmlns:a16="http://schemas.microsoft.com/office/drawing/2014/main" id="{F3575778-C91D-D1FE-976F-FCB2242A7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FF4EF3-E84F-F617-CADB-8D2CF07EFFB9}"/>
              </a:ext>
            </a:extLst>
          </p:cNvPr>
          <p:cNvSpPr txBox="1">
            <a:spLocks/>
          </p:cNvSpPr>
          <p:nvPr/>
        </p:nvSpPr>
        <p:spPr>
          <a:xfrm>
            <a:off x="1911927" y="815119"/>
            <a:ext cx="9248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C229A-68CF-3A20-DCBE-A3C003ED9CAE}"/>
              </a:ext>
            </a:extLst>
          </p:cNvPr>
          <p:cNvSpPr txBox="1"/>
          <p:nvPr/>
        </p:nvSpPr>
        <p:spPr>
          <a:xfrm>
            <a:off x="471948" y="1846611"/>
            <a:ext cx="11798709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Patent Retrieval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patents with similar inventions even when different terminology is used.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Claim-Level Comparison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claims into technical elements and identify corresponding elements between patents.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Prior-Art Intelligence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relevant earlier patents and present their relationships through a chronological timeline.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 explanations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similarities, differences, and potential claim overlaps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only a similarity score.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Patent Intelligence Report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structured report containing similarity scores, claim mapping, prior-art evidence, differences, and potential overlap indicators.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95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M.Kumarasamy College of Engineering">
            <a:extLst>
              <a:ext uri="{FF2B5EF4-FFF2-40B4-BE49-F238E27FC236}">
                <a16:creationId xmlns:a16="http://schemas.microsoft.com/office/drawing/2014/main" id="{FBCBF44B-964B-FF47-7CC4-2B924A8C2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1450"/>
            <a:ext cx="336665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1800F4-A9DF-0BD3-4C30-E5F59B933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88" y="261400"/>
            <a:ext cx="1377805" cy="1031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0DF5BB-7310-A251-E465-5C378E65F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7" y="1600200"/>
            <a:ext cx="10287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77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</TotalTime>
  <Words>1020</Words>
  <Application>Microsoft Office PowerPoint</Application>
  <PresentationFormat>Widescreen</PresentationFormat>
  <Paragraphs>111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DEFINITION &amp; MOTIVATION</vt:lpstr>
      <vt:lpstr>OBJECTIVE</vt:lpstr>
      <vt:lpstr>LITERATURE SURVEY </vt:lpstr>
      <vt:lpstr>LITERATURE SURVEY </vt:lpstr>
      <vt:lpstr>RESEARCH GAP</vt:lpstr>
      <vt:lpstr>EXISTING SYSTEM</vt:lpstr>
      <vt:lpstr>PROPOSED SYSTEM</vt:lpstr>
      <vt:lpstr>PROPOSED ARCHITECTURE</vt:lpstr>
      <vt:lpstr>LIST OF MODULES</vt:lpstr>
      <vt:lpstr>SYSTEM REQUIREMENTS &amp; TECHNOLOGIES  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Ajishma Sruthi p</dc:creator>
  <cp:lastModifiedBy>Madhuaravind P</cp:lastModifiedBy>
  <cp:revision>22</cp:revision>
  <dcterms:created xsi:type="dcterms:W3CDTF">2025-09-08T04:57:34Z</dcterms:created>
  <dcterms:modified xsi:type="dcterms:W3CDTF">2026-08-31T04:36:49Z</dcterms:modified>
</cp:coreProperties>
</file>